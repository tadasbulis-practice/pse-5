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6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3"/>
  </p:normalViewPr>
  <p:slideViewPr>
    <p:cSldViewPr snapToGrid="0" snapToObjects="1">
      <p:cViewPr varScale="1">
        <p:scale>
          <a:sx n="93" d="100"/>
          <a:sy n="93" d="100"/>
        </p:scale>
        <p:origin x="248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80669-5333-3C4E-8148-1C0C28ECCD4D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BDE87D-10B6-9F42-B675-754749A8D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8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Let's imagine we are building a simple online shop system.</a:t>
            </a:r>
          </a:p>
          <a:p>
            <a:endParaRPr/>
          </a:p>
          <a:p>
            <a:r>
              <a:t>We will use this example to understand how interfaces are used in real software architectures. </a:t>
            </a:r>
          </a:p>
          <a:p>
            <a:r>
              <a:t>Instead of discussing patterns in isolation, we will gradually build the architecture step by step.</a:t>
            </a:r>
          </a:p>
          <a:p>
            <a:endParaRPr/>
          </a:p>
          <a:p>
            <a:r>
              <a:t>At the beginning, our system is very simple. We only have one main service: OrderService.</a:t>
            </a:r>
          </a:p>
          <a:p>
            <a:r>
              <a:t>This service represents the core business logic responsible for handling customer orders.</a:t>
            </a:r>
          </a:p>
          <a:p>
            <a:endParaRPr/>
          </a:p>
          <a:p>
            <a:r>
              <a:t>As the system grows, new requirements appear — multiple payment methods, data storage, external services, and third‑party APIs.</a:t>
            </a:r>
          </a:p>
          <a:p>
            <a:r>
              <a:t>To keep the system flexible and maintainable, we introduce different patterns that rely on interfaces.</a:t>
            </a:r>
          </a:p>
          <a:p>
            <a:endParaRPr/>
          </a:p>
          <a:p>
            <a:r>
              <a:t>By the end of this walkthrough, you will see how several interface-based patterns work together inside a real system architecture.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Strategy pattern using payment methods.</a:t>
            </a:r>
          </a:p>
          <a:p>
            <a:r>
              <a:t>Explain that an online shop can support multiple payment providers.</a:t>
            </a:r>
          </a:p>
          <a:p>
            <a:r>
              <a:t>The interface IPaymentStrategy defines the contract.</a:t>
            </a:r>
          </a:p>
          <a:p>
            <a:r>
              <a:t>Concrete implementations like CreditCard, PayPal and ApplePay implement the same behavior differently.</a:t>
            </a:r>
          </a:p>
          <a:p>
            <a:r>
              <a:t>Key idea: the system can choose the payment method at runtime without changing OrderService.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Repository pattern.</a:t>
            </a:r>
          </a:p>
          <a:p>
            <a:r>
              <a:t>Explain that OrderService should not know how data is stored.</a:t>
            </a:r>
          </a:p>
          <a:p>
            <a:r>
              <a:t>IOrderRepository abstracts the storage mechanism.</a:t>
            </a:r>
          </a:p>
          <a:p>
            <a:r>
              <a:t>SqlOrderRepository is one implementation.</a:t>
            </a:r>
          </a:p>
          <a:p>
            <a:r>
              <a:t>Explain that later this could be replaced by NoSQL, API or another data source without changing business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Service Abstraction for external services.</a:t>
            </a:r>
          </a:p>
          <a:p>
            <a:r>
              <a:t>Example: sending order confirmation emails.</a:t>
            </a:r>
          </a:p>
          <a:p>
            <a:r>
              <a:t>The interface IEmailService defines the capability.</a:t>
            </a:r>
          </a:p>
          <a:p>
            <a:r>
              <a:t>Different providers (SMTP, SendGrid) implement it.</a:t>
            </a:r>
          </a:p>
          <a:p>
            <a:r>
              <a:t>Explain that external systems change frequently, so interfaces protect the core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BDE87D-10B6-9F42-B675-754749A8D2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57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Adapter pattern.</a:t>
            </a:r>
          </a:p>
          <a:p>
            <a:r>
              <a:t>Sometimes external APIs do not match our internal interface.</a:t>
            </a:r>
          </a:p>
          <a:p>
            <a:r>
              <a:t>StripeAPI is a third‑party library we cannot change.</a:t>
            </a:r>
          </a:p>
          <a:p>
            <a:r>
              <a:t>StripeAdapter converts it to our internal interface IPaymentGateway.</a:t>
            </a:r>
          </a:p>
          <a:p>
            <a:r>
              <a:t>Explain that Adapter acts as a translator between two incompatible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700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84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4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22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8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93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52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4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061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154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dirty="0"/>
              <a:t>Online Shop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OrderService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Online Shop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64592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OrderService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926080"/>
            <a:ext cx="4572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IPaymentStrategy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1148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CreditCard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148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PayPal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41148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ApplePay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Strategy → Choose algorithm at runtime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Online Shop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3716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OrderService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743200"/>
            <a:ext cx="4572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IPaymentStrategy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84048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CreditCard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PayPal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84048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ApplePay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274320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IOrderRepository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384048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SqlOrderRepository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9377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Repository → Abstract data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Online Shop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9728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OrderService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3421" y="2331720"/>
            <a:ext cx="4572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IPaymentStrategy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3421" y="34290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CreditCard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35101" y="34290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PayPal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6781" y="34290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ApplePay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767021" y="233172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dirty="0" err="1"/>
              <a:t>IOrderRepository</a:t>
            </a:r>
            <a:endParaRPr sz="2000" dirty="0"/>
          </a:p>
        </p:txBody>
      </p:sp>
      <p:sp>
        <p:nvSpPr>
          <p:cNvPr id="9" name="Rectangle 8"/>
          <p:cNvSpPr/>
          <p:nvPr/>
        </p:nvSpPr>
        <p:spPr>
          <a:xfrm>
            <a:off x="7949900" y="3429000"/>
            <a:ext cx="23774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SqlOrderRepository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6621" y="461772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IEmailService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341" y="5440680"/>
            <a:ext cx="20116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SmtpEmailService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55341" y="5440680"/>
            <a:ext cx="20116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SendGridService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7981" y="63093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/>
              <a:t>Service → Abstract external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Online Shop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9144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OrderService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2103120"/>
            <a:ext cx="4572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IPaymentStrategy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310896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CreditCard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680" y="310896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PayPal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547360" y="310896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ApplePay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467600" y="210312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IOrderRepository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50479" y="3108960"/>
            <a:ext cx="23774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SqlOrderRepository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420624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IEmailService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9920" y="5029200"/>
            <a:ext cx="20116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SmtpEmailService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64480" y="5029200"/>
            <a:ext cx="201168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SendGridService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6400" y="4206240"/>
            <a:ext cx="22860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IPaymentGateway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79280" y="5029200"/>
            <a:ext cx="19202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StripeAdapter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9280" y="5852160"/>
            <a:ext cx="192024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/>
              <a:t>StripeAPI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1495" y="65836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/>
              <a:t>Adapter → Convert incompatible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hop system&#10;&#10;AI-generated content may be incorrect.">
            <a:extLst>
              <a:ext uri="{FF2B5EF4-FFF2-40B4-BE49-F238E27FC236}">
                <a16:creationId xmlns:a16="http://schemas.microsoft.com/office/drawing/2014/main" id="{2932784F-A043-14DC-67C2-7A75C457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26" y="145473"/>
            <a:ext cx="9850581" cy="656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78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408</Words>
  <Application>Microsoft Macintosh PowerPoint</Application>
  <PresentationFormat>Widescreen</PresentationFormat>
  <Paragraphs>79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Tadas Bulis</cp:lastModifiedBy>
  <cp:revision>3</cp:revision>
  <dcterms:created xsi:type="dcterms:W3CDTF">2013-01-27T09:14:16Z</dcterms:created>
  <dcterms:modified xsi:type="dcterms:W3CDTF">2026-03-11T19:29:38Z</dcterms:modified>
  <cp:category/>
</cp:coreProperties>
</file>