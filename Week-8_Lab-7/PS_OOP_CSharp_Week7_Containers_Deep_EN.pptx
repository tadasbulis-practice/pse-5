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8" d="100"/>
          <a:sy n="168"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733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~2 min (opening)</a:t>
            </a:r>
            <a:br/>
            <a:br/>
            <a:r>
              <a:rPr sz="1100"/>
              <a:t>📢 FOR PRESENTER</a:t>
            </a:r>
            <a:br/>
            <a:r>
              <a:rPr sz="1100"/>
              <a:t>Start before the slide is fully visible. While it loads, say:</a:t>
            </a:r>
            <a:br/>
            <a:r>
              <a:rPr sz="1100"/>
              <a:t>"Last week we survived Lab-6 — containers, List&lt;T&gt;, IReadOnlyList. Today we go deeper into the machinery that makes all of that work."</a:t>
            </a:r>
            <a:br/>
            <a:r>
              <a:rPr sz="1100"/>
              <a:t>Let the slide settle, then briefly preview all 5 sections. Keep energy high — this is a dense lecture.</a:t>
            </a:r>
            <a:br/>
            <a:br/>
            <a:r>
              <a:rPr sz="1100"/>
              <a:t>📖 DEEP EXPLANATION — Week 7 at a glance</a:t>
            </a:r>
            <a:br/>
            <a:r>
              <a:rPr sz="1100"/>
              <a:t>Week 7 is the architectural centrepiece of the course. In Weeks 1–6 students learned how to separate concerns and pass data between classes. Now they discover HOW that data is actually stored, searched, and shaped inside each class.</a:t>
            </a:r>
            <a:br/>
            <a:br/>
            <a:r>
              <a:rPr sz="1100"/>
              <a:t>The five topics form a deliberate progression:</a:t>
            </a:r>
            <a:br/>
            <a:r>
              <a:rPr sz="1100"/>
              <a:t>  1. Container Recap — ground truth: what they already know and where it breaks.</a:t>
            </a:r>
            <a:br/>
            <a:r>
              <a:rPr sz="1100"/>
              <a:t>  2. Dictionary&lt;K,V&gt; — O(1) lookup: why "loop through the list" is not always good enough.</a:t>
            </a:r>
            <a:br/>
            <a:r>
              <a:rPr sz="1100"/>
              <a:t>  3. IEnumerable&lt;T&gt; — the iterator abstraction that makes foreach work on ANY collection.</a:t>
            </a:r>
            <a:br/>
            <a:r>
              <a:rPr sz="1100"/>
              <a:t>  4. LINQ — a declarative, chainable pipeline built on IEnumerable&lt;T&gt;.</a:t>
            </a:r>
            <a:br/>
            <a:r>
              <a:rPr sz="1100"/>
              <a:t>  5. Generics &amp; IRepository&lt;T&gt; — applying &lt;T&gt; to build one repository class for every entity.</a:t>
            </a:r>
            <a:br/>
            <a:br/>
            <a:r>
              <a:rPr sz="1100"/>
              <a:t>By the end, students will understand not just "how to use containers" but WHY each type exists and which to choose in a given situation.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~2 min</a:t>
            </a:r>
            <a:br/>
            <a:br/>
            <a:r>
              <a:rPr sz="1100"/>
              <a:t>📢 FOR PRESENTER</a:t>
            </a:r>
            <a:br/>
            <a:r>
              <a:rPr sz="1100"/>
              <a:t>Read each section heading aloud and say one sentence about why it matters.</a:t>
            </a:r>
            <a:br/>
            <a:r>
              <a:rPr sz="1100"/>
              <a:t>Then ask: "What was the hardest part of Lab-6 for you?" — take 2–3 answers.</a:t>
            </a:r>
            <a:br/>
            <a:r>
              <a:rPr sz="1100"/>
              <a:t>Use those answers to anchor the agenda: "Good — Dictionary will fix exactly that."</a:t>
            </a:r>
            <a:br/>
            <a:br/>
            <a:r>
              <a:rPr sz="1100"/>
              <a:t>📖 DEEP EXPLANATION — Why this order matters</a:t>
            </a:r>
            <a:br/>
            <a:r>
              <a:rPr sz="1100"/>
              <a:t>The agenda is not arbitrary. Each topic is a prerequisite for the next:</a:t>
            </a:r>
            <a:br/>
            <a:br/>
            <a:r>
              <a:rPr sz="1100"/>
              <a:t>  • You cannot appreciate Dictionary without first feeling the pain of O(n) List search.</a:t>
            </a:r>
            <a:br/>
            <a:r>
              <a:rPr sz="1100"/>
              <a:t>  • You cannot appreciate IEnumerable without knowing that foreach works differently on List, Dictionary, and custom classes.</a:t>
            </a:r>
            <a:br/>
            <a:r>
              <a:rPr sz="1100"/>
              <a:t>  • You cannot write clean LINQ without understanding that LINQ operators are just methods on IEnumerable&lt;T&gt;.</a:t>
            </a:r>
            <a:br/>
            <a:r>
              <a:rPr sz="1100"/>
              <a:t>  • You cannot implement IRepository&lt;T&gt; without understanding generics — and generics only make sense once you've written two identical repositories (MemoryStudentRepository, MemoryOrderRepository) and felt the repetition.</a:t>
            </a:r>
            <a:br/>
            <a:br/>
            <a:r>
              <a:rPr sz="1100"/>
              <a:t>This is the Feynman principle: build understanding from friction, not from definitions.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~1 min (section divider)</a:t>
            </a:r>
            <a:br/>
            <a:br/>
            <a:r>
              <a:rPr sz="1100"/>
              <a:t>📢 FOR PRESENTER</a:t>
            </a:r>
            <a:br/>
            <a:r>
              <a:rPr sz="1100"/>
              <a:t>Pause here. Ask: "Without looking at your code — what is the single most important rule you learned in Lab-6 about containers?"</a:t>
            </a:r>
            <a:br/>
            <a:r>
              <a:rPr sz="1100"/>
              <a:t>Wait 15 seconds. Then reveal: "Ownership."</a:t>
            </a:r>
            <a:br/>
            <a:br/>
            <a:r>
              <a:rPr sz="1100"/>
              <a:t>📖 DEEP EXPLANATION — Why we recap</a:t>
            </a:r>
            <a:br/>
            <a:r>
              <a:rPr sz="1100"/>
              <a:t>Recapping is not review for its own sake — it's retrieval practice. Forcing students to recall Lab-6 before seeing the theory reactivates the neural pathways formed during the lab. The next three slides will feel like answers to questions they already have, not abstract theory being imposed on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~5 min</a:t>
            </a:r>
            <a:br/>
            <a:br/>
            <a:r>
              <a:rPr sz="1100"/>
              <a:t>📢 FOR PRESENTER</a:t>
            </a:r>
            <a:br/>
            <a:r>
              <a:rPr sz="1100"/>
              <a:t>BEFORE showing the diagram, ask: "If both Service and Repository could add students to the list, what could go wrong?"</a:t>
            </a:r>
            <a:br/>
            <a:r>
              <a:rPr sz="1100"/>
              <a:t>Let them think. Typical answers: duplicates, validation skipped, list in inconsistent state.</a:t>
            </a:r>
            <a:br/>
            <a:r>
              <a:rPr sz="1100"/>
              <a:t>Then reveal the ownership diagram. Walk top to bottom: Program → Service → Repository → private list.</a:t>
            </a:r>
            <a:br/>
            <a:br/>
            <a:r>
              <a:rPr sz="1100"/>
              <a:t>📖 DEEP EXPLANATION — Container Ownership</a:t>
            </a:r>
            <a:br/>
            <a:r>
              <a:rPr sz="1100"/>
              <a:t>Ownership is a fundamental concept in system design. It answers: "Who has the authority to create, modify, and destroy this data structure?"</a:t>
            </a:r>
            <a:br/>
            <a:br/>
            <a:r>
              <a:rPr sz="1100"/>
              <a:t>In the StudentService architecture:</a:t>
            </a:r>
            <a:br/>
            <a:r>
              <a:rPr sz="1100"/>
              <a:t>  • The Repository OWNS the list. It is the single point of truth.</a:t>
            </a:r>
            <a:br/>
            <a:r>
              <a:rPr sz="1100"/>
              <a:t>  • The Service USES the repository through IStudentRepository — it never touches the list directly.</a:t>
            </a:r>
            <a:br/>
            <a:r>
              <a:rPr sz="1100"/>
              <a:t>  • Callers (Program.cs, menus) never even know a list exists.</a:t>
            </a:r>
            <a:br/>
            <a:br/>
            <a:r>
              <a:rPr sz="1100"/>
              <a:t>This is the Law of Demeter applied to collections: a class should only talk to its immediate friends, not to their friends.</a:t>
            </a:r>
            <a:br/>
            <a:br/>
            <a:r>
              <a:rPr sz="1100"/>
              <a:t>THREE RULES derived from this:</a:t>
            </a:r>
            <a:br/>
            <a:r>
              <a:rPr sz="1100"/>
              <a:t>  1. The container lives as a private field in the class that owns it.</a:t>
            </a:r>
            <a:br/>
            <a:r>
              <a:rPr sz="1100"/>
              <a:t>  2. External code never receives a reference that allows mutation (→ IReadOnlyList).</a:t>
            </a:r>
            <a:br/>
            <a:r>
              <a:rPr sz="1100"/>
              <a:t>  3. Only the owning class decides WHEN and HOW the container changes.</a:t>
            </a:r>
            <a:br/>
            <a:br/>
            <a:r>
              <a:rPr sz="1100"/>
              <a:t>If you violate rule 1 (make the list public), you lose control of who modifies it — leading to bugs that are almost impossible to trace in a team setting.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~6 min</a:t>
            </a:r>
            <a:br/>
            <a:br/>
            <a:r>
              <a:rPr sz="1100"/>
              <a:t>📢 FOR PRESENTER</a:t>
            </a:r>
            <a:br/>
            <a:r>
              <a:rPr sz="1100"/>
              <a:t>Critical slide. Start with the danger scenario:</a:t>
            </a:r>
            <a:br/>
            <a:r>
              <a:rPr sz="1100"/>
              <a:t>  GetAll() returns List&lt;T&gt; → caller does repository.GetAll().Add(fakeStudent)</a:t>
            </a:r>
            <a:br/>
            <a:r>
              <a:rPr sz="1100"/>
              <a:t>Ask: "What just happened?" — the repository's private data was mutated from outside!</a:t>
            </a:r>
            <a:br/>
            <a:r>
              <a:rPr sz="1100"/>
              <a:t>Then show: returning IReadOnlyList&lt;T&gt; prevents this. The interface simply does not expose Add/Remove.</a:t>
            </a:r>
            <a:br/>
            <a:br/>
            <a:r>
              <a:rPr sz="1100"/>
              <a:t>📖 DEEP EXPLANATION — IReadOnlyList&lt;T&gt; vs List&lt;T&gt;</a:t>
            </a:r>
            <a:br/>
            <a:r>
              <a:rPr sz="1100"/>
              <a:t>This is not just syntactic preference — it is a safety contract enforced by the compiler.</a:t>
            </a:r>
            <a:br/>
            <a:br/>
            <a:r>
              <a:rPr sz="1100"/>
              <a:t>List&lt;T&gt; implements three interfaces: IList&lt;T&gt;, ICollection&lt;T&gt;, IEnumerable&lt;T&gt;.</a:t>
            </a:r>
            <a:br/>
            <a:r>
              <a:rPr sz="1100"/>
              <a:t>IReadOnlyList&lt;T&gt; implements only: IReadOnlyCollection&lt;T&gt;, IEnumerable&lt;T&gt;.</a:t>
            </a:r>
            <a:br/>
            <a:br/>
            <a:r>
              <a:rPr sz="1100"/>
              <a:t>The key difference: IReadOnlyList&lt;T&gt; has NO Add(), Remove(), or Clear() methods. Any caller who receives an IReadOnlyList&lt;T&gt; simply CANNOT modify the collection — not because of runtime enforcement, but because the methods do not exist in the type they hold.</a:t>
            </a:r>
            <a:br/>
            <a:br/>
            <a:r>
              <a:rPr sz="1100"/>
              <a:t>Important nuance: the underlying object IS still a List&lt;T&gt; — IReadOnlyList&lt;T&gt; is just a view. If a caller casts it back to List&lt;T&gt; they CAN mutate it. This is why the Repository should not expose its internal reference at all if maximum safety is required (return a copy: .ToList()). For a first-year course, returning the IReadOnlyList&lt;T&gt; reference is a good balance of safety and simplicity.</a:t>
            </a:r>
            <a:br/>
            <a:br/>
            <a:r>
              <a:rPr sz="1100"/>
              <a:t>Memory hierarchy:</a:t>
            </a:r>
            <a:br/>
            <a:r>
              <a:rPr sz="1100"/>
              <a:t>  IEnumerable&lt;T&gt; — read-only, forward-only iteration</a:t>
            </a:r>
            <a:br/>
            <a:r>
              <a:rPr sz="1100"/>
              <a:t>  IReadOnlyList&lt;T&gt; — read-only, indexed access (Count, this[i])</a:t>
            </a:r>
            <a:br/>
            <a:r>
              <a:rPr sz="1100"/>
              <a:t>  List&lt;T&gt; — mutable, full API (Add, Remove, Sort, etc.)</a:t>
            </a:r>
            <a:br/>
            <a:br/>
            <a:r>
              <a:rPr sz="1100"/>
              <a:t>Rule of thumb: "Return the least powerful interface the caller actually needs."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~5 min</a:t>
            </a:r>
            <a:br/>
            <a:br/>
            <a:r>
              <a:rPr sz="1100"/>
              <a:t>📢 FOR PRESENTER</a:t>
            </a:r>
            <a:br/>
            <a:r>
              <a:rPr sz="1100"/>
              <a:t>This slide should feel like reunion. Ask: "Who recognises this flow from Lab-6?"</a:t>
            </a:r>
            <a:br/>
            <a:r>
              <a:rPr sz="1100"/>
              <a:t>Walk the code line by line. Emphasise the TYPE at each step — what goes in, what comes out.</a:t>
            </a:r>
            <a:br/>
            <a:br/>
            <a:r>
              <a:rPr sz="1100"/>
              <a:t>📖 DEEP EXPLANATION — The Pipeline Pattern</a:t>
            </a:r>
            <a:br/>
            <a:r>
              <a:rPr sz="1100"/>
              <a:t>The pipeline (also called "chain of responsibility" or "functional pipeline") is one of the most powerful patterns in software. Its rules:</a:t>
            </a:r>
            <a:br/>
            <a:br/>
            <a:r>
              <a:rPr sz="1100"/>
              <a:t>  1. Each step takes input and produces output — it does NOT know what came before or after.</a:t>
            </a:r>
            <a:br/>
            <a:r>
              <a:rPr sz="1100"/>
              <a:t>  2. The output of one step is the input of the next.</a:t>
            </a:r>
            <a:br/>
            <a:r>
              <a:rPr sz="1100"/>
              <a:t>  3. Each step has exactly ONE responsibility.</a:t>
            </a:r>
            <a:br/>
            <a:br/>
            <a:r>
              <a:rPr sz="1100"/>
              <a:t>In the student pipeline:</a:t>
            </a:r>
            <a:br/>
            <a:r>
              <a:rPr sz="1100"/>
              <a:t>  GetAll()         → IReadOnlyList&lt;Student&gt;   (fetches from repository)</a:t>
            </a:r>
            <a:br/>
            <a:r>
              <a:rPr sz="1100"/>
              <a:t>  ValidateAll()    → IReadOnlyList&lt;Student&gt;   (filters invalid)</a:t>
            </a:r>
            <a:br/>
            <a:r>
              <a:rPr sz="1100"/>
              <a:t>  Calculate()      → IReadOnlyList&lt;Student&gt;   (enriches with averages)</a:t>
            </a:r>
            <a:br/>
            <a:r>
              <a:rPr sz="1100"/>
              <a:t>  PrintAll()       → void                     (produces output)</a:t>
            </a:r>
            <a:br/>
            <a:br/>
            <a:r>
              <a:rPr sz="1100"/>
              <a:t>This looks like LINQ — and that's not a coincidence. LINQ is the pipeline pattern built into C#. When students write .Where().Select().OrderBy(), they are writing a pipeline.</a:t>
            </a:r>
            <a:br/>
            <a:br/>
            <a:r>
              <a:rPr sz="1100"/>
              <a:t>Real-world connection: This is how data engineering works. Apache Spark, SQL queries, stream processing — all pipelines. Understanding pipelines at this small scale prepares students for big-data architectures.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~7 min</a:t>
            </a:r>
            <a:br/>
            <a:br/>
            <a:r>
              <a:rPr sz="1100"/>
              <a:t>📢 FOR PRESENTER</a:t>
            </a:r>
            <a:br/>
            <a:r>
              <a:rPr sz="1100"/>
              <a:t>Frame this as learning, not judgment: "These are the patterns I see every semester. They are normal mistakes — but now you'll understand WHY they are mistakes."</a:t>
            </a:r>
            <a:br/>
            <a:r>
              <a:rPr sz="1100"/>
              <a:t>For each mistake, ask: "Who did this?" — a few honest hands, thank them. Then explain the consequence.</a:t>
            </a:r>
            <a:br/>
            <a:br/>
            <a:r>
              <a:rPr sz="1100"/>
              <a:t>📖 DEEP EXPLANATION — Why each mistake matters</a:t>
            </a:r>
            <a:br/>
            <a:r>
              <a:rPr sz="1100"/>
              <a:t>MISTAKE 1: Public container (public List&lt;Student&gt; Students)</a:t>
            </a:r>
            <a:br/>
            <a:r>
              <a:rPr sz="1100"/>
              <a:t>  Consequence: Any class can modify the list without going through the repository. Validation is bypassed. Data integrity is lost. In a team, it becomes impossible to track who changed the data.</a:t>
            </a:r>
            <a:br/>
            <a:r>
              <a:rPr sz="1100"/>
              <a:t>  Fix: private List&lt;Student&gt; _students — and a controlled public method to add/remove.</a:t>
            </a:r>
            <a:br/>
            <a:br/>
            <a:r>
              <a:rPr sz="1100"/>
              <a:t>MISTAKE 2: Returning List&lt;T&gt; instead of IReadOnlyList&lt;T&gt;</a:t>
            </a:r>
            <a:br/>
            <a:r>
              <a:rPr sz="1100"/>
              <a:t>  Consequence: Callers can accidentally (or deliberately) call .Add() or .Clear() on the returned reference, mutating the repository's internal state. This is the "aliasing bug" — two parts of the code share a mutable object.</a:t>
            </a:r>
            <a:br/>
            <a:r>
              <a:rPr sz="1100"/>
              <a:t>  Fix: return (IReadOnlyList&lt;Student&gt;)_students or return _students.AsReadOnly().</a:t>
            </a:r>
            <a:br/>
            <a:br/>
            <a:r>
              <a:rPr sz="1100"/>
              <a:t>MISTAKE 3: Service directly creating objects (new ConsoleStudentPrinter() inside service)</a:t>
            </a:r>
            <a:br/>
            <a:r>
              <a:rPr sz="1100"/>
              <a:t>  Consequence: Service is tightly coupled. You cannot swap for a FilePrinter without editing the service. You cannot test the service in isolation. This violates DIP (Dependency Inversion Principle).</a:t>
            </a:r>
            <a:br/>
            <a:r>
              <a:rPr sz="1100"/>
              <a:t>  Fix: Constructor injection — the printer is passed in from Program.cs.</a:t>
            </a:r>
            <a:br/>
            <a:br/>
            <a:r>
              <a:rPr sz="1100"/>
              <a:t>MISTAKE 4: foreach to find by ID</a:t>
            </a:r>
            <a:br/>
            <a:r>
              <a:rPr sz="1100"/>
              <a:t>  Consequence: O(n) performance. Works fine for 10 students. Still works for 100. Starts to lag at 10,000. Breaks at 1,000,000. Real student databases have millions of records.</a:t>
            </a:r>
            <a:br/>
            <a:r>
              <a:rPr sz="1100"/>
              <a:t>  Fix: Dictionary&lt;int, Student&gt; with TryGetValue — always O(1).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~1 min (section divider)</a:t>
            </a:r>
            <a:br/>
            <a:br/>
            <a:r>
              <a:rPr sz="1100"/>
              <a:t>📢 FOR PRESENTER</a:t>
            </a:r>
            <a:br/>
            <a:r>
              <a:rPr sz="1100"/>
              <a:t>Motivate strongly: "You have 10,000 students. FindById does a foreach. How many iterations in the worst case? ...10,000. What if it's a university with 200,000 students? A country's education database with 5 million?"</a:t>
            </a:r>
            <a:br/>
            <a:r>
              <a:rPr sz="1100"/>
              <a:t>Pause for effect. "Dictionary solves this in ONE step. Always."</a:t>
            </a:r>
            <a:br/>
            <a:br/>
            <a:r>
              <a:rPr sz="1100"/>
              <a:t>📖 DEEP EXPLANATION — Why Dictionary deserves its own section</a:t>
            </a:r>
            <a:br/>
            <a:r>
              <a:rPr sz="1100"/>
              <a:t>Dictionary&lt;TKey, TValue&gt; is the most important data structure after the array. It appears in virtually every non-trivial program. Understanding WHY it is fast (hash tables, O(1) amortised) gives students intuition they will carry for their entire career.</a:t>
            </a:r>
            <a:br/>
            <a:br/>
            <a:r>
              <a:rPr sz="1100"/>
              <a:t>In the context of the course, Dictionary is also the "unlock" for IRepository&lt;T&gt; — once students understand that a repository can use a Dictionary&lt;int, T&gt; keyed by Id, the generic repository pattern becomes obvious.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~5 min</a:t>
            </a:r>
            <a:br/>
            <a:br/>
            <a:r>
              <a:rPr sz="1100"/>
              <a:t>📢 FOR PRESENTER</a:t>
            </a:r>
            <a:br/>
            <a:r>
              <a:rPr sz="1100"/>
              <a:t>Walk through rows — not columns. For each row give a real-world analogy:</a:t>
            </a:r>
            <a:br/>
            <a:r>
              <a:rPr sz="1100"/>
              <a:t>  "Add" — like putting a book on a shelf vs. putting it in a catalogue with an ID.</a:t>
            </a:r>
            <a:br/>
            <a:r>
              <a:rPr sz="1100"/>
              <a:t>  "Find by ID" — this is the key row. Ask: "How does Google find one result among billions instantly?" — Dictionary-like indexing.</a:t>
            </a:r>
            <a:br/>
            <a:r>
              <a:rPr sz="1100"/>
              <a:t>  "Find by value" — "Not Dictionary's strength. You still need LINQ for that."</a:t>
            </a:r>
            <a:br/>
            <a:r>
              <a:rPr sz="1100"/>
              <a:t>  "Order" — "Dictionary has no order. If you need sorted results, use .OrderBy() on the Values."</a:t>
            </a:r>
            <a:br/>
            <a:r>
              <a:rPr sz="1100"/>
              <a:t>  "Memory" — "Dictionary uses more memory because it stores both key AND value, plus the hash table overhead."</a:t>
            </a:r>
            <a:br/>
            <a:br/>
            <a:r>
              <a:rPr sz="1100"/>
              <a:t>📖 DEEP EXPLANATION — Hash Tables (what makes Dictionary O(1))</a:t>
            </a:r>
            <a:br/>
            <a:r>
              <a:rPr sz="1100"/>
              <a:t>When you write _students[id], the Dictionary does NOT loop. It:</a:t>
            </a:r>
            <a:br/>
            <a:r>
              <a:rPr sz="1100"/>
              <a:t>  1. Calls id.GetHashCode() — a mathematical function that converts the key to an integer.</a:t>
            </a:r>
            <a:br/>
            <a:r>
              <a:rPr sz="1100"/>
              <a:t>  2. Uses that integer to compute a "bucket" index (slot in an internal array).</a:t>
            </a:r>
            <a:br/>
            <a:r>
              <a:rPr sz="1100"/>
              <a:t>  3. Goes directly to that slot — O(1) regardless of how many items are in the dictionary.</a:t>
            </a:r>
            <a:br/>
            <a:br/>
            <a:r>
              <a:rPr sz="1100"/>
              <a:t>This is called a Hash Table. It's the same structure used in:</a:t>
            </a:r>
            <a:br/>
            <a:r>
              <a:rPr sz="1100"/>
              <a:t>  - Database indices (find a row without scanning the whole table)</a:t>
            </a:r>
            <a:br/>
            <a:r>
              <a:rPr sz="1100"/>
              <a:t>  - HTTP session stores (find a user's session by token)</a:t>
            </a:r>
            <a:br/>
            <a:r>
              <a:rPr sz="1100"/>
              <a:t>  - DNS lookup (find an IP by domain name)</a:t>
            </a:r>
            <a:br/>
            <a:r>
              <a:rPr sz="1100"/>
              <a:t>  - Symbol tables in compilers (find a variable by name)</a:t>
            </a:r>
            <a:br/>
            <a:br/>
            <a:r>
              <a:rPr sz="1100"/>
              <a:t>Collision handling: Two different keys can produce the same hash (collision). The Dictionary uses chaining or open addressing to resolve this — average case is still O(1), worst case O(n) (very rare with good hash functions).</a:t>
            </a:r>
            <a:br/>
            <a:br/>
            <a:r>
              <a:rPr sz="1100"/>
              <a:t>For int keys (like student IDs), GetHashCode() simply returns the integer itself — so collisions are impossible for unique IDs.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~5 min</a:t>
            </a:r>
            <a:br/>
            <a:br/>
            <a:r>
              <a:rPr sz="1100"/>
              <a:t>📢 FOR PRESENTER</a:t>
            </a:r>
            <a:br/>
            <a:r>
              <a:rPr sz="1100"/>
              <a:t>Make this dramatic. Read the left comment aloud slowly:</a:t>
            </a:r>
            <a:br/>
            <a:r>
              <a:rPr sz="1100"/>
              <a:t>  "1,000 students... 1,000 potential steps. Just to find ONE."</a:t>
            </a:r>
            <a:br/>
            <a:r>
              <a:rPr sz="1100"/>
              <a:t>Then say: "What about a hospital with 500,000 patient records? Or Amazon with 350 million customers?"</a:t>
            </a:r>
            <a:br/>
            <a:r>
              <a:rPr sz="1100"/>
              <a:t>Then right side: "TryGetValue. Always one step. Doesn't matter if there are 10 or 10 billion."</a:t>
            </a:r>
            <a:br/>
            <a:br/>
            <a:r>
              <a:rPr sz="1100"/>
              <a:t>Analogy to say aloud: "List search is like looking for a word in a book by reading every page. Dictionary is like using the index at the back — you open directly to the right page."</a:t>
            </a:r>
            <a:br/>
            <a:br/>
            <a:r>
              <a:rPr sz="1100"/>
              <a:t>📖 DEEP EXPLANATION — Big-O Notation</a:t>
            </a:r>
            <a:br/>
            <a:r>
              <a:rPr sz="1100"/>
              <a:t>O(n) and O(1) are "Big-O" notation — a way to describe how an algorithm's time scales with input size (n).</a:t>
            </a:r>
            <a:br/>
            <a:br/>
            <a:r>
              <a:rPr sz="1100"/>
              <a:t>O(1) — Constant time: the operation takes the same time regardless of n.</a:t>
            </a:r>
            <a:br/>
            <a:r>
              <a:rPr sz="1100"/>
              <a:t>  Examples: array[index], dictionary[key], pushing to a stack.</a:t>
            </a:r>
            <a:br/>
            <a:br/>
            <a:r>
              <a:rPr sz="1100"/>
              <a:t>O(n) — Linear time: the operation time grows proportionally with n.</a:t>
            </a:r>
            <a:br/>
            <a:r>
              <a:rPr sz="1100"/>
              <a:t>  Examples: loop through a list, find max by scanning all elements.</a:t>
            </a:r>
            <a:br/>
            <a:br/>
            <a:r>
              <a:rPr sz="1100"/>
              <a:t>O(n²) — Quadratic: two nested loops. Doubles the data = 4× the time.</a:t>
            </a:r>
            <a:br/>
            <a:r>
              <a:rPr sz="1100"/>
              <a:t>  Examples: bubble sort, naive duplicate detection.</a:t>
            </a:r>
            <a:br/>
            <a:br/>
            <a:r>
              <a:rPr sz="1100"/>
              <a:t>O(log n) — Logarithmic: each step halves the problem. Very fast.</a:t>
            </a:r>
            <a:br/>
            <a:r>
              <a:rPr sz="1100"/>
              <a:t>  Examples: binary search in a sorted array.</a:t>
            </a:r>
            <a:br/>
            <a:br/>
            <a:r>
              <a:rPr sz="1100"/>
              <a:t>For this course, the most important distinction is O(1) vs O(n):</a:t>
            </a:r>
            <a:br/>
            <a:r>
              <a:rPr sz="1100"/>
              <a:t>  - O(1): Dictionary, array indexing — scale to millions of records effortlessly.</a:t>
            </a:r>
            <a:br/>
            <a:r>
              <a:rPr sz="1100"/>
              <a:t>  - O(n): List.Find(), List.Contains(), foreach with if — acceptable for small data, dangerous for large.</a:t>
            </a:r>
            <a:br/>
            <a:br/>
            <a:r>
              <a:rPr sz="1100"/>
              <a:t>Real-world implication: A student project typically has 5–20 records — O(n) is invisible. A production system might have 50 million — O(n) becomes minutes, O(1) stays milliseconds.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~6 min</a:t>
            </a:r>
            <a:br/>
            <a:br/>
            <a:r>
              <a:rPr sz="1100"/>
              <a:t>📢 FOR PRESENTER</a:t>
            </a:r>
            <a:br/>
            <a:r>
              <a:rPr sz="1100"/>
              <a:t>LIVE CODING: Open your IDE alongside this slide. Type each method from scratch — do not paste.</a:t>
            </a:r>
            <a:br/>
            <a:r>
              <a:rPr sz="1100"/>
              <a:t>Start with the field: "private Dictionary&lt;int, Student&gt; _students = new();"</a:t>
            </a:r>
            <a:br/>
            <a:r>
              <a:rPr sz="1100"/>
              <a:t>Ask: "Why int? Because Student.Id is an int. The key must match the property we search by."</a:t>
            </a:r>
            <a:br/>
            <a:r>
              <a:rPr sz="1100"/>
              <a:t>Walk each method: Add → GetById (TryGetValue pattern) → GetAll → Remove</a:t>
            </a:r>
            <a:br/>
            <a:br/>
            <a:r>
              <a:rPr sz="1100"/>
              <a:t>📖 DEEP EXPLANATION — TryGetValue pattern</a:t>
            </a:r>
            <a:br/>
            <a:r>
              <a:rPr sz="1100"/>
              <a:t>TryGetValue is the preferred pattern for Dictionary lookup because it is:</a:t>
            </a:r>
            <a:br/>
            <a:r>
              <a:rPr sz="1100"/>
              <a:t>  1. SAFE: Never throws a KeyNotFoundException (unlike _students[id] directly).</a:t>
            </a:r>
            <a:br/>
            <a:r>
              <a:rPr sz="1100"/>
              <a:t>  2. EXPRESSIVE: The return value (bool) tells you whether the key existed.</a:t>
            </a:r>
            <a:br/>
            <a:r>
              <a:rPr sz="1100"/>
              <a:t>  3. ATOMIC: The check and the retrieval happen in one step — no race condition.</a:t>
            </a:r>
            <a:br/>
            <a:br/>
            <a:r>
              <a:rPr sz="1100"/>
              <a:t>Comparison:</a:t>
            </a:r>
            <a:br/>
            <a:r>
              <a:rPr sz="1100"/>
              <a:t>  // Dangerous — throws if id not found</a:t>
            </a:r>
            <a:br/>
            <a:r>
              <a:rPr sz="1100"/>
              <a:t>  Student s = _students[id];</a:t>
            </a:r>
            <a:br/>
            <a:br/>
            <a:r>
              <a:rPr sz="1100"/>
              <a:t>  // Safe — returns null gracefully</a:t>
            </a:r>
            <a:br/>
            <a:r>
              <a:rPr sz="1100"/>
              <a:t>  _students.TryGetValue(id, out var s);</a:t>
            </a:r>
            <a:br/>
            <a:r>
              <a:rPr sz="1100"/>
              <a:t>  return s;  // s is null if not found (in C# nullable context)</a:t>
            </a:r>
            <a:br/>
            <a:br/>
            <a:r>
              <a:rPr sz="1100"/>
              <a:t>The pattern "bool + out parameter" is idiomatic C# and appears throughout the .NET BCL: int.TryParse(), Guid.TryParse(), ConcurrentDictionary.TryAdd(), etc.</a:t>
            </a:r>
            <a:br/>
            <a:br/>
            <a:r>
              <a:rPr sz="1100"/>
              <a:t>GetAll(): returning .Values.ToList() creates a copy of the values as a List&lt;Student&gt;, then the caller receives it as IReadOnlyList&lt;Student&gt;. The copy is intentional — it prevents the caller from holding a reference to the dictionary's live 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~1 min (section divider)</a:t>
            </a:r>
            <a:br/>
            <a:br/>
            <a:r>
              <a:rPr sz="1100"/>
              <a:t>📢 FOR PRESENTER</a:t>
            </a:r>
            <a:br/>
            <a:r>
              <a:rPr sz="1100"/>
              <a:t>Provoke curiosity: "You have written 'foreach' dozens of times. But what actually happens? Does C# have magic?"</a:t>
            </a:r>
            <a:br/>
            <a:r>
              <a:rPr sz="1100"/>
              <a:t>Pause. "No magic — just an interface. And you're going to see exactly what it is."</a:t>
            </a:r>
            <a:br/>
            <a:br/>
            <a:r>
              <a:rPr sz="1100"/>
              <a:t>📖 DEEP EXPLANATION — Why IEnumerable&lt;T&gt; matters</a:t>
            </a:r>
            <a:br/>
            <a:r>
              <a:rPr sz="1100"/>
              <a:t>IEnumerable&lt;T&gt; is the foundation of all collection processing in .NET. List&lt;T&gt;, Dictionary&lt;TKey,TValue&gt;, arrays, Query results — they all implement it.</a:t>
            </a:r>
            <a:br/>
            <a:br/>
            <a:r>
              <a:rPr sz="1100"/>
              <a:t>It is a CAPABILITY interface: it does not say how data is stored (array, linked list, database query). It says only: "I can give you elements one at a time, in forward order."</a:t>
            </a:r>
            <a:br/>
            <a:br/>
            <a:r>
              <a:rPr sz="1100"/>
              <a:t>This abstraction is what makes LINQ work on everything: a method that takes IEnumerable&lt;T&gt; can operate on a List&lt;T&gt;, an array, a Dictionary's .Values, a file reader that returns lines one at a time, or a network stream.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~6 min</a:t>
            </a:r>
            <a:br/>
            <a:br/>
            <a:r>
              <a:rPr sz="1100"/>
              <a:t>📢 FOR PRESENTER</a:t>
            </a:r>
            <a:br/>
            <a:r>
              <a:rPr sz="1100"/>
              <a:t>Start left: "Here's what you write." Then move right: "Here's what the compiler generates."</a:t>
            </a:r>
            <a:br/>
            <a:r>
              <a:rPr sz="1100"/>
              <a:t>Walk through the right side line by line with a pointer/cursor analogy:</a:t>
            </a:r>
            <a:br/>
            <a:r>
              <a:rPr sz="1100"/>
              <a:t>  GetEnumerator() — "Creates a cursor positioned before the first element."</a:t>
            </a:r>
            <a:br/>
            <a:r>
              <a:rPr sz="1100"/>
              <a:t>  MoveNext() — "Advances the cursor. Returns true if there's an element to read."</a:t>
            </a:r>
            <a:br/>
            <a:r>
              <a:rPr sz="1100"/>
              <a:t>  Current — "The element the cursor is currently pointing at."</a:t>
            </a:r>
            <a:br/>
            <a:r>
              <a:rPr sz="1100"/>
              <a:t>  Dispose() — "Cleanup — releases resources (important for database cursors, file handles)."</a:t>
            </a:r>
            <a:br/>
            <a:br/>
            <a:r>
              <a:rPr sz="1100"/>
              <a:t>📖 DEEP EXPLANATION — The Iterator Pattern</a:t>
            </a:r>
            <a:br/>
            <a:r>
              <a:rPr sz="1100"/>
              <a:t>foreach is syntactic sugar for the Iterator pattern, one of the original Gang of Four design patterns (1994).</a:t>
            </a:r>
            <a:br/>
            <a:br/>
            <a:r>
              <a:rPr sz="1100"/>
              <a:t>The compiler desugars:</a:t>
            </a:r>
            <a:br/>
            <a:r>
              <a:rPr sz="1100"/>
              <a:t>  foreach (Student s in students) { body }</a:t>
            </a:r>
            <a:br/>
            <a:r>
              <a:rPr sz="1100"/>
              <a:t>into:</a:t>
            </a:r>
            <a:br/>
            <a:r>
              <a:rPr sz="1100"/>
              <a:t>  var enumerator = students.GetEnumerator();</a:t>
            </a:r>
            <a:br/>
            <a:r>
              <a:rPr sz="1100"/>
              <a:t>  try {</a:t>
            </a:r>
            <a:br/>
            <a:r>
              <a:rPr sz="1100"/>
              <a:t>    while (enumerator.MoveNext()) {</a:t>
            </a:r>
            <a:br/>
            <a:r>
              <a:rPr sz="1100"/>
              <a:t>      Student s = enumerator.Current;</a:t>
            </a:r>
            <a:br/>
            <a:r>
              <a:rPr sz="1100"/>
              <a:t>      body</a:t>
            </a:r>
            <a:br/>
            <a:r>
              <a:rPr sz="1100"/>
              <a:t>    }</a:t>
            </a:r>
            <a:br/>
            <a:r>
              <a:rPr sz="1100"/>
              <a:t>  } finally { enumerator.Dispose(); }</a:t>
            </a:r>
            <a:br/>
            <a:br/>
            <a:r>
              <a:rPr sz="1100"/>
              <a:t>Why a cursor/state machine rather than an index?</a:t>
            </a:r>
            <a:br/>
            <a:r>
              <a:rPr sz="1100"/>
              <a:t>  - Works on structures without random access (linked lists, streams).</a:t>
            </a:r>
            <a:br/>
            <a:r>
              <a:rPr sz="1100"/>
              <a:t>  - Supports lazy evaluation (yield return) — you can iterate over 1 billion records without loading them all into memory.</a:t>
            </a:r>
            <a:br/>
            <a:r>
              <a:rPr sz="1100"/>
              <a:t>  - Composable — LINQ chains iterators together without materialising intermediate results.</a:t>
            </a:r>
            <a:br/>
            <a:br/>
            <a:r>
              <a:rPr sz="1100"/>
              <a:t>yield return (bonus):</a:t>
            </a:r>
            <a:br/>
            <a:r>
              <a:rPr sz="1100"/>
              <a:t>  IEnumerable&lt;int&gt; Squares() {</a:t>
            </a:r>
            <a:br/>
            <a:r>
              <a:rPr sz="1100"/>
              <a:t>    for (int i = 0; i &lt; 1000000; i++)</a:t>
            </a:r>
            <a:br/>
            <a:r>
              <a:rPr sz="1100"/>
              <a:t>      yield return i * i;</a:t>
            </a:r>
            <a:br/>
            <a:r>
              <a:rPr sz="1100"/>
              <a:t>  }</a:t>
            </a:r>
            <a:br/>
            <a:r>
              <a:rPr sz="1100"/>
              <a:t>  // Calling this creates NO list in memory. Each value is computed on demand.</a:t>
            </a:r>
            <a:br/>
            <a:r>
              <a:rPr sz="1100"/>
              <a:t>  foreach (var sq in Squares()) { /* processed one at a time */ }</a:t>
            </a:r>
            <a:br/>
            <a:br/>
            <a:r>
              <a:rPr sz="1100"/>
              <a:t>This is called lazy evaluation or deferred execution — fundamental to how LINQ works.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~5 min</a:t>
            </a:r>
            <a:br/>
            <a:br/>
            <a:r>
              <a:rPr sz="1100"/>
              <a:t>📢 FOR PRESENTER</a:t>
            </a:r>
            <a:br/>
            <a:r>
              <a:rPr sz="1100"/>
              <a:t>Read the comparison table columns right-to-left: "List&lt;T&gt; has everything. IReadOnlyList&lt;T&gt; adds indexed access but removes mutation. IEnumerable&lt;T&gt; is the minimal view — just forward iteration."</a:t>
            </a:r>
            <a:br/>
            <a:r>
              <a:rPr sz="1100"/>
              <a:t>Key question to ask: "If a method only needs to iterate — which type should its parameter be?"</a:t>
            </a:r>
            <a:br/>
            <a:r>
              <a:rPr sz="1100"/>
              <a:t>Answer: IEnumerable&lt;T&gt;. Because it accepts List&lt;T&gt;, arrays, Dictionary.Values — maximum flexibility.</a:t>
            </a:r>
            <a:br/>
            <a:br/>
            <a:r>
              <a:rPr sz="1100"/>
              <a:t>📖 DEEP EXPLANATION — The Interface Hierarchy</a:t>
            </a:r>
            <a:br/>
            <a:r>
              <a:rPr sz="1100"/>
              <a:t>The interface hierarchy in C# collections is carefully designed:</a:t>
            </a:r>
            <a:br/>
            <a:br/>
            <a:r>
              <a:rPr sz="1100"/>
              <a:t>  IEnumerable&lt;T&gt;</a:t>
            </a:r>
            <a:br/>
            <a:r>
              <a:rPr sz="1100"/>
              <a:t>    ↑ extended by IReadOnlyCollection&lt;T&gt; (adds Count)</a:t>
            </a:r>
            <a:br/>
            <a:r>
              <a:rPr sz="1100"/>
              <a:t>      ↑ extended by IReadOnlyList&lt;T&gt; (adds indexer this[int])</a:t>
            </a:r>
            <a:br/>
            <a:r>
              <a:rPr sz="1100"/>
              <a:t>        ↑ extended by IList&lt;T&gt; (adds Add, Remove, Insert)</a:t>
            </a:r>
            <a:br/>
            <a:r>
              <a:rPr sz="1100"/>
              <a:t>          ↑ implemented by List&lt;T&gt; (concrete class)</a:t>
            </a:r>
            <a:br/>
            <a:br/>
            <a:r>
              <a:rPr sz="1100"/>
              <a:t>Design principle: "Depend on the weakest interface sufficient for your needs."</a:t>
            </a:r>
            <a:br/>
            <a:br/>
            <a:r>
              <a:rPr sz="1100"/>
              <a:t>Method parameters: use IEnumerable&lt;T&gt; when you only iterate.</a:t>
            </a:r>
            <a:br/>
            <a:r>
              <a:rPr sz="1100"/>
              <a:t>Return types: use IReadOnlyList&lt;T&gt; when you want to guarantee count/index access while preventing mutation.</a:t>
            </a:r>
            <a:br/>
            <a:r>
              <a:rPr sz="1100"/>
              <a:t>Private fields: use List&lt;T&gt; — you own it, you need full control.</a:t>
            </a:r>
            <a:br/>
            <a:br/>
            <a:r>
              <a:rPr sz="1100"/>
              <a:t>This is why good C# code often looks like:</a:t>
            </a:r>
            <a:br/>
            <a:r>
              <a:rPr sz="1100"/>
              <a:t>  private List&lt;Student&gt; _students = new();              // private: full control</a:t>
            </a:r>
            <a:br/>
            <a:r>
              <a:rPr sz="1100"/>
              <a:t>  public IReadOnlyList&lt;Student&gt; GetAll() =&gt; _students;  // public: safe view</a:t>
            </a:r>
            <a:br/>
            <a:r>
              <a:rPr sz="1100"/>
              <a:t>  public void Process(IEnumerable&lt;Student&gt; input) {...} // parameter: max flexibility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~1 min (section divider)</a:t>
            </a:r>
            <a:br/>
            <a:br/>
            <a:r>
              <a:rPr sz="1100"/>
              <a:t>📢 FOR PRESENTER</a:t>
            </a:r>
            <a:br/>
            <a:r>
              <a:rPr sz="1100"/>
              <a:t>Build anticipation: "Remember the pipeline from slide 6? GetAll → ValidateAll → Calculate → Print?</a:t>
            </a:r>
            <a:br/>
            <a:r>
              <a:rPr sz="1100"/>
              <a:t>LINQ is the same thinking — but instead of writing four separate methods, you write one chain.</a:t>
            </a:r>
            <a:br/>
            <a:r>
              <a:rPr sz="1100"/>
              <a:t>And instead of IEnumerable&lt;T&gt; as a type, LINQ makes it a verb: .Where(), .Select(), .OrderBy()."</a:t>
            </a:r>
            <a:br/>
            <a:br/>
            <a:r>
              <a:rPr sz="1100"/>
              <a:t>📖 DEEP EXPLANATION — What LINQ is</a:t>
            </a:r>
            <a:br/>
            <a:r>
              <a:rPr sz="1100"/>
              <a:t>LINQ (Language Integrated Query) was introduced in C# 3.0 (2007). It was revolutionary because it brought functional programming concepts — filter, map, reduce — into a statically-typed mainstream language.</a:t>
            </a:r>
            <a:br/>
            <a:br/>
            <a:r>
              <a:rPr sz="1100"/>
              <a:t>LINQ is NOT a database technology (though LINQ to SQL/EF builds on it). Core LINQ works entirely on in-memory IEnumerable&lt;T&gt; sequences.</a:t>
            </a:r>
            <a:br/>
            <a:br/>
            <a:r>
              <a:rPr sz="1100"/>
              <a:t>Two syntax forms:</a:t>
            </a:r>
            <a:br/>
            <a:r>
              <a:rPr sz="1100"/>
              <a:t>  // Method syntax (preferred in modern C#)</a:t>
            </a:r>
            <a:br/>
            <a:r>
              <a:rPr sz="1100"/>
              <a:t>  var result = students.Where(s =&gt; s.Grade &gt;= 5).OrderBy(s =&gt; s.Name).ToList();</a:t>
            </a:r>
            <a:br/>
            <a:br/>
            <a:r>
              <a:rPr sz="1100"/>
              <a:t>  // Query syntax (SQL-like, rarely used in practice)</a:t>
            </a:r>
            <a:br/>
            <a:r>
              <a:rPr sz="1100"/>
              <a:t>  var result = (from s in students where s.Grade &gt;= 5 orderby s.Name select s).ToList();</a:t>
            </a:r>
            <a:br/>
            <a:br/>
            <a:r>
              <a:rPr sz="1100"/>
              <a:t>Both produce identical code. Method syntax is preferred because it composes more naturally.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~6 min</a:t>
            </a:r>
            <a:br/>
            <a:br/>
            <a:r>
              <a:rPr sz="1100"/>
              <a:t>📢 FOR PRESENTER</a:t>
            </a:r>
            <a:br/>
            <a:r>
              <a:rPr sz="1100"/>
              <a:t>Start left: read the foreach version aloud, slowly. Then right: ".Where(s =&gt; s.Grade &gt;= 9).ToList()"</a:t>
            </a:r>
            <a:br/>
            <a:r>
              <a:rPr sz="1100"/>
              <a:t>Say: "Same logic. One line. And it reads like English: 'from students, where grade is 9 or above'."</a:t>
            </a:r>
            <a:br/>
            <a:r>
              <a:rPr sz="1100"/>
              <a:t>Explain lambdas: "s =&gt; s.Grade &gt;= 9 — s is ONE student. The arrow means 'such that'. The right side is the condition."</a:t>
            </a:r>
            <a:br/>
            <a:r>
              <a:rPr sz="1100"/>
              <a:t>Write a lambda on the board: "Imagine s sitting in the condition: does THIS student satisfy it? If yes, include."</a:t>
            </a:r>
            <a:br/>
            <a:br/>
            <a:r>
              <a:rPr sz="1100"/>
              <a:t>📖 DEEP EXPLANATION — Lambda expressions</a:t>
            </a:r>
            <a:br/>
            <a:r>
              <a:rPr sz="1100"/>
              <a:t>A lambda (s =&gt; expression) is an anonymous function — a function without a name, defined inline.</a:t>
            </a:r>
            <a:br/>
            <a:br/>
            <a:r>
              <a:rPr sz="1100"/>
              <a:t>It is equivalent to:</a:t>
            </a:r>
            <a:br/>
            <a:r>
              <a:rPr sz="1100"/>
              <a:t>  bool IsHighGrade(Student s) { return s.Grade &gt;= 9; }</a:t>
            </a:r>
            <a:br/>
            <a:r>
              <a:rPr sz="1100"/>
              <a:t>  students.Where(IsHighGrade)</a:t>
            </a:r>
            <a:br/>
            <a:br/>
            <a:r>
              <a:rPr sz="1100"/>
              <a:t>but written concisely as:</a:t>
            </a:r>
            <a:br/>
            <a:r>
              <a:rPr sz="1100"/>
              <a:t>  students.Where(s =&gt; s.Grade &gt;= 9)</a:t>
            </a:r>
            <a:br/>
            <a:br/>
            <a:r>
              <a:rPr sz="1100"/>
              <a:t>The type of s is inferred by the compiler from the type of students (IEnumerable&lt;Student&gt;), so you don't need to write Student s explicitly.</a:t>
            </a:r>
            <a:br/>
            <a:br/>
            <a:r>
              <a:rPr sz="1100"/>
              <a:t>Deferred execution (important):</a:t>
            </a:r>
            <a:br/>
            <a:r>
              <a:rPr sz="1100"/>
              <a:t>  var query = students.Where(s =&gt; s.Grade &gt;= 9); // NO iteration happens here</a:t>
            </a:r>
            <a:br/>
            <a:r>
              <a:rPr sz="1100"/>
              <a:t>  var list = query.ToList();                     // Iteration happens HERE</a:t>
            </a:r>
            <a:br/>
            <a:br/>
            <a:r>
              <a:rPr sz="1100"/>
              <a:t>Until you call .ToList(), .ToArray(), .First(), etc., LINQ operators do NOT execute. They build up a query plan and execute lazily. This is efficient: you can chain ten operators and the data is iterated only once.</a:t>
            </a:r>
            <a:br/>
            <a:br/>
            <a:r>
              <a:rPr sz="1100"/>
              <a:t>Functional programming connection:</a:t>
            </a:r>
            <a:br/>
            <a:r>
              <a:rPr sz="1100"/>
              <a:t>  Where = filter</a:t>
            </a:r>
            <a:br/>
            <a:r>
              <a:rPr sz="1100"/>
              <a:t>  Select = map</a:t>
            </a:r>
            <a:br/>
            <a:r>
              <a:rPr sz="1100"/>
              <a:t>  Aggregate/Sum/Average = reduce</a:t>
            </a:r>
            <a:br/>
            <a:r>
              <a:rPr sz="1100"/>
              <a:t>  These are the three fundamental operations of functional programming, present in every functional language (Haskell, F#, Erlang, JavaScript's .filter/.map/.reduce).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~7 min</a:t>
            </a:r>
            <a:br/>
            <a:br/>
            <a:r>
              <a:rPr sz="1100"/>
              <a:t>📢 FOR PRESENTER</a:t>
            </a:r>
            <a:br/>
            <a:r>
              <a:rPr sz="1100"/>
              <a:t>BEST LIVE CODING moment of the lecture. Open IDE. Type alongside the slide — don't paste.</a:t>
            </a:r>
            <a:br/>
            <a:r>
              <a:rPr sz="1100"/>
              <a:t>1. Type: var passing = students.Where(s =&gt; s.Grade &gt;= 5).ToList();</a:t>
            </a:r>
            <a:br/>
            <a:r>
              <a:rPr sz="1100"/>
              <a:t>   Run it. Show the count.</a:t>
            </a:r>
            <a:br/>
            <a:r>
              <a:rPr sz="1100"/>
              <a:t>2. Type: var names = students.Select(s =&gt; s.Name).ToList();</a:t>
            </a:r>
            <a:br/>
            <a:r>
              <a:rPr sz="1100"/>
              <a:t>   Show that result is List&lt;string&gt; — the type changed!</a:t>
            </a:r>
            <a:br/>
            <a:r>
              <a:rPr sz="1100"/>
              <a:t>3. Chain them: students.Where(s =&gt; s.Grade &gt;= 5).Select(s =&gt; s.Name).ToList()</a:t>
            </a:r>
            <a:br/>
            <a:r>
              <a:rPr sz="1100"/>
              <a:t>4. Challenge: "Can you write one query that returns the email of every student with grade &gt;= 8, sorted alphabetically?"</a:t>
            </a:r>
            <a:br/>
            <a:br/>
            <a:r>
              <a:rPr sz="1100"/>
              <a:t>📖 DEEP EXPLANATION — Where and Select in depth</a:t>
            </a:r>
            <a:br/>
            <a:r>
              <a:rPr sz="1100"/>
              <a:t>Where&lt;T&gt;(Func&lt;T, bool&gt; predicate) — The FILTER operator.</a:t>
            </a:r>
            <a:br/>
            <a:r>
              <a:rPr sz="1100"/>
              <a:t>  - Returns IEnumerable&lt;T&gt; of the SAME type.</a:t>
            </a:r>
            <a:br/>
            <a:r>
              <a:rPr sz="1100"/>
              <a:t>  - Only includes elements where predicate returns true.</a:t>
            </a:r>
            <a:br/>
            <a:r>
              <a:rPr sz="1100"/>
              <a:t>  - Equivalent to: foreach(var e in source) if(predicate(e)) yield return e;</a:t>
            </a:r>
            <a:br/>
            <a:br/>
            <a:r>
              <a:rPr sz="1100"/>
              <a:t>Select&lt;TSource, TResult&gt;(Func&lt;TSource, TResult&gt; selector) — The MAP (TRANSFORM) operator.</a:t>
            </a:r>
            <a:br/>
            <a:r>
              <a:rPr sz="1100"/>
              <a:t>  - Returns IEnumerable&lt;TResult&gt; — can change the type!</a:t>
            </a:r>
            <a:br/>
            <a:r>
              <a:rPr sz="1100"/>
              <a:t>  - Projects each element into a new form.</a:t>
            </a:r>
            <a:br/>
            <a:r>
              <a:rPr sz="1100"/>
              <a:t>  - Equivalent to: foreach(var e in source) yield return selector(e);</a:t>
            </a:r>
            <a:br/>
            <a:br/>
            <a:r>
              <a:rPr sz="1100"/>
              <a:t>Key insight: Select changes the type. Where keeps it. Chaining them:</a:t>
            </a:r>
            <a:br/>
            <a:r>
              <a:rPr sz="1100"/>
              <a:t>  students                                       // IEnumerable&lt;Student&gt;</a:t>
            </a:r>
            <a:br/>
            <a:r>
              <a:rPr sz="1100"/>
              <a:t>    .Where(s =&gt; s.Grade &gt;= 5)                    // still IEnumerable&lt;Student&gt; (filtered)</a:t>
            </a:r>
            <a:br/>
            <a:r>
              <a:rPr sz="1100"/>
              <a:t>    .Select(s =&gt; new { s.Name, s.Grade })        // now IEnumerable&lt;anonymous type&gt;</a:t>
            </a:r>
            <a:br/>
            <a:r>
              <a:rPr sz="1100"/>
              <a:t>    .ToList()                                    // materialise</a:t>
            </a:r>
            <a:br/>
            <a:br/>
            <a:r>
              <a:rPr sz="1100"/>
              <a:t>Anonymous types (new { s.Name, s.Grade }) are convenient for projections — the compiler creates a temporary class with those properties. You see them a lot in Select().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~6 min</a:t>
            </a:r>
            <a:br/>
            <a:br/>
            <a:r>
              <a:rPr sz="1100"/>
              <a:t>📢 FOR PRESENTER</a:t>
            </a:r>
            <a:br/>
            <a:r>
              <a:rPr sz="1100"/>
              <a:t>CRITICAL DEMO for First vs FirstOrDefault:</a:t>
            </a:r>
            <a:br/>
            <a:r>
              <a:rPr sz="1100"/>
              <a:t>  1. Create an empty list: var empty = new List&lt;Student&gt;();</a:t>
            </a:r>
            <a:br/>
            <a:r>
              <a:rPr sz="1100"/>
              <a:t>  2. Call: empty.First() — SHOW THE EXCEPTION. Say: "This crashes your program."</a:t>
            </a:r>
            <a:br/>
            <a:r>
              <a:rPr sz="1100"/>
              <a:t>  3. Call: empty.FirstOrDefault() — returns null.</a:t>
            </a:r>
            <a:br/>
            <a:r>
              <a:rPr sz="1100"/>
              <a:t>  4. Ask: "Which should you use in production code?" → FirstOrDefault, always check for null.</a:t>
            </a:r>
            <a:br/>
            <a:br/>
            <a:r>
              <a:rPr sz="1100"/>
              <a:t>📖 DEEP EXPLANATION — OrderBy, First, FirstOrDefault</a:t>
            </a:r>
            <a:br/>
            <a:r>
              <a:rPr sz="1100"/>
              <a:t>OrderBy&lt;T, TKey&gt;(Func&lt;T, TKey&gt; keySelector) — Sort ascending.</a:t>
            </a:r>
            <a:br/>
            <a:r>
              <a:rPr sz="1100"/>
              <a:t>OrderByDescending — Sort descending.</a:t>
            </a:r>
            <a:br/>
            <a:r>
              <a:rPr sz="1100"/>
              <a:t>ThenBy / ThenByDescending — Secondary sort (applied to elements that were equal under OrderBy).</a:t>
            </a:r>
            <a:br/>
            <a:r>
              <a:rPr sz="1100"/>
              <a:t>  Example: .OrderBy(s =&gt; s.LastName).ThenBy(s =&gt; s.FirstName) — alphabetical by full name.</a:t>
            </a:r>
            <a:br/>
            <a:br/>
            <a:r>
              <a:rPr sz="1100"/>
              <a:t>First() vs FirstOrDefault():</a:t>
            </a:r>
            <a:br/>
            <a:r>
              <a:rPr sz="1100"/>
              <a:t>  First() — returns the first element. THROWS InvalidOperationException if the sequence is empty.</a:t>
            </a:r>
            <a:br/>
            <a:r>
              <a:rPr sz="1100"/>
              <a:t>  FirstOrDefault() — returns the first element, or the DEFAULT VALUE (null for reference types, 0 for int) if empty.</a:t>
            </a:r>
            <a:br/>
            <a:br/>
            <a:r>
              <a:rPr sz="1100"/>
              <a:t>  Rule: Use FirstOrDefault() unless you are 100% certain the sequence is non-empty, and you want the exception as a fast-fail signal.</a:t>
            </a:r>
            <a:br/>
            <a:br/>
            <a:r>
              <a:rPr sz="1100"/>
              <a:t>Single() vs SingleOrDefault():</a:t>
            </a:r>
            <a:br/>
            <a:r>
              <a:rPr sz="1100"/>
              <a:t>  Single() — returns the element. Throws if the sequence is empty OR if it has more than one element.</a:t>
            </a:r>
            <a:br/>
            <a:r>
              <a:rPr sz="1100"/>
              <a:t>  SingleOrDefault() — returns the element or default. Throws if MORE than one element.</a:t>
            </a:r>
            <a:br/>
            <a:r>
              <a:rPr sz="1100"/>
              <a:t>  Use when you expect exactly ONE match (e.g., find user by unique email).</a:t>
            </a:r>
            <a:br/>
            <a:br/>
            <a:r>
              <a:rPr sz="1100"/>
              <a:t>Performance note: First() stops at the first element — O(1) on an array. FirstOrDefault() is the same. But OrderBy() materialises the whole sequence before returning anything — it is O(n log 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~7 min</a:t>
            </a:r>
            <a:br/>
            <a:br/>
            <a:r>
              <a:rPr sz="1100"/>
              <a:t>📢 FOR PRESENTER</a:t>
            </a:r>
            <a:br/>
            <a:r>
              <a:rPr sz="1100"/>
              <a:t>Any vs Count &gt; 0 — show this live:</a:t>
            </a:r>
            <a:br/>
            <a:r>
              <a:rPr sz="1100"/>
              <a:t>  // Slow for large collections:</a:t>
            </a:r>
            <a:br/>
            <a:r>
              <a:rPr sz="1100"/>
              <a:t>  if (students.Count(s =&gt; s.Grade &gt;= 5) &gt; 0) { ... }</a:t>
            </a:r>
            <a:br/>
            <a:r>
              <a:rPr sz="1100"/>
              <a:t>  // Fast: stops at first match</a:t>
            </a:r>
            <a:br/>
            <a:r>
              <a:rPr sz="1100"/>
              <a:t>  if (students.Any(s =&gt; s.Grade &gt;= 5)) { ... }</a:t>
            </a:r>
            <a:br/>
            <a:br/>
            <a:r>
              <a:rPr sz="1100"/>
              <a:t>GroupBy: draw on the board first. "Imagine putting students into physical groups by program. Each group has a label (the key) and a pile of students."</a:t>
            </a:r>
            <a:br/>
            <a:r>
              <a:rPr sz="1100"/>
              <a:t>Then show the code. Walk through: groups are IGrouping&lt;string, Student&gt; — each group is itself an IEnumerable&lt;Student&gt; with a Key property.</a:t>
            </a:r>
            <a:br/>
            <a:br/>
            <a:r>
              <a:rPr sz="1100"/>
              <a:t>📖 DEEP EXPLANATION — GroupBy in depth</a:t>
            </a:r>
            <a:br/>
            <a:r>
              <a:rPr sz="1100"/>
              <a:t>GroupBy&lt;TSource, TKey&gt;(Func&lt;TSource, TKey&gt; keySelector) groups elements into buckets by key.</a:t>
            </a:r>
            <a:br/>
            <a:br/>
            <a:r>
              <a:rPr sz="1100"/>
              <a:t>The return type is IEnumerable&lt;IGrouping&lt;TKey, TElement&gt;&gt;:</a:t>
            </a:r>
            <a:br/>
            <a:r>
              <a:rPr sz="1100"/>
              <a:t>  - IGrouping&lt;K, T&gt; is an IEnumerable&lt;T&gt; with an extra property: Key.</a:t>
            </a:r>
            <a:br/>
            <a:r>
              <a:rPr sz="1100"/>
              <a:t>  - Each "group" is a mini-collection of elements sharing the same key value.</a:t>
            </a:r>
            <a:br/>
            <a:br/>
            <a:r>
              <a:rPr sz="1100"/>
              <a:t>Typical usage pattern:</a:t>
            </a:r>
            <a:br/>
            <a:r>
              <a:rPr sz="1100"/>
              <a:t>  var byProgram = students</a:t>
            </a:r>
            <a:br/>
            <a:r>
              <a:rPr sz="1100"/>
              <a:t>    .GroupBy(s =&gt; s.StudyProgram)</a:t>
            </a:r>
            <a:br/>
            <a:r>
              <a:rPr sz="1100"/>
              <a:t>    .Select(g =&gt; new {</a:t>
            </a:r>
            <a:br/>
            <a:r>
              <a:rPr sz="1100"/>
              <a:t>      Program = g.Key,</a:t>
            </a:r>
            <a:br/>
            <a:r>
              <a:rPr sz="1100"/>
              <a:t>      Count   = g.Count(),</a:t>
            </a:r>
            <a:br/>
            <a:r>
              <a:rPr sz="1100"/>
              <a:t>      Average = g.Average(s =&gt; s.Grade),</a:t>
            </a:r>
            <a:br/>
            <a:r>
              <a:rPr sz="1100"/>
              <a:t>      Top     = g.OrderByDescending(s =&gt; s.Grade).First()</a:t>
            </a:r>
            <a:br/>
            <a:r>
              <a:rPr sz="1100"/>
              <a:t>    })</a:t>
            </a:r>
            <a:br/>
            <a:r>
              <a:rPr sz="1100"/>
              <a:t>    .ToList();</a:t>
            </a:r>
            <a:br/>
            <a:br/>
            <a:r>
              <a:rPr sz="1100"/>
              <a:t>This is equivalent to SQL:</a:t>
            </a:r>
            <a:br/>
            <a:r>
              <a:rPr sz="1100"/>
              <a:t>  SELECT StudyProgram, COUNT(*), AVG(Grade), MAX(Grade)</a:t>
            </a:r>
            <a:br/>
            <a:r>
              <a:rPr sz="1100"/>
              <a:t>  FROM students</a:t>
            </a:r>
            <a:br/>
            <a:r>
              <a:rPr sz="1100"/>
              <a:t>  GROUP BY StudyProgram</a:t>
            </a:r>
            <a:br/>
            <a:br/>
            <a:r>
              <a:rPr sz="1100"/>
              <a:t>GroupBy is the bridge between C# LINQ and SQL GROUP BY — understanding one makes the other obvious.</a:t>
            </a:r>
            <a:br/>
            <a:br/>
            <a:r>
              <a:rPr sz="1100"/>
              <a:t>Count() (LINQ method with parentheses) vs .Count (List property):</a:t>
            </a:r>
            <a:br/>
            <a:r>
              <a:rPr sz="1100"/>
              <a:t>  students.Count()  — calls the LINQ extension method, works on any IEnumerable&lt;T&gt;</a:t>
            </a:r>
            <a:br/>
            <a:r>
              <a:rPr sz="1100"/>
              <a:t>  students.Count    — accesses the List&lt;T&gt;.Count property (faster, O(1))</a:t>
            </a:r>
            <a:br/>
            <a:r>
              <a:rPr sz="1100"/>
              <a:t>  Both return the number of elements, but the LINQ method allows a predicate: students.Count(s =&gt; s.Grade &gt;= 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~6 min</a:t>
            </a:r>
            <a:br/>
            <a:br/>
            <a:r>
              <a:rPr sz="1100"/>
              <a:t>📢 FOR PRESENTER</a:t>
            </a:r>
            <a:br/>
            <a:r>
              <a:rPr sz="1100"/>
              <a:t>This is the climax of the LINQ section. Go slowly — one step at a time.</a:t>
            </a:r>
            <a:br/>
            <a:r>
              <a:rPr sz="1100"/>
              <a:t>For each line, ask: "What type do we have at this point in the chain?"</a:t>
            </a:r>
            <a:br/>
            <a:r>
              <a:rPr sz="1100"/>
              <a:t>Then say: "Notice — we never declared a temporary variable. The whole thing is one expression."</a:t>
            </a:r>
            <a:br/>
            <a:r>
              <a:rPr sz="1100"/>
              <a:t>Optional: rewrite the same logic using variables and foreach. Show how much longer it is.</a:t>
            </a:r>
            <a:br/>
            <a:br/>
            <a:r>
              <a:rPr sz="1100"/>
              <a:t>📖 DEEP EXPLANATION — LINQ chaining and readability</a:t>
            </a:r>
            <a:br/>
            <a:r>
              <a:rPr sz="1100"/>
              <a:t>The full LINQ pipeline demonstrates a fundamental advantage: expresssive intent.</a:t>
            </a:r>
            <a:br/>
            <a:br/>
            <a:r>
              <a:rPr sz="1100"/>
              <a:t>Compare:</a:t>
            </a:r>
            <a:br/>
            <a:r>
              <a:rPr sz="1100"/>
              <a:t>  // Imperative (how)</a:t>
            </a:r>
            <a:br/>
            <a:r>
              <a:rPr sz="1100"/>
              <a:t>  var result = new List&lt;StudentSummary&gt;();</a:t>
            </a:r>
            <a:br/>
            <a:r>
              <a:rPr sz="1100"/>
              <a:t>  foreach (var s in students) {</a:t>
            </a:r>
            <a:br/>
            <a:r>
              <a:rPr sz="1100"/>
              <a:t>    if (!s.IsActive) continue;</a:t>
            </a:r>
            <a:br/>
            <a:r>
              <a:rPr sz="1100"/>
              <a:t>    if (s.Grade &lt; 5) continue;</a:t>
            </a:r>
            <a:br/>
            <a:r>
              <a:rPr sz="1100"/>
              <a:t>    result.Add(new StudentSummary { Name = s.FullName, Grade = s.Grade, ... });</a:t>
            </a:r>
            <a:br/>
            <a:r>
              <a:rPr sz="1100"/>
              <a:t>  }</a:t>
            </a:r>
            <a:br/>
            <a:r>
              <a:rPr sz="1100"/>
              <a:t>  result.Sort((a,b) =&gt; b.Grade.CompareTo(a.Grade));</a:t>
            </a:r>
            <a:br/>
            <a:br/>
            <a:r>
              <a:rPr sz="1100"/>
              <a:t>  // Declarative (what)</a:t>
            </a:r>
            <a:br/>
            <a:r>
              <a:rPr sz="1100"/>
              <a:t>  var result = students</a:t>
            </a:r>
            <a:br/>
            <a:r>
              <a:rPr sz="1100"/>
              <a:t>    .Where(s =&gt; s.IsActive)</a:t>
            </a:r>
            <a:br/>
            <a:r>
              <a:rPr sz="1100"/>
              <a:t>    .Where(s =&gt; s.Grade &gt;= 5)</a:t>
            </a:r>
            <a:br/>
            <a:r>
              <a:rPr sz="1100"/>
              <a:t>    .OrderByDescending(s =&gt; s.Grade)</a:t>
            </a:r>
            <a:br/>
            <a:r>
              <a:rPr sz="1100"/>
              <a:t>    .Select(s =&gt; new StudentSummary { Name = s.FullName, ... })</a:t>
            </a:r>
            <a:br/>
            <a:r>
              <a:rPr sz="1100"/>
              <a:t>    .ToList();</a:t>
            </a:r>
            <a:br/>
            <a:br/>
            <a:r>
              <a:rPr sz="1100"/>
              <a:t>The declarative version:</a:t>
            </a:r>
            <a:br/>
            <a:r>
              <a:rPr sz="1100"/>
              <a:t>  - Reads like a specification, not an algorithm.</a:t>
            </a:r>
            <a:br/>
            <a:r>
              <a:rPr sz="1100"/>
              <a:t>  - Each step is independently readable.</a:t>
            </a:r>
            <a:br/>
            <a:r>
              <a:rPr sz="1100"/>
              <a:t>  - Easier to modify: add .Take(10) to limit to top 10, add another .Where() to filter further.</a:t>
            </a:r>
            <a:br/>
            <a:r>
              <a:rPr sz="1100"/>
              <a:t>  - Harder to introduce subtle bugs (off-by-one errors, forgetting to skip inactive, etc.).</a:t>
            </a:r>
            <a:br/>
            <a:br/>
            <a:r>
              <a:rPr sz="1100"/>
              <a:t>Performance note: All the .Where() and .OrderBy() calls build up a query — the data is only iterated ONCE when .ToList() is called at the end. This is deferred execution in action.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~1 min (section divider)</a:t>
            </a:r>
            <a:br/>
            <a:br/>
            <a:r>
              <a:rPr sz="1100"/>
              <a:t>📢 FOR PRESENTER</a:t>
            </a:r>
            <a:br/>
            <a:r>
              <a:rPr sz="1100"/>
              <a:t>Motivate: "You've been using generics since Week 1: List&lt;Student&gt;, Dictionary&lt;int, Student&gt;.</a:t>
            </a:r>
            <a:br/>
            <a:r>
              <a:rPr sz="1100"/>
              <a:t>You've been a generics USER. Today you become a generics AUTHOR."</a:t>
            </a:r>
            <a:br/>
            <a:r>
              <a:rPr sz="1100"/>
              <a:t>Pause. "When you understand &lt;T&gt;, you understand why the entire .NET collections library only needed to be written ONCE."</a:t>
            </a:r>
            <a:br/>
            <a:br/>
            <a:r>
              <a:rPr sz="1100"/>
              <a:t>📖 DEEP EXPLANATION — Why generics exist</a:t>
            </a:r>
            <a:br/>
            <a:r>
              <a:rPr sz="1100"/>
              <a:t>Before generics (C# 1.0), collections stored everything as object:</a:t>
            </a:r>
            <a:br/>
            <a:r>
              <a:rPr sz="1100"/>
              <a:t>  ArrayList list = new ArrayList();</a:t>
            </a:r>
            <a:br/>
            <a:r>
              <a:rPr sz="1100"/>
              <a:t>  list.Add(new Student());    // boxing: Student wrapped in object</a:t>
            </a:r>
            <a:br/>
            <a:r>
              <a:rPr sz="1100"/>
              <a:t>  Student s = (Student)list[0]; // unboxing: cast required, can fail at runtime</a:t>
            </a:r>
            <a:br/>
            <a:br/>
            <a:r>
              <a:rPr sz="1100"/>
              <a:t>Generics (C# 2.0, 2005) solved this:</a:t>
            </a:r>
            <a:br/>
            <a:r>
              <a:rPr sz="1100"/>
              <a:t>  List&lt;Student&gt; list = new List&lt;Student&gt;();</a:t>
            </a:r>
            <a:br/>
            <a:r>
              <a:rPr sz="1100"/>
              <a:t>  list.Add(new Student());</a:t>
            </a:r>
            <a:br/>
            <a:r>
              <a:rPr sz="1100"/>
              <a:t>  Student s = list[0]; // no cast, type-safe, compiler-checked</a:t>
            </a:r>
            <a:br/>
            <a:br/>
            <a:r>
              <a:rPr sz="1100"/>
              <a:t>Benefits of generics:</a:t>
            </a:r>
            <a:br/>
            <a:r>
              <a:rPr sz="1100"/>
              <a:t>  1. Type safety — compiler checks types at compile time, not runtime.</a:t>
            </a:r>
            <a:br/>
            <a:r>
              <a:rPr sz="1100"/>
              <a:t>  2. Performance — no boxing/unboxing for value types.</a:t>
            </a:r>
            <a:br/>
            <a:r>
              <a:rPr sz="1100"/>
              <a:t>  3. Code reuse — write once, use with any type.</a:t>
            </a:r>
            <a:br/>
            <a:r>
              <a:rPr sz="1100"/>
              <a:t>  4. Expressiveness — the type parameter documents intent: List&lt;Student&gt; is clearly a list of students.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~7 min</a:t>
            </a:r>
            <a:br/>
            <a:br/>
            <a:r>
              <a:rPr sz="1100"/>
              <a:t>📢 FOR PRESENTER</a:t>
            </a:r>
            <a:br/>
            <a:r>
              <a:rPr sz="1100"/>
              <a:t>Start: "Look at the top of the slide — you've used all three of these. List&lt;Student&gt;. Dictionary&lt;int, Student&gt;. IReadOnlyList&lt;Student&gt;. T was Student all along."</a:t>
            </a:r>
            <a:br/>
            <a:r>
              <a:rPr sz="1100"/>
              <a:t>Then: "Now we write our OWN class with &lt;T&gt;."</a:t>
            </a:r>
            <a:br/>
            <a:r>
              <a:rPr sz="1100"/>
              <a:t>Walk through FindFirst&lt;T&gt;. Emphasise: "T is decided by the CALLER, not by the method."</a:t>
            </a:r>
            <a:br/>
            <a:r>
              <a:rPr sz="1100"/>
              <a:t>Live coding: write a simple generic method together — Swap&lt;T&gt;(ref T a, ref T b).</a:t>
            </a:r>
            <a:br/>
            <a:br/>
            <a:r>
              <a:rPr sz="1100"/>
              <a:t>📖 DEEP EXPLANATION — Generic methods and type inference</a:t>
            </a:r>
            <a:br/>
            <a:r>
              <a:rPr sz="1100"/>
              <a:t>Generic method declaration:</a:t>
            </a:r>
            <a:br/>
            <a:r>
              <a:rPr sz="1100"/>
              <a:t>  TResult FindFirst&lt;T, TResult&gt;(IEnumerable&lt;T&gt; source, Func&lt;T, TResult&gt; selector)</a:t>
            </a:r>
            <a:br/>
            <a:r>
              <a:rPr sz="1100"/>
              <a:t>  where T : class</a:t>
            </a:r>
            <a:br/>
            <a:br/>
            <a:r>
              <a:rPr sz="1100"/>
              <a:t>Type inference: when you call FindFirst(students, s =&gt; s.Name), the compiler infers T=Student and TResult=string from the arguments. You don't need to write FindFirst&lt;Student, string&gt;(students, s =&gt; s.Name).</a:t>
            </a:r>
            <a:br/>
            <a:br/>
            <a:r>
              <a:rPr sz="1100"/>
              <a:t>Constraints (where clause):</a:t>
            </a:r>
            <a:br/>
            <a:r>
              <a:rPr sz="1100"/>
              <a:t>  where T : class         — T must be a reference type (not int, bool)</a:t>
            </a:r>
            <a:br/>
            <a:r>
              <a:rPr sz="1100"/>
              <a:t>  where T : struct        — T must be a value type</a:t>
            </a:r>
            <a:br/>
            <a:r>
              <a:rPr sz="1100"/>
              <a:t>  where T : new()         — T must have a parameterless constructor</a:t>
            </a:r>
            <a:br/>
            <a:r>
              <a:rPr sz="1100"/>
              <a:t>  where T : IEntity       — T must implement IEntity</a:t>
            </a:r>
            <a:br/>
            <a:r>
              <a:rPr sz="1100"/>
              <a:t>  where T : Student       — T must be Student or a subclass</a:t>
            </a:r>
            <a:br/>
            <a:br/>
            <a:r>
              <a:rPr sz="1100"/>
              <a:t>Multiple constraints:</a:t>
            </a:r>
            <a:br/>
            <a:r>
              <a:rPr sz="1100"/>
              <a:t>  where T : class, IEntity, new()</a:t>
            </a:r>
            <a:br/>
            <a:br/>
            <a:r>
              <a:rPr sz="1100"/>
              <a:t>Constraints serve two purposes:</a:t>
            </a:r>
            <a:br/>
            <a:r>
              <a:rPr sz="1100"/>
              <a:t>  1. Restrict what types can be used (prevents nonsensical usage).</a:t>
            </a:r>
            <a:br/>
            <a:r>
              <a:rPr sz="1100"/>
              <a:t>  2. Enable the compiler to know what operations are available on T (if T : IEntity, you can access T.Id).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~7 min</a:t>
            </a:r>
            <a:br/>
            <a:br/>
            <a:r>
              <a:rPr sz="1100"/>
              <a:t>📢 FOR PRESENTER</a:t>
            </a:r>
            <a:br/>
            <a:r>
              <a:rPr sz="1100"/>
              <a:t>Architectural climax. Go slowly. Ask first: "You have MemoryStudentRepository. Imagine you now need MemoryOrderRepository, MemoryProductRepository. What would they look like?"</a:t>
            </a:r>
            <a:br/>
            <a:r>
              <a:rPr sz="1100"/>
              <a:t>Let them answer: "Same methods! Add, GetById, GetAll, Remove — just with a different type."</a:t>
            </a:r>
            <a:br/>
            <a:r>
              <a:rPr sz="1100"/>
              <a:t>"That repetition is exactly what generics eliminate."</a:t>
            </a:r>
            <a:br/>
            <a:r>
              <a:rPr sz="1100"/>
              <a:t>Then reveal IEntity and IRepository&lt;T&gt;.</a:t>
            </a:r>
            <a:br/>
            <a:br/>
            <a:r>
              <a:rPr sz="1100"/>
              <a:t>📖 DEEP EXPLANATION — IEntity and the generic repository contract</a:t>
            </a:r>
            <a:br/>
            <a:r>
              <a:rPr sz="1100"/>
              <a:t>IEntity interface:</a:t>
            </a:r>
            <a:br/>
            <a:r>
              <a:rPr sz="1100"/>
              <a:t>  interface IEntity { int Id { get; } }</a:t>
            </a:r>
            <a:br/>
            <a:br/>
            <a:r>
              <a:rPr sz="1100"/>
              <a:t>Every entity that participates in the repository must have an Id. The constraint where T : IEntity is what allows the repository implementation to use T.Id as the dictionary key.</a:t>
            </a:r>
            <a:br/>
            <a:br/>
            <a:r>
              <a:rPr sz="1100"/>
              <a:t>IRepository&lt;T&gt; interface:</a:t>
            </a:r>
            <a:br/>
            <a:r>
              <a:rPr sz="1100"/>
              <a:t>  interface IRepository&lt;T&gt; where T : IEntity {</a:t>
            </a:r>
            <a:br/>
            <a:r>
              <a:rPr sz="1100"/>
              <a:t>    void Add(T entity);</a:t>
            </a:r>
            <a:br/>
            <a:r>
              <a:rPr sz="1100"/>
              <a:t>    T? GetById(int id);</a:t>
            </a:r>
            <a:br/>
            <a:r>
              <a:rPr sz="1100"/>
              <a:t>    IReadOnlyList&lt;T&gt; GetAll();</a:t>
            </a:r>
            <a:br/>
            <a:r>
              <a:rPr sz="1100"/>
              <a:t>    bool Remove(int id);</a:t>
            </a:r>
            <a:br/>
            <a:r>
              <a:rPr sz="1100"/>
              <a:t>  }</a:t>
            </a:r>
            <a:br/>
            <a:br/>
            <a:r>
              <a:rPr sz="1100"/>
              <a:t>This is the Repository pattern made generic. The interface:</a:t>
            </a:r>
            <a:br/>
            <a:r>
              <a:rPr sz="1100"/>
              <a:t>  - Documents the operations every repository must support (Add, Get, Remove).</a:t>
            </a:r>
            <a:br/>
            <a:r>
              <a:rPr sz="1100"/>
              <a:t>  - Is implemented by MemoryRepository&lt;T&gt; ONCE (not per entity type).</a:t>
            </a:r>
            <a:br/>
            <a:r>
              <a:rPr sz="1100"/>
              <a:t>  - Can be implemented by DatabaseRepository&lt;T&gt;, ApiRepository&lt;T&gt;, FileRepository&lt;T&gt; etc. without changing any service code.</a:t>
            </a:r>
            <a:br/>
            <a:br/>
            <a:r>
              <a:rPr sz="1100"/>
              <a:t>OCP: Adding a new entity type (e.g., Course) requires only:</a:t>
            </a:r>
            <a:br/>
            <a:r>
              <a:rPr sz="1100"/>
              <a:t>  1. Making Course implement IEntity.</a:t>
            </a:r>
            <a:br/>
            <a:r>
              <a:rPr sz="1100"/>
              <a:t>  2. Registering MemoryRepository&lt;Course&gt; in Program.cs.</a:t>
            </a:r>
            <a:br/>
            <a:r>
              <a:rPr sz="1100"/>
              <a:t>  Zero changes to existing classes.</a:t>
            </a:r>
            <a:br/>
            <a:br/>
            <a:r>
              <a:rPr sz="1100"/>
              <a:t>This is the full payoff of Weeks 3 (interfaces), 4 (isolation), 5 (patterns), 6 (containers), and 7 (generics) combined.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~7 min</a:t>
            </a:r>
            <a:br/>
            <a:br/>
            <a:r>
              <a:rPr sz="1100"/>
              <a:t>📢 FOR PRESENTER</a:t>
            </a:r>
            <a:br/>
            <a:r>
              <a:rPr sz="1100"/>
              <a:t>"One of the most important slides in the entire course. Read that again."</a:t>
            </a:r>
            <a:br/>
            <a:r>
              <a:rPr sz="1100"/>
              <a:t>Walk method by method — do NOT rush.</a:t>
            </a:r>
            <a:br/>
            <a:r>
              <a:rPr sz="1100"/>
              <a:t>After each method, ask: "What is T here if we're storing Students?" → Student. "If storing Orders?" → Order.</a:t>
            </a:r>
            <a:br/>
            <a:r>
              <a:rPr sz="1100"/>
              <a:t>Key reveal: "This single class replaces ALL entity-specific repositories you would otherwise have to write."</a:t>
            </a:r>
            <a:br/>
            <a:br/>
            <a:r>
              <a:rPr sz="1100"/>
              <a:t>📖 DEEP EXPLANATION — Generic class implementation</a:t>
            </a:r>
            <a:br/>
            <a:r>
              <a:rPr sz="1100"/>
              <a:t>MemoryRepository&lt;T&gt; where T : IEntity:</a:t>
            </a:r>
            <a:br/>
            <a:br/>
            <a:r>
              <a:rPr sz="1100"/>
              <a:t>Internal storage:</a:t>
            </a:r>
            <a:br/>
            <a:r>
              <a:rPr sz="1100"/>
              <a:t>  private Dictionary&lt;int, T&gt; _items = new();</a:t>
            </a:r>
            <a:br/>
            <a:r>
              <a:rPr sz="1100"/>
              <a:t>  T can be anything that has an Id. The dictionary key is always int (from IEntity.Id).</a:t>
            </a:r>
            <a:br/>
            <a:br/>
            <a:r>
              <a:rPr sz="1100"/>
              <a:t>Add method:</a:t>
            </a:r>
            <a:br/>
            <a:r>
              <a:rPr sz="1100"/>
              <a:t>  public void Add(T entity) =&gt; _items[entity.Id] = entity;</a:t>
            </a:r>
            <a:br/>
            <a:r>
              <a:rPr sz="1100"/>
              <a:t>  Upsert semantics: if entity.Id already exists, it overwrites. This is intentional — "add or update".</a:t>
            </a:r>
            <a:br/>
            <a:r>
              <a:rPr sz="1100"/>
              <a:t>  If you need strict insert-only, check: if (_items.ContainsKey(entity.Id)) throw new DuplicateException().</a:t>
            </a:r>
            <a:br/>
            <a:br/>
            <a:r>
              <a:rPr sz="1100"/>
              <a:t>GetById:</a:t>
            </a:r>
            <a:br/>
            <a:r>
              <a:rPr sz="1100"/>
              <a:t>  TryGetValue returns false if the key doesn't exist → method returns null.</a:t>
            </a:r>
            <a:br/>
            <a:r>
              <a:rPr sz="1100"/>
              <a:t>  In nullable context (C# 8+): T? means "this might be null — check before using."</a:t>
            </a:r>
            <a:br/>
            <a:br/>
            <a:r>
              <a:rPr sz="1100"/>
              <a:t>GetAll:</a:t>
            </a:r>
            <a:br/>
            <a:r>
              <a:rPr sz="1100"/>
              <a:t>  Returns a snapshot (copy) via .Values.ToList(). The caller gets a disconnected list.</a:t>
            </a:r>
            <a:br/>
            <a:r>
              <a:rPr sz="1100"/>
              <a:t>  Alternative: return directly as IReadOnlyList&lt;T&gt; via a cast. The copy is safer for thread safety.</a:t>
            </a:r>
            <a:br/>
            <a:br/>
            <a:r>
              <a:rPr sz="1100"/>
              <a:t>Remove:</a:t>
            </a:r>
            <a:br/>
            <a:r>
              <a:rPr sz="1100"/>
              <a:t>  Returns bool — true if removed, false if id didn't exist.</a:t>
            </a:r>
            <a:br/>
            <a:r>
              <a:rPr sz="1100"/>
              <a:t>  The caller can decide whether "not found" is an error or silently OK.</a:t>
            </a:r>
            <a:br/>
            <a:br/>
            <a:r>
              <a:rPr sz="1100"/>
              <a:t>Using MemoryRepository&lt;T&gt; in Program.cs:</a:t>
            </a:r>
            <a:br/>
            <a:r>
              <a:rPr sz="1100"/>
              <a:t>  var studentRepo = new MemoryRepository&lt;Student&gt;();</a:t>
            </a:r>
            <a:br/>
            <a:r>
              <a:rPr sz="1100"/>
              <a:t>  var orderRepo   = new MemoryRepository&lt;Order&gt;();</a:t>
            </a:r>
            <a:br/>
            <a:r>
              <a:rPr sz="1100"/>
              <a:t>  var courseRepo  = new MemoryRepository&lt;Course&gt;();</a:t>
            </a:r>
            <a:br/>
            <a:r>
              <a:rPr sz="1100"/>
              <a:t>  // Three repositories, zero duplication.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~5 min</a:t>
            </a:r>
            <a:br/>
            <a:br/>
            <a:r>
              <a:rPr sz="1100"/>
              <a:t>📢 FOR PRESENTER</a:t>
            </a:r>
            <a:br/>
            <a:r>
              <a:rPr sz="1100"/>
              <a:t>Ask BEFORE revealing each principle: "Where did you see this today?"</a:t>
            </a:r>
            <a:br/>
            <a:r>
              <a:rPr sz="1100"/>
              <a:t>Do NOT tell them the answer — let them connect it.</a:t>
            </a:r>
            <a:br/>
            <a:r>
              <a:rPr sz="1100"/>
              <a:t>Encapsulation → private Dictionary.</a:t>
            </a:r>
            <a:br/>
            <a:r>
              <a:rPr sz="1100"/>
              <a:t>SRP → Repository stores, Service processes, Printer outputs.</a:t>
            </a:r>
            <a:br/>
            <a:r>
              <a:rPr sz="1100"/>
              <a:t>OCP → adding a new entity = new MemoryRepository&lt;T&gt;, nothing existing changes.</a:t>
            </a:r>
            <a:br/>
            <a:r>
              <a:rPr sz="1100"/>
              <a:t>DIP → Service depends on IRepository&lt;T&gt;, not MemoryRepository&lt;T&gt;.</a:t>
            </a:r>
            <a:br/>
            <a:r>
              <a:rPr sz="1100"/>
              <a:t>LSP → any T can be used in MemoryRepository&lt;T&gt; as long as it implements IEntity.</a:t>
            </a:r>
            <a:br/>
            <a:br/>
            <a:r>
              <a:rPr sz="1100"/>
              <a:t>📖 DEEP EXPLANATION — Connecting today's content to OOP principles</a:t>
            </a:r>
            <a:br/>
            <a:r>
              <a:rPr sz="1100"/>
              <a:t>Today's lecture was not just about syntax — it was applied OOP architecture.</a:t>
            </a:r>
            <a:br/>
            <a:br/>
            <a:r>
              <a:rPr sz="1100"/>
              <a:t>ENCAPSULATION: The Dictionary _items is private. External code calls Add/GetById/GetAll. It never accesses the dictionary directly. This means you could swap the dictionary for a sorted tree, a database, or a cloud key-value store — nothing outside would change.</a:t>
            </a:r>
            <a:br/>
            <a:br/>
            <a:r>
              <a:rPr sz="1100"/>
              <a:t>SINGLE RESPONSIBILITY: MemoryRepository&lt;T&gt; has ONE job: store and retrieve entities by ID. It does not validate, print, or calculate.</a:t>
            </a:r>
            <a:br/>
            <a:br/>
            <a:r>
              <a:rPr sz="1100"/>
              <a:t>OPEN/CLOSED: Adding a new entity type (e.g., Faculty) does NOT require modifying MemoryRepository&lt;T&gt;. You create MemoryRepository&lt;Faculty&gt; — the class is OPEN for extension (new type parameters), CLOSED for modification (no editing needed).</a:t>
            </a:r>
            <a:br/>
            <a:br/>
            <a:r>
              <a:rPr sz="1100"/>
              <a:t>DEPENDENCY INVERSION: StudentService depends on IRepository&lt;T&gt;, not MemoryRepository&lt;T&gt;. Program.cs injects the concrete class. If you switch to DatabaseRepository&lt;T&gt;, the service is unchanged.</a:t>
            </a:r>
            <a:br/>
            <a:br/>
            <a:r>
              <a:rPr sz="1100"/>
              <a:t>LISKOV SUBSTITUTION: Any MemoryRepository&lt;T&gt; (for T : IEntity) can be used wherever IRepository&lt;T&gt; is expected, because it fully implements the interface contract.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~3 min</a:t>
            </a:r>
            <a:br/>
            <a:br/>
            <a:r>
              <a:rPr sz="1100"/>
              <a:t>📢 FOR PRESENTER</a:t>
            </a:r>
            <a:br/>
            <a:r>
              <a:rPr sz="1100"/>
              <a:t>Walk through each point quickly — this is not new content, it's consolidation.</a:t>
            </a:r>
            <a:br/>
            <a:r>
              <a:rPr sz="1100"/>
              <a:t>Ask: "Which section was hardest?" — note for next week's recap.</a:t>
            </a:r>
            <a:br/>
            <a:r>
              <a:rPr sz="1100"/>
              <a:t>Ask: "Which was clearest?" — positive reinforcement helps memory consolidation.</a:t>
            </a:r>
            <a:br/>
            <a:r>
              <a:rPr sz="1100"/>
              <a:t>Then say: "The next two slides show you the full architecture you are building towards in Lab-7."</a:t>
            </a:r>
            <a:br/>
            <a:br/>
            <a:r>
              <a:rPr sz="1100"/>
              <a:t>📖 DEEP EXPLANATION — Why summaries matter</a:t>
            </a:r>
            <a:br/>
            <a:r>
              <a:rPr sz="1100"/>
              <a:t>Cognitive science shows that retrieval practice (asking students to recall, not re-read) doubles retention compared to passive review.</a:t>
            </a:r>
            <a:br/>
            <a:br/>
            <a:r>
              <a:rPr sz="1100"/>
              <a:t>A good summary is not just a list of topics — it's a map that shows how the topics connect:</a:t>
            </a:r>
            <a:br/>
            <a:r>
              <a:rPr sz="1100"/>
              <a:t>  Dictionary → enables O(1) lookup in Repository</a:t>
            </a:r>
            <a:br/>
            <a:r>
              <a:rPr sz="1100"/>
              <a:t>  IEnumerable&lt;T&gt; → the type that makes LINQ possible</a:t>
            </a:r>
            <a:br/>
            <a:r>
              <a:rPr sz="1100"/>
              <a:t>  LINQ → practical tool for querying any IEnumerable&lt;T&gt;</a:t>
            </a:r>
            <a:br/>
            <a:r>
              <a:rPr sz="1100"/>
              <a:t>  IRepository&lt;T&gt; → unified interface using all three above</a:t>
            </a:r>
            <a:br/>
            <a:br/>
            <a:r>
              <a:rPr sz="1100"/>
              <a:t>Students who see this connection will remember the whole week as one coherent idea, not five separate topics.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t>⏱ TIMING: ~2 min</a:t>
            </a:r>
            <a:br/>
            <a:br/>
            <a:r>
              <a:rPr sz="1100"/>
              <a:t>📢 FOR PRESENTER</a:t>
            </a:r>
            <a:br/>
            <a:r>
              <a:rPr sz="1100"/>
              <a:t>Read through the four Lab-7 tasks clearly. For each one, say: "This is X minutes of work if you understood today's lecture."</a:t>
            </a:r>
            <a:br/>
            <a:r>
              <a:rPr sz="1100"/>
              <a:t>Emphasise: "If you cannot do task 1 — you have not understood IEntity. Come to me before the lab."</a:t>
            </a:r>
            <a:br/>
            <a:r>
              <a:rPr sz="1100"/>
              <a:t>Motivate: "When you finish Lab-7, your project will be indistinguishable from real enterprise C# code."</a:t>
            </a:r>
            <a:br/>
            <a:br/>
            <a:r>
              <a:rPr sz="1100"/>
              <a:t>📖 DEEP EXPLANATION — Lab-7 is the synthesis exercise</a:t>
            </a:r>
            <a:br/>
            <a:r>
              <a:rPr sz="1100"/>
              <a:t>Lab-7 requires students to synthesise everything from Weeks 1–7:</a:t>
            </a:r>
            <a:br/>
            <a:r>
              <a:rPr sz="1100"/>
              <a:t>  Task 1 (IEntity): Apply the where T : IEntity constraint concept from slide 23.</a:t>
            </a:r>
            <a:br/>
            <a:r>
              <a:rPr sz="1100"/>
              <a:t>  Task 2 (MemoryRepository&lt;T&gt;): Implement the generic class from slide 24 — copy and adapt.</a:t>
            </a:r>
            <a:br/>
            <a:r>
              <a:rPr sz="1100"/>
              <a:t>  Task 3 (LINQ): Replace at least 3 foreach loops. Students choose which ones — creative application.</a:t>
            </a:r>
            <a:br/>
            <a:r>
              <a:rPr sz="1100"/>
              <a:t>  Task 4 (ApiStudentRepository): The architectural boundary slide (slide 30) explains the design. Students implement it step by step using the Lab-7 project as a starting point.</a:t>
            </a:r>
            <a:br/>
            <a:br/>
            <a:r>
              <a:rPr sz="1100"/>
              <a:t>The Lab-7 project zip contains a skeleton — not a blank file. Students can open it in Visual Studio or Rider immediately and start from the TODO comments.</a:t>
            </a:r>
            <a:br/>
            <a:br/>
            <a:r>
              <a:rPr sz="1100"/>
              <a:t>Key learning: Lab-7 demonstrates that good architecture (interfaces, injection, generics) makes adding complexity (real API, nested data) manageable rather than terrifying.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t>⏱ TIMING: ~4 min</a:t>
            </a:r>
            <a:br/>
            <a:br/>
            <a:r>
              <a:rPr sz="1100"/>
              <a:t>📢 FOR PRESENTER</a:t>
            </a:r>
            <a:br/>
            <a:r>
              <a:rPr sz="1100"/>
              <a:t>Use this as a "before" anchor. Ask: "Look at the red box — what are the limitations you can see just from the diagram?"</a:t>
            </a:r>
            <a:br/>
            <a:r>
              <a:rPr sz="1100"/>
              <a:t>Typical answers: List&lt;T&gt; is O(n), no Faculty/Group concept, flat structure.</a:t>
            </a:r>
            <a:br/>
            <a:r>
              <a:rPr sz="1100"/>
              <a:t>Say: "This is where Lab-6 left you. The next two slides show where Lab-7 takes you."</a:t>
            </a:r>
            <a:br/>
            <a:br/>
            <a:r>
              <a:rPr sz="1100"/>
              <a:t>📖 DEEP EXPLANATION — Why the "before" slide matters</a:t>
            </a:r>
            <a:br/>
            <a:r>
              <a:rPr sz="1100"/>
              <a:t>In architecture education, the "before" state is as important as the "after". Students need to feel the pain of the old design to appreciate the new one.</a:t>
            </a:r>
            <a:br/>
            <a:br/>
            <a:r>
              <a:rPr sz="1100"/>
              <a:t>The Lab-6 MemoryStudentRepository problems:</a:t>
            </a:r>
            <a:br/>
            <a:r>
              <a:rPr sz="1100"/>
              <a:t>  1. FindById uses List.FirstOrDefault() — O(n). With 1,000 students, up to 1,000 comparisons per call.</a:t>
            </a:r>
            <a:br/>
            <a:r>
              <a:rPr sz="1100"/>
              <a:t>  2. No Group concept — groups are computed by the service on every call, not stored.</a:t>
            </a:r>
            <a:br/>
            <a:r>
              <a:rPr sz="1100"/>
              <a:t>  3. No Faculty concept — the system cannot answer "how many students are in the Faculty?"</a:t>
            </a:r>
            <a:br/>
            <a:r>
              <a:rPr sz="1100"/>
              <a:t>  4. The repository knows about specific student properties — it is tightly coupled to the Student entity.</a:t>
            </a:r>
            <a:br/>
            <a:br/>
            <a:r>
              <a:rPr sz="1100"/>
              <a:t>All four problems are solved in Lab-7 by:</a:t>
            </a:r>
            <a:br/>
            <a:r>
              <a:rPr sz="1100"/>
              <a:t>  1. → Dictionary&lt;int, Student&gt; — O(1) GetById.</a:t>
            </a:r>
            <a:br/>
            <a:r>
              <a:rPr sz="1100"/>
              <a:t>  2. → Dictionary&lt;string, Group&gt; — groups built once at load time.</a:t>
            </a:r>
            <a:br/>
            <a:r>
              <a:rPr sz="1100"/>
              <a:t>  3. → Faculty object — computed from groups.</a:t>
            </a:r>
            <a:br/>
            <a:r>
              <a:rPr sz="1100"/>
              <a:t>  4. → IRepository&lt;T&gt; — decoupled from specific entity types.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t>⏱ TIMING: ~5 min</a:t>
            </a:r>
            <a:br/>
            <a:br/>
            <a:r>
              <a:rPr sz="1100"/>
              <a:t>📢 FOR PRESENTER</a:t>
            </a:r>
            <a:br/>
            <a:r>
              <a:rPr sz="1100"/>
              <a:t>Draw the wall on the whiteboard BEFORE showing this slide. Say: "On the left: everything hidden. On the right: everything exposed. The wall: ApiStudentRepository."</a:t>
            </a:r>
            <a:br/>
            <a:r>
              <a:rPr sz="1100"/>
              <a:t>Then show the slide as confirmation.</a:t>
            </a:r>
            <a:br/>
            <a:r>
              <a:rPr sz="1100"/>
              <a:t>Key question: "If I change how the dictionary is structured inside — what changes for the Service?"</a:t>
            </a:r>
            <a:br/>
            <a:r>
              <a:rPr sz="1100"/>
              <a:t>Answer: Nothing. That's the whole point.</a:t>
            </a:r>
            <a:br/>
            <a:br/>
            <a:r>
              <a:rPr sz="1100"/>
              <a:t>📖 DEEP EXPLANATION — The Boundary Pattern</a:t>
            </a:r>
            <a:br/>
            <a:r>
              <a:rPr sz="1100"/>
              <a:t>The Repository Wall is an instance of the broader Boundary Pattern (also called Facade or Adapter in GoF terms):</a:t>
            </a:r>
            <a:br/>
            <a:br/>
            <a:r>
              <a:rPr sz="1100"/>
              <a:t>LEFT (complex internal world):</a:t>
            </a:r>
            <a:br/>
            <a:r>
              <a:rPr sz="1100"/>
              <a:t>  - HttpClient — handles HTTP connection, retries, timeout, SSL</a:t>
            </a:r>
            <a:br/>
            <a:r>
              <a:rPr sz="1100"/>
              <a:t>  - ApiFacultyDto, ApiGroupDto, ApiStudentDto — DTOs (Data Transfer Objects) matching the JSON API format</a:t>
            </a:r>
            <a:br/>
            <a:r>
              <a:rPr sz="1100"/>
              <a:t>  - LoadFromApi() — async HTTP call, JSON deserialization, DTO → domain object mapping</a:t>
            </a:r>
            <a:br/>
            <a:r>
              <a:rPr sz="1100"/>
              <a:t>  - Dictionary&lt;int, Student&gt; — O(1) student lookup by ID</a:t>
            </a:r>
            <a:br/>
            <a:r>
              <a:rPr sz="1100"/>
              <a:t>  - Dictionary&lt;string, Group&gt; — O(1) group lookup by code ("CS-23")</a:t>
            </a:r>
            <a:br/>
            <a:br/>
            <a:r>
              <a:rPr sz="1100"/>
              <a:t>RIGHT (clean external interface):</a:t>
            </a:r>
            <a:br/>
            <a:r>
              <a:rPr sz="1100"/>
              <a:t>  - GetAll() → IReadOnlyList&lt;Student&gt;</a:t>
            </a:r>
            <a:br/>
            <a:r>
              <a:rPr sz="1100"/>
              <a:t>  - GetById(int id) → Student?</a:t>
            </a:r>
            <a:br/>
            <a:r>
              <a:rPr sz="1100"/>
              <a:t>  - GetGroupByCode(string code) → Group?</a:t>
            </a:r>
            <a:br/>
            <a:r>
              <a:rPr sz="1100"/>
              <a:t>  - GetAllGroups() → IReadOnlyList&lt;Group&gt;</a:t>
            </a:r>
            <a:br/>
            <a:r>
              <a:rPr sz="1100"/>
              <a:t>  - GetFaculty() → Faculty</a:t>
            </a:r>
            <a:br/>
            <a:br/>
            <a:r>
              <a:rPr sz="1100"/>
              <a:t>The key insight: the types crossing the boundary are domain objects (Student, Group, Faculty), not DTOs or primitives. This means:</a:t>
            </a:r>
            <a:br/>
            <a:r>
              <a:rPr sz="1100"/>
              <a:t>  - The Service never sees a DTO.</a:t>
            </a:r>
            <a:br/>
            <a:r>
              <a:rPr sz="1100"/>
              <a:t>  - The Service never knows an HTTP call happened.</a:t>
            </a:r>
            <a:br/>
            <a:r>
              <a:rPr sz="1100"/>
              <a:t>  - The Service thinks the repository is just a memory store.</a:t>
            </a:r>
            <a:br/>
            <a:br/>
            <a:r>
              <a:rPr sz="1100"/>
              <a:t>This is the Open/Closed Principle applied architecturally: the implementation (ApiStudentRepository) can be as complex as needed — as long as the interface contract is honoured, nothing external needs to change.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t>⏱ TIMING: ~4 min</a:t>
            </a:r>
            <a:br/>
            <a:br/>
            <a:r>
              <a:rPr sz="1100"/>
              <a:t>📢 FOR PRESENTER</a:t>
            </a:r>
            <a:br/>
            <a:r>
              <a:rPr sz="1100"/>
              <a:t>Final slide — end with energy. Say: "This is what your system looks like after Lab-7."</a:t>
            </a:r>
            <a:br/>
            <a:r>
              <a:rPr sz="1100"/>
              <a:t>Point to each component: "Program.cs is the Composition Root — the only place that knows concrete class names. Everything else talks through interfaces."</a:t>
            </a:r>
            <a:br/>
            <a:r>
              <a:rPr sz="1100"/>
              <a:t>Ask: "How many lines of StudentService code change when you switch from MemoryRepo to ApiRepo?"</a:t>
            </a:r>
            <a:br/>
            <a:r>
              <a:rPr sz="1100"/>
              <a:t>Answer: Zero.</a:t>
            </a:r>
            <a:br/>
            <a:br/>
            <a:r>
              <a:rPr sz="1100"/>
              <a:t>📖 DEEP EXPLANATION — The completed architecture</a:t>
            </a:r>
            <a:br/>
            <a:r>
              <a:rPr sz="1100"/>
              <a:t>The Lab-7 architecture is a textbook example of Clean Architecture at a small scale:</a:t>
            </a:r>
            <a:br/>
            <a:br/>
            <a:r>
              <a:rPr sz="1100"/>
              <a:t>LAYERS (from outermost to innermost):</a:t>
            </a:r>
            <a:br/>
            <a:r>
              <a:rPr sz="1100"/>
              <a:t>  Program.cs (Composition Root) — wires everything together. Knows ALL concrete types.</a:t>
            </a:r>
            <a:br/>
            <a:r>
              <a:rPr sz="1100"/>
              <a:t>  Service layer (StudentService) — business logic. Knows only interfaces.</a:t>
            </a:r>
            <a:br/>
            <a:r>
              <a:rPr sz="1100"/>
              <a:t>  Repository layer (IStudentRepository + implementations) — data access. Knows domain objects.</a:t>
            </a:r>
            <a:br/>
            <a:r>
              <a:rPr sz="1100"/>
              <a:t>  Domain layer (Student, Group, Faculty) — pure data model. Knows nothing.</a:t>
            </a:r>
            <a:br/>
            <a:br/>
            <a:r>
              <a:rPr sz="1100"/>
              <a:t>THE useApi FLAG:</a:t>
            </a:r>
            <a:br/>
            <a:r>
              <a:rPr sz="1100"/>
              <a:t>  const bool useApi = false;</a:t>
            </a:r>
            <a:br/>
            <a:r>
              <a:rPr sz="1100"/>
              <a:t>  IStudentRepository repo = useApi</a:t>
            </a:r>
            <a:br/>
            <a:r>
              <a:rPr sz="1100"/>
              <a:t>    ? new ApiStudentRepository("http://localhost:6001")</a:t>
            </a:r>
            <a:br/>
            <a:r>
              <a:rPr sz="1100"/>
              <a:t>    : new MemoryStudentRepository();</a:t>
            </a:r>
            <a:br/>
            <a:br/>
            <a:r>
              <a:rPr sz="1100"/>
              <a:t>This single flag demonstrates:</a:t>
            </a:r>
            <a:br/>
            <a:r>
              <a:rPr sz="1100"/>
              <a:t>  - OCP: adding ApiStudentRepository required zero changes to StudentService.</a:t>
            </a:r>
            <a:br/>
            <a:r>
              <a:rPr sz="1100"/>
              <a:t>  - DIP: StudentService depends on IStudentRepository, not on either concrete class.</a:t>
            </a:r>
            <a:br/>
            <a:r>
              <a:rPr sz="1100"/>
              <a:t>  - LSP: both implementations are substitutable — StudentService works identically with either.</a:t>
            </a:r>
            <a:br/>
            <a:r>
              <a:rPr sz="1100"/>
              <a:t>  - ISP: each interface (IStudentPrinter, IAverageStrategy, etc.) is focused on one concern.</a:t>
            </a:r>
            <a:br/>
            <a:r>
              <a:rPr sz="1100"/>
              <a:t>  - SRP: each class has one job.</a:t>
            </a:r>
            <a:br/>
            <a:br/>
            <a:r>
              <a:rPr sz="1100"/>
              <a:t>All five SOLID principles, visible in one 5-line block of Program.cs. That's the payoff of this entire course.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457200" y="182880"/>
            <a:ext cx="8229600" cy="100584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OOP C# — Week 7</a:t>
            </a:r>
            <a:endParaRPr lang="en-US" sz="3600" dirty="0"/>
          </a:p>
        </p:txBody>
      </p:sp>
      <p:sp>
        <p:nvSpPr>
          <p:cNvPr id="4" name="Text 2"/>
          <p:cNvSpPr/>
          <p:nvPr/>
        </p:nvSpPr>
        <p:spPr>
          <a:xfrm>
            <a:off x="457200" y="1828800"/>
            <a:ext cx="8229600" cy="640080"/>
          </a:xfrm>
          <a:prstGeom prst="rect">
            <a:avLst/>
          </a:prstGeom>
          <a:noFill/>
          <a:ln/>
        </p:spPr>
        <p:txBody>
          <a:bodyPr wrap="square" lIns="0" tIns="0" rIns="0" bIns="0" rtlCol="0" anchor="ctr"/>
          <a:lstStyle/>
          <a:p>
            <a:pPr marL="0" indent="0">
              <a:buNone/>
            </a:pPr>
            <a:r>
              <a:rPr lang="en-US" sz="2000" dirty="0">
                <a:solidFill>
                  <a:srgbClr val="B2EBF2"/>
                </a:solidFill>
                <a:latin typeface="Calibri" pitchFamily="34" charset="0"/>
                <a:ea typeface="Calibri" pitchFamily="34" charset="-122"/>
                <a:cs typeface="Calibri" pitchFamily="34" charset="-120"/>
              </a:rPr>
              <a:t>Containers: Recap · Dictionary · IEnumerable · LINQ · Generics</a:t>
            </a:r>
            <a:endParaRPr lang="en-US" sz="2000" dirty="0"/>
          </a:p>
        </p:txBody>
      </p:sp>
      <p:sp>
        <p:nvSpPr>
          <p:cNvPr id="5" name="Text 3"/>
          <p:cNvSpPr/>
          <p:nvPr/>
        </p:nvSpPr>
        <p:spPr>
          <a:xfrm>
            <a:off x="457200" y="4480560"/>
            <a:ext cx="8229600" cy="365760"/>
          </a:xfrm>
          <a:prstGeom prst="rect">
            <a:avLst/>
          </a:prstGeom>
          <a:noFill/>
          <a:ln/>
        </p:spPr>
        <p:txBody>
          <a:bodyPr wrap="square" lIns="0" tIns="0" rIns="0" bIns="0" rtlCol="0" anchor="ctr"/>
          <a:lstStyle/>
          <a:p>
            <a:pPr marL="0" indent="0">
              <a:buNone/>
            </a:pPr>
            <a:r>
              <a:rPr lang="en-US" sz="1200" dirty="0">
                <a:solidFill>
                  <a:srgbClr val="78909C"/>
                </a:solidFill>
                <a:latin typeface="Calibri" pitchFamily="34" charset="0"/>
                <a:ea typeface="Calibri" pitchFamily="34" charset="-122"/>
                <a:cs typeface="Calibri" pitchFamily="34" charset="-120"/>
              </a:rPr>
              <a:t>PS OOP C#  |  Kaunas College</a:t>
            </a:r>
            <a:endParaRPr lang="en-US" sz="1200" dirty="0"/>
          </a:p>
        </p:txBody>
      </p:sp>
      <p:sp>
        <p:nvSpPr>
          <p:cNvPr id="6" name="Shape 4"/>
          <p:cNvSpPr/>
          <p:nvPr/>
        </p:nvSpPr>
        <p:spPr>
          <a:xfrm>
            <a:off x="0" y="1463040"/>
            <a:ext cx="9144000" cy="64008"/>
          </a:xfrm>
          <a:prstGeom prst="rect">
            <a:avLst/>
          </a:prstGeom>
          <a:solidFill>
            <a:srgbClr val="1A237E"/>
          </a:solidFill>
          <a:ln w="12700">
            <a:solidFill>
              <a:srgbClr val="1A237E"/>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Today's Agenda</a:t>
            </a:r>
            <a:endParaRPr lang="en-US" sz="2200" dirty="0"/>
          </a:p>
        </p:txBody>
      </p:sp>
      <p:sp>
        <p:nvSpPr>
          <p:cNvPr id="5" name="Shape 3"/>
          <p:cNvSpPr/>
          <p:nvPr/>
        </p:nvSpPr>
        <p:spPr>
          <a:xfrm>
            <a:off x="320040" y="960120"/>
            <a:ext cx="457200" cy="457200"/>
          </a:xfrm>
          <a:prstGeom prst="rect">
            <a:avLst/>
          </a:prstGeom>
          <a:solidFill>
            <a:srgbClr val="0097A7"/>
          </a:solidFill>
          <a:ln w="12700">
            <a:solidFill>
              <a:srgbClr val="0097A7"/>
            </a:solidFill>
            <a:prstDash val="solid"/>
          </a:ln>
        </p:spPr>
        <p:txBody>
          <a:bodyPr/>
          <a:lstStyle/>
          <a:p>
            <a:endParaRPr lang="en-US"/>
          </a:p>
        </p:txBody>
      </p:sp>
      <p:sp>
        <p:nvSpPr>
          <p:cNvPr id="6" name="Text 4"/>
          <p:cNvSpPr/>
          <p:nvPr/>
        </p:nvSpPr>
        <p:spPr>
          <a:xfrm>
            <a:off x="320040" y="978408"/>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14400" y="969264"/>
            <a:ext cx="4572000" cy="256032"/>
          </a:xfrm>
          <a:prstGeom prst="rect">
            <a:avLst/>
          </a:prstGeom>
          <a:noFill/>
          <a:ln/>
        </p:spPr>
        <p:txBody>
          <a:bodyPr wrap="square" lIns="0" tIns="0" rIns="0" bIns="0" rtlCol="0" anchor="ctr"/>
          <a:lstStyle/>
          <a:p>
            <a:pPr marL="0" indent="0" algn="l">
              <a:buNone/>
            </a:pPr>
            <a:r>
              <a:rPr lang="en-US" sz="1500" b="1" dirty="0">
                <a:solidFill>
                  <a:srgbClr val="1A237E"/>
                </a:solidFill>
                <a:latin typeface="Calibri" pitchFamily="34" charset="0"/>
                <a:ea typeface="Calibri" pitchFamily="34" charset="-122"/>
                <a:cs typeface="Calibri" pitchFamily="34" charset="-120"/>
              </a:rPr>
              <a:t>Container Recap</a:t>
            </a:r>
            <a:endParaRPr lang="en-US" sz="1500" dirty="0"/>
          </a:p>
        </p:txBody>
      </p:sp>
      <p:sp>
        <p:nvSpPr>
          <p:cNvPr id="8" name="Text 6"/>
          <p:cNvSpPr/>
          <p:nvPr/>
        </p:nvSpPr>
        <p:spPr>
          <a:xfrm>
            <a:off x="914400" y="1216152"/>
            <a:ext cx="7589520" cy="201168"/>
          </a:xfrm>
          <a:prstGeom prst="rect">
            <a:avLst/>
          </a:prstGeom>
          <a:noFill/>
          <a:ln/>
        </p:spPr>
        <p:txBody>
          <a:bodyPr wrap="square" lIns="0" tIns="0" rIns="0" bIns="0" rtlCol="0" anchor="ctr"/>
          <a:lstStyle/>
          <a:p>
            <a:pPr marL="0" indent="0" algn="l">
              <a:buNone/>
            </a:pPr>
            <a:r>
              <a:rPr lang="en-US" sz="1100" dirty="0">
                <a:solidFill>
                  <a:srgbClr val="78909C"/>
                </a:solidFill>
                <a:latin typeface="Calibri" pitchFamily="34" charset="0"/>
                <a:ea typeface="Calibri" pitchFamily="34" charset="-122"/>
                <a:cs typeface="Calibri" pitchFamily="34" charset="-120"/>
              </a:rPr>
              <a:t>Lab-6 mistakes, ownership, IReadOnlyList</a:t>
            </a:r>
            <a:endParaRPr lang="en-US" sz="1100" dirty="0"/>
          </a:p>
        </p:txBody>
      </p:sp>
      <p:sp>
        <p:nvSpPr>
          <p:cNvPr id="9" name="Shape 7"/>
          <p:cNvSpPr/>
          <p:nvPr/>
        </p:nvSpPr>
        <p:spPr>
          <a:xfrm>
            <a:off x="320040" y="1764792"/>
            <a:ext cx="457200" cy="457200"/>
          </a:xfrm>
          <a:prstGeom prst="rect">
            <a:avLst/>
          </a:prstGeom>
          <a:solidFill>
            <a:srgbClr val="0097A7"/>
          </a:solidFill>
          <a:ln w="12700">
            <a:solidFill>
              <a:srgbClr val="0097A7"/>
            </a:solidFill>
            <a:prstDash val="solid"/>
          </a:ln>
        </p:spPr>
        <p:txBody>
          <a:bodyPr/>
          <a:lstStyle/>
          <a:p>
            <a:endParaRPr lang="en-US"/>
          </a:p>
        </p:txBody>
      </p:sp>
      <p:sp>
        <p:nvSpPr>
          <p:cNvPr id="10" name="Text 8"/>
          <p:cNvSpPr/>
          <p:nvPr/>
        </p:nvSpPr>
        <p:spPr>
          <a:xfrm>
            <a:off x="320040" y="1783080"/>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914400" y="1773936"/>
            <a:ext cx="4572000" cy="256032"/>
          </a:xfrm>
          <a:prstGeom prst="rect">
            <a:avLst/>
          </a:prstGeom>
          <a:noFill/>
          <a:ln/>
        </p:spPr>
        <p:txBody>
          <a:bodyPr wrap="square" lIns="0" tIns="0" rIns="0" bIns="0" rtlCol="0" anchor="ctr"/>
          <a:lstStyle/>
          <a:p>
            <a:pPr marL="0" indent="0" algn="l">
              <a:buNone/>
            </a:pPr>
            <a:r>
              <a:rPr lang="en-US" sz="1500" b="1" dirty="0">
                <a:solidFill>
                  <a:srgbClr val="1A237E"/>
                </a:solidFill>
                <a:latin typeface="Calibri" pitchFamily="34" charset="0"/>
                <a:ea typeface="Calibri" pitchFamily="34" charset="-122"/>
                <a:cs typeface="Calibri" pitchFamily="34" charset="-120"/>
              </a:rPr>
              <a:t>Dictionary&lt;TKey, TValue&gt;</a:t>
            </a:r>
            <a:endParaRPr lang="en-US" sz="1500" dirty="0"/>
          </a:p>
        </p:txBody>
      </p:sp>
      <p:sp>
        <p:nvSpPr>
          <p:cNvPr id="12" name="Text 10"/>
          <p:cNvSpPr/>
          <p:nvPr/>
        </p:nvSpPr>
        <p:spPr>
          <a:xfrm>
            <a:off x="914400" y="2020824"/>
            <a:ext cx="7589520" cy="201168"/>
          </a:xfrm>
          <a:prstGeom prst="rect">
            <a:avLst/>
          </a:prstGeom>
          <a:noFill/>
          <a:ln/>
        </p:spPr>
        <p:txBody>
          <a:bodyPr wrap="square" lIns="0" tIns="0" rIns="0" bIns="0" rtlCol="0" anchor="ctr"/>
          <a:lstStyle/>
          <a:p>
            <a:pPr marL="0" indent="0" algn="l">
              <a:buNone/>
            </a:pPr>
            <a:r>
              <a:rPr lang="en-US" sz="1100" dirty="0">
                <a:solidFill>
                  <a:srgbClr val="78909C"/>
                </a:solidFill>
                <a:latin typeface="Calibri" pitchFamily="34" charset="0"/>
                <a:ea typeface="Calibri" pitchFamily="34" charset="-122"/>
                <a:cs typeface="Calibri" pitchFamily="34" charset="-120"/>
              </a:rPr>
              <a:t>When and why? O(1) vs O(n)</a:t>
            </a:r>
            <a:endParaRPr lang="en-US" sz="1100" dirty="0"/>
          </a:p>
        </p:txBody>
      </p:sp>
      <p:sp>
        <p:nvSpPr>
          <p:cNvPr id="13" name="Shape 11"/>
          <p:cNvSpPr/>
          <p:nvPr/>
        </p:nvSpPr>
        <p:spPr>
          <a:xfrm>
            <a:off x="320040" y="2569464"/>
            <a:ext cx="457200" cy="457200"/>
          </a:xfrm>
          <a:prstGeom prst="rect">
            <a:avLst/>
          </a:prstGeom>
          <a:solidFill>
            <a:srgbClr val="0097A7"/>
          </a:solidFill>
          <a:ln w="12700">
            <a:solidFill>
              <a:srgbClr val="0097A7"/>
            </a:solidFill>
            <a:prstDash val="solid"/>
          </a:ln>
        </p:spPr>
        <p:txBody>
          <a:bodyPr/>
          <a:lstStyle/>
          <a:p>
            <a:endParaRPr lang="en-US"/>
          </a:p>
        </p:txBody>
      </p:sp>
      <p:sp>
        <p:nvSpPr>
          <p:cNvPr id="14" name="Text 12"/>
          <p:cNvSpPr/>
          <p:nvPr/>
        </p:nvSpPr>
        <p:spPr>
          <a:xfrm>
            <a:off x="320040" y="2587752"/>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914400" y="2578608"/>
            <a:ext cx="4572000" cy="256032"/>
          </a:xfrm>
          <a:prstGeom prst="rect">
            <a:avLst/>
          </a:prstGeom>
          <a:noFill/>
          <a:ln/>
        </p:spPr>
        <p:txBody>
          <a:bodyPr wrap="square" lIns="0" tIns="0" rIns="0" bIns="0" rtlCol="0" anchor="ctr"/>
          <a:lstStyle/>
          <a:p>
            <a:pPr marL="0" indent="0" algn="l">
              <a:buNone/>
            </a:pPr>
            <a:r>
              <a:rPr lang="en-US" sz="1500" b="1" dirty="0">
                <a:solidFill>
                  <a:srgbClr val="1A237E"/>
                </a:solidFill>
                <a:latin typeface="Calibri" pitchFamily="34" charset="0"/>
                <a:ea typeface="Calibri" pitchFamily="34" charset="-122"/>
                <a:cs typeface="Calibri" pitchFamily="34" charset="-120"/>
              </a:rPr>
              <a:t>IEnumerable&lt;T&gt;</a:t>
            </a:r>
            <a:endParaRPr lang="en-US" sz="1500" dirty="0"/>
          </a:p>
        </p:txBody>
      </p:sp>
      <p:sp>
        <p:nvSpPr>
          <p:cNvPr id="16" name="Text 14"/>
          <p:cNvSpPr/>
          <p:nvPr/>
        </p:nvSpPr>
        <p:spPr>
          <a:xfrm>
            <a:off x="914400" y="2825496"/>
            <a:ext cx="7589520" cy="201168"/>
          </a:xfrm>
          <a:prstGeom prst="rect">
            <a:avLst/>
          </a:prstGeom>
          <a:noFill/>
          <a:ln/>
        </p:spPr>
        <p:txBody>
          <a:bodyPr wrap="square" lIns="0" tIns="0" rIns="0" bIns="0" rtlCol="0" anchor="ctr"/>
          <a:lstStyle/>
          <a:p>
            <a:pPr marL="0" indent="0" algn="l">
              <a:buNone/>
            </a:pPr>
            <a:r>
              <a:rPr lang="en-US" sz="1100" dirty="0">
                <a:solidFill>
                  <a:srgbClr val="78909C"/>
                </a:solidFill>
                <a:latin typeface="Calibri" pitchFamily="34" charset="0"/>
                <a:ea typeface="Calibri" pitchFamily="34" charset="-122"/>
                <a:cs typeface="Calibri" pitchFamily="34" charset="-120"/>
              </a:rPr>
              <a:t>What does foreach actually do?</a:t>
            </a:r>
            <a:endParaRPr lang="en-US" sz="1100" dirty="0"/>
          </a:p>
        </p:txBody>
      </p:sp>
      <p:sp>
        <p:nvSpPr>
          <p:cNvPr id="17" name="Shape 15"/>
          <p:cNvSpPr/>
          <p:nvPr/>
        </p:nvSpPr>
        <p:spPr>
          <a:xfrm>
            <a:off x="320040" y="3374136"/>
            <a:ext cx="457200" cy="457200"/>
          </a:xfrm>
          <a:prstGeom prst="rect">
            <a:avLst/>
          </a:prstGeom>
          <a:solidFill>
            <a:srgbClr val="0097A7"/>
          </a:solidFill>
          <a:ln w="12700">
            <a:solidFill>
              <a:srgbClr val="0097A7"/>
            </a:solidFill>
            <a:prstDash val="solid"/>
          </a:ln>
        </p:spPr>
        <p:txBody>
          <a:bodyPr/>
          <a:lstStyle/>
          <a:p>
            <a:endParaRPr lang="en-US"/>
          </a:p>
        </p:txBody>
      </p:sp>
      <p:sp>
        <p:nvSpPr>
          <p:cNvPr id="18" name="Text 16"/>
          <p:cNvSpPr/>
          <p:nvPr/>
        </p:nvSpPr>
        <p:spPr>
          <a:xfrm>
            <a:off x="320040" y="3392424"/>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914400" y="3383280"/>
            <a:ext cx="4572000" cy="256032"/>
          </a:xfrm>
          <a:prstGeom prst="rect">
            <a:avLst/>
          </a:prstGeom>
          <a:noFill/>
          <a:ln/>
        </p:spPr>
        <p:txBody>
          <a:bodyPr wrap="square" lIns="0" tIns="0" rIns="0" bIns="0" rtlCol="0" anchor="ctr"/>
          <a:lstStyle/>
          <a:p>
            <a:pPr marL="0" indent="0" algn="l">
              <a:buNone/>
            </a:pPr>
            <a:r>
              <a:rPr lang="en-US" sz="1500" b="1" dirty="0">
                <a:solidFill>
                  <a:srgbClr val="1A237E"/>
                </a:solidFill>
                <a:latin typeface="Calibri" pitchFamily="34" charset="0"/>
                <a:ea typeface="Calibri" pitchFamily="34" charset="-122"/>
                <a:cs typeface="Calibri" pitchFamily="34" charset="-120"/>
              </a:rPr>
              <a:t>LINQ</a:t>
            </a:r>
            <a:endParaRPr lang="en-US" sz="1500" dirty="0"/>
          </a:p>
        </p:txBody>
      </p:sp>
      <p:sp>
        <p:nvSpPr>
          <p:cNvPr id="20" name="Text 18"/>
          <p:cNvSpPr/>
          <p:nvPr/>
        </p:nvSpPr>
        <p:spPr>
          <a:xfrm>
            <a:off x="914400" y="3630168"/>
            <a:ext cx="7589520" cy="201168"/>
          </a:xfrm>
          <a:prstGeom prst="rect">
            <a:avLst/>
          </a:prstGeom>
          <a:noFill/>
          <a:ln/>
        </p:spPr>
        <p:txBody>
          <a:bodyPr wrap="square" lIns="0" tIns="0" rIns="0" bIns="0" rtlCol="0" anchor="ctr"/>
          <a:lstStyle/>
          <a:p>
            <a:pPr marL="0" indent="0" algn="l">
              <a:buNone/>
            </a:pPr>
            <a:r>
              <a:rPr lang="en-US" sz="1100" dirty="0">
                <a:solidFill>
                  <a:srgbClr val="78909C"/>
                </a:solidFill>
                <a:latin typeface="Calibri" pitchFamily="34" charset="0"/>
                <a:ea typeface="Calibri" pitchFamily="34" charset="-122"/>
                <a:cs typeface="Calibri" pitchFamily="34" charset="-120"/>
              </a:rPr>
              <a:t>Pipeline → Where · Select · OrderBy · GroupBy</a:t>
            </a:r>
            <a:endParaRPr lang="en-US" sz="1100" dirty="0"/>
          </a:p>
        </p:txBody>
      </p:sp>
      <p:sp>
        <p:nvSpPr>
          <p:cNvPr id="21" name="Shape 19"/>
          <p:cNvSpPr/>
          <p:nvPr/>
        </p:nvSpPr>
        <p:spPr>
          <a:xfrm>
            <a:off x="320040" y="4178808"/>
            <a:ext cx="457200" cy="457200"/>
          </a:xfrm>
          <a:prstGeom prst="rect">
            <a:avLst/>
          </a:prstGeom>
          <a:solidFill>
            <a:srgbClr val="0097A7"/>
          </a:solidFill>
          <a:ln w="12700">
            <a:solidFill>
              <a:srgbClr val="0097A7"/>
            </a:solidFill>
            <a:prstDash val="solid"/>
          </a:ln>
        </p:spPr>
        <p:txBody>
          <a:bodyPr/>
          <a:lstStyle/>
          <a:p>
            <a:endParaRPr lang="en-US"/>
          </a:p>
        </p:txBody>
      </p:sp>
      <p:sp>
        <p:nvSpPr>
          <p:cNvPr id="22" name="Text 20"/>
          <p:cNvSpPr/>
          <p:nvPr/>
        </p:nvSpPr>
        <p:spPr>
          <a:xfrm>
            <a:off x="320040" y="4197096"/>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914400" y="4187952"/>
            <a:ext cx="4572000" cy="256032"/>
          </a:xfrm>
          <a:prstGeom prst="rect">
            <a:avLst/>
          </a:prstGeom>
          <a:noFill/>
          <a:ln/>
        </p:spPr>
        <p:txBody>
          <a:bodyPr wrap="square" lIns="0" tIns="0" rIns="0" bIns="0" rtlCol="0" anchor="ctr"/>
          <a:lstStyle/>
          <a:p>
            <a:pPr marL="0" indent="0" algn="l">
              <a:buNone/>
            </a:pPr>
            <a:r>
              <a:rPr lang="en-US" sz="1500" b="1" dirty="0">
                <a:solidFill>
                  <a:srgbClr val="1A237E"/>
                </a:solidFill>
                <a:latin typeface="Calibri" pitchFamily="34" charset="0"/>
                <a:ea typeface="Calibri" pitchFamily="34" charset="-122"/>
                <a:cs typeface="Calibri" pitchFamily="34" charset="-120"/>
              </a:rPr>
              <a:t>Generics &amp; IRepository&lt;T&gt;</a:t>
            </a:r>
            <a:endParaRPr lang="en-US" sz="1500" dirty="0"/>
          </a:p>
        </p:txBody>
      </p:sp>
      <p:sp>
        <p:nvSpPr>
          <p:cNvPr id="24" name="Text 22"/>
          <p:cNvSpPr/>
          <p:nvPr/>
        </p:nvSpPr>
        <p:spPr>
          <a:xfrm>
            <a:off x="914400" y="4434840"/>
            <a:ext cx="7589520" cy="201168"/>
          </a:xfrm>
          <a:prstGeom prst="rect">
            <a:avLst/>
          </a:prstGeom>
          <a:noFill/>
          <a:ln/>
        </p:spPr>
        <p:txBody>
          <a:bodyPr wrap="square" lIns="0" tIns="0" rIns="0" bIns="0" rtlCol="0" anchor="ctr"/>
          <a:lstStyle/>
          <a:p>
            <a:pPr marL="0" indent="0" algn="l">
              <a:buNone/>
            </a:pPr>
            <a:r>
              <a:rPr lang="en-US" sz="1100" dirty="0">
                <a:solidFill>
                  <a:srgbClr val="78909C"/>
                </a:solidFill>
                <a:latin typeface="Calibri" pitchFamily="34" charset="0"/>
                <a:ea typeface="Calibri" pitchFamily="34" charset="-122"/>
                <a:cs typeface="Calibri" pitchFamily="34" charset="-120"/>
              </a:rPr>
              <a:t>Universal repository – DRY + OCP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37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365760" y="1920240"/>
            <a:ext cx="8503920" cy="128016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1. Container Recap</a:t>
            </a:r>
            <a:endParaRPr lang="en-US" sz="4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Who Owns the Container?</a:t>
            </a:r>
            <a:endParaRPr lang="en-US" sz="2200" dirty="0"/>
          </a:p>
        </p:txBody>
      </p:sp>
      <p:sp>
        <p:nvSpPr>
          <p:cNvPr id="5" name="Shape 3"/>
          <p:cNvSpPr/>
          <p:nvPr/>
        </p:nvSpPr>
        <p:spPr>
          <a:xfrm>
            <a:off x="365760" y="1188720"/>
            <a:ext cx="1828800" cy="640080"/>
          </a:xfrm>
          <a:prstGeom prst="rect">
            <a:avLst/>
          </a:prstGeom>
          <a:solidFill>
            <a:srgbClr val="283593"/>
          </a:solidFill>
          <a:ln w="12700">
            <a:solidFill>
              <a:srgbClr val="283593"/>
            </a:solidFill>
            <a:prstDash val="solid"/>
          </a:ln>
        </p:spPr>
        <p:txBody>
          <a:bodyPr/>
          <a:lstStyle/>
          <a:p>
            <a:endParaRPr lang="en-US"/>
          </a:p>
        </p:txBody>
      </p:sp>
      <p:sp>
        <p:nvSpPr>
          <p:cNvPr id="6" name="Text 4"/>
          <p:cNvSpPr/>
          <p:nvPr/>
        </p:nvSpPr>
        <p:spPr>
          <a:xfrm>
            <a:off x="411480" y="1216152"/>
            <a:ext cx="1737360" cy="58521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Program.cs</a:t>
            </a:r>
            <a:endParaRPr lang="en-US" sz="1200" dirty="0"/>
          </a:p>
        </p:txBody>
      </p:sp>
      <p:sp>
        <p:nvSpPr>
          <p:cNvPr id="7" name="Shape 5"/>
          <p:cNvSpPr/>
          <p:nvPr/>
        </p:nvSpPr>
        <p:spPr>
          <a:xfrm>
            <a:off x="2194560" y="1508760"/>
            <a:ext cx="548640" cy="0"/>
          </a:xfrm>
          <a:prstGeom prst="line">
            <a:avLst/>
          </a:prstGeom>
          <a:noFill/>
          <a:ln w="38100">
            <a:solidFill>
              <a:srgbClr val="0097A7"/>
            </a:solidFill>
            <a:prstDash val="solid"/>
          </a:ln>
        </p:spPr>
        <p:txBody>
          <a:bodyPr/>
          <a:lstStyle/>
          <a:p>
            <a:endParaRPr lang="en-US"/>
          </a:p>
        </p:txBody>
      </p:sp>
      <p:sp>
        <p:nvSpPr>
          <p:cNvPr id="8" name="Text 6"/>
          <p:cNvSpPr/>
          <p:nvPr/>
        </p:nvSpPr>
        <p:spPr>
          <a:xfrm>
            <a:off x="2194560" y="1417320"/>
            <a:ext cx="548640" cy="274320"/>
          </a:xfrm>
          <a:prstGeom prst="rect">
            <a:avLst/>
          </a:prstGeom>
          <a:noFill/>
          <a:ln/>
        </p:spPr>
        <p:txBody>
          <a:bodyPr wrap="square" lIns="0" tIns="0" rIns="0" bIns="0" rtlCol="0" anchor="ctr"/>
          <a:lstStyle/>
          <a:p>
            <a:pPr marL="0" indent="0" algn="ctr">
              <a:buNone/>
            </a:pPr>
            <a:r>
              <a:rPr lang="en-US" sz="1400" dirty="0">
                <a:solidFill>
                  <a:srgbClr val="0097A7"/>
                </a:solidFill>
              </a:rPr>
              <a:t>→</a:t>
            </a:r>
            <a:endParaRPr lang="en-US" sz="1400" dirty="0"/>
          </a:p>
        </p:txBody>
      </p:sp>
      <p:sp>
        <p:nvSpPr>
          <p:cNvPr id="9" name="Shape 7"/>
          <p:cNvSpPr/>
          <p:nvPr/>
        </p:nvSpPr>
        <p:spPr>
          <a:xfrm>
            <a:off x="2377440" y="1188720"/>
            <a:ext cx="1828800" cy="640080"/>
          </a:xfrm>
          <a:prstGeom prst="rect">
            <a:avLst/>
          </a:prstGeom>
          <a:solidFill>
            <a:srgbClr val="283593"/>
          </a:solidFill>
          <a:ln w="12700">
            <a:solidFill>
              <a:srgbClr val="283593"/>
            </a:solidFill>
            <a:prstDash val="solid"/>
          </a:ln>
        </p:spPr>
        <p:txBody>
          <a:bodyPr/>
          <a:lstStyle/>
          <a:p>
            <a:endParaRPr lang="en-US"/>
          </a:p>
        </p:txBody>
      </p:sp>
      <p:sp>
        <p:nvSpPr>
          <p:cNvPr id="10" name="Text 8"/>
          <p:cNvSpPr/>
          <p:nvPr/>
        </p:nvSpPr>
        <p:spPr>
          <a:xfrm>
            <a:off x="2423160" y="1216152"/>
            <a:ext cx="1737360" cy="58521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StudentService</a:t>
            </a:r>
            <a:endParaRPr lang="en-US" sz="1200" dirty="0"/>
          </a:p>
        </p:txBody>
      </p:sp>
      <p:sp>
        <p:nvSpPr>
          <p:cNvPr id="11" name="Shape 9"/>
          <p:cNvSpPr/>
          <p:nvPr/>
        </p:nvSpPr>
        <p:spPr>
          <a:xfrm>
            <a:off x="4206240" y="1508760"/>
            <a:ext cx="548640" cy="0"/>
          </a:xfrm>
          <a:prstGeom prst="line">
            <a:avLst/>
          </a:prstGeom>
          <a:noFill/>
          <a:ln w="38100">
            <a:solidFill>
              <a:srgbClr val="0097A7"/>
            </a:solidFill>
            <a:prstDash val="solid"/>
          </a:ln>
        </p:spPr>
        <p:txBody>
          <a:bodyPr/>
          <a:lstStyle/>
          <a:p>
            <a:endParaRPr lang="en-US"/>
          </a:p>
        </p:txBody>
      </p:sp>
      <p:sp>
        <p:nvSpPr>
          <p:cNvPr id="12" name="Text 10"/>
          <p:cNvSpPr/>
          <p:nvPr/>
        </p:nvSpPr>
        <p:spPr>
          <a:xfrm>
            <a:off x="4206240" y="1417320"/>
            <a:ext cx="548640" cy="274320"/>
          </a:xfrm>
          <a:prstGeom prst="rect">
            <a:avLst/>
          </a:prstGeom>
          <a:noFill/>
          <a:ln/>
        </p:spPr>
        <p:txBody>
          <a:bodyPr wrap="square" lIns="0" tIns="0" rIns="0" bIns="0" rtlCol="0" anchor="ctr"/>
          <a:lstStyle/>
          <a:p>
            <a:pPr marL="0" indent="0" algn="ctr">
              <a:buNone/>
            </a:pPr>
            <a:r>
              <a:rPr lang="en-US" sz="1400" dirty="0">
                <a:solidFill>
                  <a:srgbClr val="0097A7"/>
                </a:solidFill>
              </a:rPr>
              <a:t>→</a:t>
            </a:r>
            <a:endParaRPr lang="en-US" sz="1400" dirty="0"/>
          </a:p>
        </p:txBody>
      </p:sp>
      <p:sp>
        <p:nvSpPr>
          <p:cNvPr id="13" name="Shape 11"/>
          <p:cNvSpPr/>
          <p:nvPr/>
        </p:nvSpPr>
        <p:spPr>
          <a:xfrm>
            <a:off x="4389120" y="1188720"/>
            <a:ext cx="1828800" cy="640080"/>
          </a:xfrm>
          <a:prstGeom prst="rect">
            <a:avLst/>
          </a:prstGeom>
          <a:solidFill>
            <a:srgbClr val="283593"/>
          </a:solidFill>
          <a:ln w="12700">
            <a:solidFill>
              <a:srgbClr val="283593"/>
            </a:solidFill>
            <a:prstDash val="solid"/>
          </a:ln>
        </p:spPr>
        <p:txBody>
          <a:bodyPr/>
          <a:lstStyle/>
          <a:p>
            <a:endParaRPr lang="en-US"/>
          </a:p>
        </p:txBody>
      </p:sp>
      <p:sp>
        <p:nvSpPr>
          <p:cNvPr id="14" name="Text 12"/>
          <p:cNvSpPr/>
          <p:nvPr/>
        </p:nvSpPr>
        <p:spPr>
          <a:xfrm>
            <a:off x="4434840" y="1216152"/>
            <a:ext cx="1737360" cy="58521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StudentRepository</a:t>
            </a:r>
            <a:endParaRPr lang="en-US" sz="1200" dirty="0"/>
          </a:p>
        </p:txBody>
      </p:sp>
      <p:sp>
        <p:nvSpPr>
          <p:cNvPr id="15" name="Shape 13"/>
          <p:cNvSpPr/>
          <p:nvPr/>
        </p:nvSpPr>
        <p:spPr>
          <a:xfrm>
            <a:off x="6217920" y="1508760"/>
            <a:ext cx="548640" cy="0"/>
          </a:xfrm>
          <a:prstGeom prst="line">
            <a:avLst/>
          </a:prstGeom>
          <a:noFill/>
          <a:ln w="38100">
            <a:solidFill>
              <a:srgbClr val="0097A7"/>
            </a:solidFill>
            <a:prstDash val="solid"/>
          </a:ln>
        </p:spPr>
        <p:txBody>
          <a:bodyPr/>
          <a:lstStyle/>
          <a:p>
            <a:endParaRPr lang="en-US"/>
          </a:p>
        </p:txBody>
      </p:sp>
      <p:sp>
        <p:nvSpPr>
          <p:cNvPr id="16" name="Text 14"/>
          <p:cNvSpPr/>
          <p:nvPr/>
        </p:nvSpPr>
        <p:spPr>
          <a:xfrm>
            <a:off x="6217920" y="1417320"/>
            <a:ext cx="548640" cy="274320"/>
          </a:xfrm>
          <a:prstGeom prst="rect">
            <a:avLst/>
          </a:prstGeom>
          <a:noFill/>
          <a:ln/>
        </p:spPr>
        <p:txBody>
          <a:bodyPr wrap="square" lIns="0" tIns="0" rIns="0" bIns="0" rtlCol="0" anchor="ctr"/>
          <a:lstStyle/>
          <a:p>
            <a:pPr marL="0" indent="0" algn="ctr">
              <a:buNone/>
            </a:pPr>
            <a:r>
              <a:rPr lang="en-US" sz="1400" dirty="0">
                <a:solidFill>
                  <a:srgbClr val="0097A7"/>
                </a:solidFill>
              </a:rPr>
              <a:t>→</a:t>
            </a:r>
            <a:endParaRPr lang="en-US" sz="1400" dirty="0"/>
          </a:p>
        </p:txBody>
      </p:sp>
      <p:sp>
        <p:nvSpPr>
          <p:cNvPr id="17" name="Shape 15"/>
          <p:cNvSpPr/>
          <p:nvPr/>
        </p:nvSpPr>
        <p:spPr>
          <a:xfrm>
            <a:off x="6492240" y="1188720"/>
            <a:ext cx="1828800" cy="640080"/>
          </a:xfrm>
          <a:prstGeom prst="rect">
            <a:avLst/>
          </a:prstGeom>
          <a:solidFill>
            <a:srgbClr val="0097A7"/>
          </a:solidFill>
          <a:ln w="12700">
            <a:solidFill>
              <a:srgbClr val="0097A7"/>
            </a:solidFill>
            <a:prstDash val="solid"/>
          </a:ln>
        </p:spPr>
        <p:txBody>
          <a:bodyPr/>
          <a:lstStyle/>
          <a:p>
            <a:endParaRPr lang="en-US"/>
          </a:p>
        </p:txBody>
      </p:sp>
      <p:sp>
        <p:nvSpPr>
          <p:cNvPr id="18" name="Text 16"/>
          <p:cNvSpPr/>
          <p:nvPr/>
        </p:nvSpPr>
        <p:spPr>
          <a:xfrm>
            <a:off x="6537960" y="1216152"/>
            <a:ext cx="1737360" cy="585216"/>
          </a:xfrm>
          <a:prstGeom prst="rect">
            <a:avLst/>
          </a:prstGeom>
          <a:noFill/>
          <a:ln/>
        </p:spPr>
        <p:txBody>
          <a:bodyPr wrap="square" lIns="0" tIns="0" rIns="0" bIns="0" rtlCol="0" anchor="ctr"/>
          <a:lstStyle/>
          <a:p>
            <a:pPr marL="0" indent="0" algn="ctr">
              <a:buNone/>
            </a:pPr>
            <a:r>
              <a:rPr lang="en-US" sz="1000" b="1" dirty="0">
                <a:solidFill>
                  <a:srgbClr val="1A237E"/>
                </a:solidFill>
                <a:latin typeface="Calibri" pitchFamily="34" charset="0"/>
                <a:ea typeface="Calibri" pitchFamily="34" charset="-122"/>
                <a:cs typeface="Calibri" pitchFamily="34" charset="-120"/>
              </a:rPr>
              <a:t>private List&lt;Student&gt;</a:t>
            </a:r>
            <a:endParaRPr lang="en-US" sz="1000" dirty="0"/>
          </a:p>
        </p:txBody>
      </p:sp>
      <p:sp>
        <p:nvSpPr>
          <p:cNvPr id="19" name="Text 17"/>
          <p:cNvSpPr/>
          <p:nvPr/>
        </p:nvSpPr>
        <p:spPr>
          <a:xfrm>
            <a:off x="365760" y="2103120"/>
            <a:ext cx="8412480" cy="640080"/>
          </a:xfrm>
          <a:prstGeom prst="rect">
            <a:avLst/>
          </a:prstGeom>
          <a:noFill/>
          <a:ln/>
        </p:spPr>
        <p:txBody>
          <a:bodyPr wrap="square" lIns="0" tIns="0" rIns="0" bIns="0" rtlCol="0" anchor="ctr"/>
          <a:lstStyle/>
          <a:p>
            <a:pPr marL="0" indent="0">
              <a:buNone/>
            </a:pPr>
            <a:r>
              <a:rPr lang="en-US" sz="1500" dirty="0">
                <a:solidFill>
                  <a:srgbClr val="37474F"/>
                </a:solidFill>
                <a:latin typeface="Calibri" pitchFamily="34" charset="0"/>
                <a:ea typeface="Calibri" pitchFamily="34" charset="-122"/>
                <a:cs typeface="Calibri" pitchFamily="34" charset="-120"/>
              </a:rPr>
              <a:t>Only the Repository has direct access to the list!</a:t>
            </a:r>
            <a:endParaRPr lang="en-US" sz="1500" dirty="0"/>
          </a:p>
          <a:p>
            <a:pPr marL="0" indent="0">
              <a:buNone/>
            </a:pPr>
            <a:r>
              <a:rPr lang="en-US" sz="1500" dirty="0">
                <a:solidFill>
                  <a:srgbClr val="37474F"/>
                </a:solidFill>
                <a:latin typeface="Calibri" pitchFamily="34" charset="0"/>
                <a:ea typeface="Calibri" pitchFamily="34" charset="-122"/>
                <a:cs typeface="Calibri" pitchFamily="34" charset="-120"/>
              </a:rPr>
              <a:t>Service and Program use methods only.</a:t>
            </a:r>
            <a:endParaRPr lang="en-US" sz="1500" dirty="0"/>
          </a:p>
        </p:txBody>
      </p:sp>
      <p:sp>
        <p:nvSpPr>
          <p:cNvPr id="20" name="Shape 18"/>
          <p:cNvSpPr/>
          <p:nvPr/>
        </p:nvSpPr>
        <p:spPr>
          <a:xfrm>
            <a:off x="365760" y="2926080"/>
            <a:ext cx="54864" cy="457200"/>
          </a:xfrm>
          <a:prstGeom prst="rect">
            <a:avLst/>
          </a:prstGeom>
          <a:solidFill>
            <a:srgbClr val="0097A7"/>
          </a:solidFill>
          <a:ln w="12700">
            <a:solidFill>
              <a:srgbClr val="0097A7"/>
            </a:solidFill>
            <a:prstDash val="solid"/>
          </a:ln>
        </p:spPr>
        <p:txBody>
          <a:bodyPr/>
          <a:lstStyle/>
          <a:p>
            <a:endParaRPr lang="en-US"/>
          </a:p>
        </p:txBody>
      </p:sp>
      <p:sp>
        <p:nvSpPr>
          <p:cNvPr id="21" name="Text 19"/>
          <p:cNvSpPr/>
          <p:nvPr/>
        </p:nvSpPr>
        <p:spPr>
          <a:xfrm>
            <a:off x="548640" y="2944368"/>
            <a:ext cx="5029200" cy="237744"/>
          </a:xfrm>
          <a:prstGeom prst="rect">
            <a:avLst/>
          </a:prstGeom>
          <a:noFill/>
          <a:ln/>
        </p:spPr>
        <p:txBody>
          <a:bodyPr wrap="square" lIns="0" tIns="0" rIns="0" bIns="0" rtlCol="0" anchor="ctr"/>
          <a:lstStyle/>
          <a:p>
            <a:pPr marL="0" indent="0">
              <a:buNone/>
            </a:pPr>
            <a:r>
              <a:rPr lang="en-US" sz="1100" dirty="0">
                <a:solidFill>
                  <a:srgbClr val="1A237E"/>
                </a:solidFill>
                <a:latin typeface="Courier New" pitchFamily="34" charset="0"/>
                <a:ea typeface="Courier New" pitchFamily="34" charset="-122"/>
                <a:cs typeface="Courier New" pitchFamily="34" charset="-120"/>
              </a:rPr>
              <a:t>private List&lt;Student&gt; _students = new();</a:t>
            </a:r>
            <a:endParaRPr lang="en-US" sz="1100" dirty="0"/>
          </a:p>
        </p:txBody>
      </p:sp>
      <p:sp>
        <p:nvSpPr>
          <p:cNvPr id="22" name="Text 20"/>
          <p:cNvSpPr/>
          <p:nvPr/>
        </p:nvSpPr>
        <p:spPr>
          <a:xfrm>
            <a:off x="548640" y="3163824"/>
            <a:ext cx="8229600" cy="201168"/>
          </a:xfrm>
          <a:prstGeom prst="rect">
            <a:avLst/>
          </a:prstGeom>
          <a:noFill/>
          <a:ln/>
        </p:spPr>
        <p:txBody>
          <a:bodyPr wrap="square" lIns="0" tIns="0" rIns="0" bIns="0" rtlCol="0" anchor="ctr"/>
          <a:lstStyle/>
          <a:p>
            <a:pPr marL="0" indent="0">
              <a:buNone/>
            </a:pPr>
            <a:r>
              <a:rPr lang="en-US" sz="1100" dirty="0">
                <a:solidFill>
                  <a:srgbClr val="78909C"/>
                </a:solidFill>
                <a:latin typeface="Calibri" pitchFamily="34" charset="0"/>
                <a:ea typeface="Calibri" pitchFamily="34" charset="-122"/>
                <a:cs typeface="Calibri" pitchFamily="34" charset="-120"/>
              </a:rPr>
              <a:t>List is a private field</a:t>
            </a:r>
            <a:endParaRPr lang="en-US" sz="1100" dirty="0"/>
          </a:p>
        </p:txBody>
      </p:sp>
      <p:sp>
        <p:nvSpPr>
          <p:cNvPr id="23" name="Shape 21"/>
          <p:cNvSpPr/>
          <p:nvPr/>
        </p:nvSpPr>
        <p:spPr>
          <a:xfrm>
            <a:off x="365760" y="3520440"/>
            <a:ext cx="54864" cy="457200"/>
          </a:xfrm>
          <a:prstGeom prst="rect">
            <a:avLst/>
          </a:prstGeom>
          <a:solidFill>
            <a:srgbClr val="0097A7"/>
          </a:solidFill>
          <a:ln w="12700">
            <a:solidFill>
              <a:srgbClr val="0097A7"/>
            </a:solidFill>
            <a:prstDash val="solid"/>
          </a:ln>
        </p:spPr>
        <p:txBody>
          <a:bodyPr/>
          <a:lstStyle/>
          <a:p>
            <a:endParaRPr lang="en-US"/>
          </a:p>
        </p:txBody>
      </p:sp>
      <p:sp>
        <p:nvSpPr>
          <p:cNvPr id="24" name="Text 22"/>
          <p:cNvSpPr/>
          <p:nvPr/>
        </p:nvSpPr>
        <p:spPr>
          <a:xfrm>
            <a:off x="548640" y="3538728"/>
            <a:ext cx="5029200" cy="237744"/>
          </a:xfrm>
          <a:prstGeom prst="rect">
            <a:avLst/>
          </a:prstGeom>
          <a:noFill/>
          <a:ln/>
        </p:spPr>
        <p:txBody>
          <a:bodyPr wrap="square" lIns="0" tIns="0" rIns="0" bIns="0" rtlCol="0" anchor="ctr"/>
          <a:lstStyle/>
          <a:p>
            <a:pPr marL="0" indent="0">
              <a:buNone/>
            </a:pPr>
            <a:r>
              <a:rPr lang="en-US" sz="1100" dirty="0">
                <a:solidFill>
                  <a:srgbClr val="1A237E"/>
                </a:solidFill>
                <a:latin typeface="Courier New" pitchFamily="34" charset="0"/>
                <a:ea typeface="Courier New" pitchFamily="34" charset="-122"/>
                <a:cs typeface="Courier New" pitchFamily="34" charset="-120"/>
              </a:rPr>
              <a:t>IReadOnlyList&lt;Student&gt; GetAll()</a:t>
            </a:r>
            <a:endParaRPr lang="en-US" sz="1100" dirty="0"/>
          </a:p>
        </p:txBody>
      </p:sp>
      <p:sp>
        <p:nvSpPr>
          <p:cNvPr id="25" name="Text 23"/>
          <p:cNvSpPr/>
          <p:nvPr/>
        </p:nvSpPr>
        <p:spPr>
          <a:xfrm>
            <a:off x="548640" y="3758184"/>
            <a:ext cx="8229600" cy="201168"/>
          </a:xfrm>
          <a:prstGeom prst="rect">
            <a:avLst/>
          </a:prstGeom>
          <a:noFill/>
          <a:ln/>
        </p:spPr>
        <p:txBody>
          <a:bodyPr wrap="square" lIns="0" tIns="0" rIns="0" bIns="0" rtlCol="0" anchor="ctr"/>
          <a:lstStyle/>
          <a:p>
            <a:pPr marL="0" indent="0">
              <a:buNone/>
            </a:pPr>
            <a:r>
              <a:rPr lang="en-US" sz="1100" dirty="0">
                <a:solidFill>
                  <a:srgbClr val="78909C"/>
                </a:solidFill>
                <a:latin typeface="Calibri" pitchFamily="34" charset="0"/>
                <a:ea typeface="Calibri" pitchFamily="34" charset="-122"/>
                <a:cs typeface="Calibri" pitchFamily="34" charset="-120"/>
              </a:rPr>
              <a:t>Return IReadOnlyList, not List!</a:t>
            </a:r>
            <a:endParaRPr lang="en-US" sz="1100" dirty="0"/>
          </a:p>
        </p:txBody>
      </p:sp>
      <p:sp>
        <p:nvSpPr>
          <p:cNvPr id="26" name="Shape 24"/>
          <p:cNvSpPr/>
          <p:nvPr/>
        </p:nvSpPr>
        <p:spPr>
          <a:xfrm>
            <a:off x="365760" y="4114800"/>
            <a:ext cx="54864" cy="457200"/>
          </a:xfrm>
          <a:prstGeom prst="rect">
            <a:avLst/>
          </a:prstGeom>
          <a:solidFill>
            <a:srgbClr val="0097A7"/>
          </a:solidFill>
          <a:ln w="12700">
            <a:solidFill>
              <a:srgbClr val="0097A7"/>
            </a:solidFill>
            <a:prstDash val="solid"/>
          </a:ln>
        </p:spPr>
        <p:txBody>
          <a:bodyPr/>
          <a:lstStyle/>
          <a:p>
            <a:endParaRPr lang="en-US"/>
          </a:p>
        </p:txBody>
      </p:sp>
      <p:sp>
        <p:nvSpPr>
          <p:cNvPr id="27" name="Text 25"/>
          <p:cNvSpPr/>
          <p:nvPr/>
        </p:nvSpPr>
        <p:spPr>
          <a:xfrm>
            <a:off x="548640" y="4133088"/>
            <a:ext cx="5029200" cy="237744"/>
          </a:xfrm>
          <a:prstGeom prst="rect">
            <a:avLst/>
          </a:prstGeom>
          <a:noFill/>
          <a:ln/>
        </p:spPr>
        <p:txBody>
          <a:bodyPr wrap="square" lIns="0" tIns="0" rIns="0" bIns="0" rtlCol="0" anchor="ctr"/>
          <a:lstStyle/>
          <a:p>
            <a:pPr marL="0" indent="0">
              <a:buNone/>
            </a:pPr>
            <a:r>
              <a:rPr lang="en-US" sz="1100" dirty="0">
                <a:solidFill>
                  <a:srgbClr val="1A237E"/>
                </a:solidFill>
                <a:latin typeface="Courier New" pitchFamily="34" charset="0"/>
                <a:ea typeface="Courier New" pitchFamily="34" charset="-122"/>
                <a:cs typeface="Courier New" pitchFamily="34" charset="-120"/>
              </a:rPr>
              <a:t>void Add(Student s)</a:t>
            </a:r>
            <a:endParaRPr lang="en-US" sz="1100" dirty="0"/>
          </a:p>
        </p:txBody>
      </p:sp>
      <p:sp>
        <p:nvSpPr>
          <p:cNvPr id="28" name="Text 26"/>
          <p:cNvSpPr/>
          <p:nvPr/>
        </p:nvSpPr>
        <p:spPr>
          <a:xfrm>
            <a:off x="548640" y="4352544"/>
            <a:ext cx="8229600" cy="201168"/>
          </a:xfrm>
          <a:prstGeom prst="rect">
            <a:avLst/>
          </a:prstGeom>
          <a:noFill/>
          <a:ln/>
        </p:spPr>
        <p:txBody>
          <a:bodyPr wrap="square" lIns="0" tIns="0" rIns="0" bIns="0" rtlCol="0" anchor="ctr"/>
          <a:lstStyle/>
          <a:p>
            <a:pPr marL="0" indent="0">
              <a:buNone/>
            </a:pPr>
            <a:r>
              <a:rPr lang="en-US" sz="1100" dirty="0">
                <a:solidFill>
                  <a:srgbClr val="78909C"/>
                </a:solidFill>
                <a:latin typeface="Calibri" pitchFamily="34" charset="0"/>
                <a:ea typeface="Calibri" pitchFamily="34" charset="-122"/>
                <a:cs typeface="Calibri" pitchFamily="34" charset="-120"/>
              </a:rPr>
              <a:t>Access only through methods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IReadOnlyList&lt;T&gt;  vs  List&lt;T&gt;</a:t>
            </a:r>
            <a:endParaRPr lang="en-US" sz="2200" dirty="0"/>
          </a:p>
        </p:txBody>
      </p:sp>
      <p:sp>
        <p:nvSpPr>
          <p:cNvPr id="5" name="Shape 3"/>
          <p:cNvSpPr/>
          <p:nvPr/>
        </p:nvSpPr>
        <p:spPr>
          <a:xfrm>
            <a:off x="274320" y="1005840"/>
            <a:ext cx="3931920" cy="1920240"/>
          </a:xfrm>
          <a:prstGeom prst="rect">
            <a:avLst/>
          </a:prstGeom>
          <a:solidFill>
            <a:srgbClr val="FFEBEE"/>
          </a:solidFill>
          <a:ln w="12700">
            <a:solidFill>
              <a:srgbClr val="C62828"/>
            </a:solidFill>
            <a:prstDash val="solid"/>
          </a:ln>
        </p:spPr>
        <p:txBody>
          <a:bodyPr/>
          <a:lstStyle/>
          <a:p>
            <a:endParaRPr lang="en-US"/>
          </a:p>
        </p:txBody>
      </p:sp>
      <p:sp>
        <p:nvSpPr>
          <p:cNvPr id="6" name="Text 4"/>
          <p:cNvSpPr/>
          <p:nvPr/>
        </p:nvSpPr>
        <p:spPr>
          <a:xfrm>
            <a:off x="365760" y="1051560"/>
            <a:ext cx="3749040" cy="347472"/>
          </a:xfrm>
          <a:prstGeom prst="rect">
            <a:avLst/>
          </a:prstGeom>
          <a:noFill/>
          <a:ln/>
        </p:spPr>
        <p:txBody>
          <a:bodyPr wrap="square" lIns="0" tIns="0" rIns="0" bIns="0" rtlCol="0" anchor="ctr"/>
          <a:lstStyle/>
          <a:p>
            <a:pPr marL="0" indent="0">
              <a:buNone/>
            </a:pPr>
            <a:r>
              <a:rPr lang="en-US" sz="1400" b="1" dirty="0">
                <a:solidFill>
                  <a:srgbClr val="B71C1C"/>
                </a:solidFill>
                <a:latin typeface="Calibri" pitchFamily="34" charset="0"/>
                <a:ea typeface="Calibri" pitchFamily="34" charset="-122"/>
                <a:cs typeface="Calibri" pitchFamily="34" charset="-120"/>
              </a:rPr>
              <a:t>❌  BAD</a:t>
            </a:r>
            <a:endParaRPr lang="en-US" sz="1400" dirty="0"/>
          </a:p>
        </p:txBody>
      </p:sp>
      <p:sp>
        <p:nvSpPr>
          <p:cNvPr id="7" name="Text 5"/>
          <p:cNvSpPr/>
          <p:nvPr/>
        </p:nvSpPr>
        <p:spPr>
          <a:xfrm>
            <a:off x="411480" y="1417320"/>
            <a:ext cx="3657600" cy="777240"/>
          </a:xfrm>
          <a:prstGeom prst="rect">
            <a:avLst/>
          </a:prstGeom>
          <a:noFill/>
          <a:ln/>
        </p:spPr>
        <p:txBody>
          <a:bodyPr wrap="square" lIns="0" tIns="0" rIns="0" bIns="0" rtlCol="0" anchor="ctr"/>
          <a:lstStyle/>
          <a:p>
            <a:pPr marL="0" indent="0">
              <a:buNone/>
            </a:pPr>
            <a:r>
              <a:rPr lang="en-US" sz="1100" dirty="0">
                <a:solidFill>
                  <a:srgbClr val="1E2A3A"/>
                </a:solidFill>
                <a:latin typeface="Courier New" pitchFamily="34" charset="0"/>
                <a:ea typeface="Courier New" pitchFamily="34" charset="-122"/>
                <a:cs typeface="Courier New" pitchFamily="34" charset="-120"/>
              </a:rPr>
              <a:t>public List&lt;Student&gt; GetAll()</a:t>
            </a:r>
            <a:endParaRPr lang="en-US" sz="1100" dirty="0"/>
          </a:p>
          <a:p>
            <a:pPr marL="0" indent="0">
              <a:buNone/>
            </a:pPr>
            <a:r>
              <a:rPr lang="en-US" sz="1100" dirty="0">
                <a:solidFill>
                  <a:srgbClr val="1E2A3A"/>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1E2A3A"/>
                </a:solidFill>
                <a:latin typeface="Courier New" pitchFamily="34" charset="0"/>
                <a:ea typeface="Courier New" pitchFamily="34" charset="-122"/>
                <a:cs typeface="Courier New" pitchFamily="34" charset="-120"/>
              </a:rPr>
              <a:t>    return _students;</a:t>
            </a:r>
            <a:endParaRPr lang="en-US" sz="1100" dirty="0"/>
          </a:p>
          <a:p>
            <a:pPr marL="0" indent="0">
              <a:buNone/>
            </a:pPr>
            <a:r>
              <a:rPr lang="en-US" sz="1100" dirty="0">
                <a:solidFill>
                  <a:srgbClr val="1E2A3A"/>
                </a:solidFill>
                <a:latin typeface="Courier New" pitchFamily="34" charset="0"/>
                <a:ea typeface="Courier New" pitchFamily="34" charset="-122"/>
                <a:cs typeface="Courier New" pitchFamily="34" charset="-120"/>
              </a:rPr>
              <a:t>}</a:t>
            </a:r>
            <a:endParaRPr lang="en-US" sz="1100" dirty="0"/>
          </a:p>
        </p:txBody>
      </p:sp>
      <p:sp>
        <p:nvSpPr>
          <p:cNvPr id="8" name="Text 6"/>
          <p:cNvSpPr/>
          <p:nvPr/>
        </p:nvSpPr>
        <p:spPr>
          <a:xfrm>
            <a:off x="411480" y="2194560"/>
            <a:ext cx="3657600" cy="640080"/>
          </a:xfrm>
          <a:prstGeom prst="rect">
            <a:avLst/>
          </a:prstGeom>
          <a:noFill/>
          <a:ln/>
        </p:spPr>
        <p:txBody>
          <a:bodyPr wrap="square" lIns="0" tIns="0" rIns="0" bIns="0" rtlCol="0" anchor="ctr"/>
          <a:lstStyle/>
          <a:p>
            <a:pPr marL="0" indent="0">
              <a:buNone/>
            </a:pPr>
            <a:r>
              <a:rPr lang="en-US" sz="1050" dirty="0">
                <a:solidFill>
                  <a:srgbClr val="B71C1C"/>
                </a:solidFill>
                <a:latin typeface="Courier New" pitchFamily="34" charset="0"/>
                <a:ea typeface="Courier New" pitchFamily="34" charset="-122"/>
                <a:cs typeface="Courier New" pitchFamily="34" charset="-120"/>
              </a:rPr>
              <a:t>Caller can do:</a:t>
            </a:r>
            <a:endParaRPr lang="en-US" sz="1050" dirty="0"/>
          </a:p>
          <a:p>
            <a:pPr marL="0" indent="0">
              <a:buNone/>
            </a:pPr>
            <a:r>
              <a:rPr lang="en-US" sz="1050" dirty="0">
                <a:solidFill>
                  <a:srgbClr val="B71C1C"/>
                </a:solidFill>
                <a:latin typeface="Courier New" pitchFamily="34" charset="0"/>
                <a:ea typeface="Courier New" pitchFamily="34" charset="-122"/>
                <a:cs typeface="Courier New" pitchFamily="34" charset="-120"/>
              </a:rPr>
              <a:t>  repository.GetAll().Clear();</a:t>
            </a:r>
            <a:endParaRPr lang="en-US" sz="1050" dirty="0"/>
          </a:p>
          <a:p>
            <a:pPr marL="0" indent="0">
              <a:buNone/>
            </a:pPr>
            <a:r>
              <a:rPr lang="en-US" sz="1050" dirty="0">
                <a:solidFill>
                  <a:srgbClr val="B71C1C"/>
                </a:solidFill>
                <a:latin typeface="Courier New" pitchFamily="34" charset="0"/>
                <a:ea typeface="Courier New" pitchFamily="34" charset="-122"/>
                <a:cs typeface="Courier New" pitchFamily="34" charset="-120"/>
              </a:rPr>
              <a:t>  repository.GetAll().Add(...); </a:t>
            </a:r>
            <a:endParaRPr lang="en-US" sz="1050" dirty="0"/>
          </a:p>
        </p:txBody>
      </p:sp>
      <p:sp>
        <p:nvSpPr>
          <p:cNvPr id="9" name="Shape 7"/>
          <p:cNvSpPr/>
          <p:nvPr/>
        </p:nvSpPr>
        <p:spPr>
          <a:xfrm>
            <a:off x="4572000" y="1005840"/>
            <a:ext cx="4206240" cy="1920240"/>
          </a:xfrm>
          <a:prstGeom prst="rect">
            <a:avLst/>
          </a:prstGeom>
          <a:solidFill>
            <a:srgbClr val="E8F5E9"/>
          </a:solidFill>
          <a:ln w="12700">
            <a:solidFill>
              <a:srgbClr val="2E7D32"/>
            </a:solidFill>
            <a:prstDash val="solid"/>
          </a:ln>
        </p:spPr>
        <p:txBody>
          <a:bodyPr/>
          <a:lstStyle/>
          <a:p>
            <a:endParaRPr lang="en-US"/>
          </a:p>
        </p:txBody>
      </p:sp>
      <p:sp>
        <p:nvSpPr>
          <p:cNvPr id="10" name="Text 8"/>
          <p:cNvSpPr/>
          <p:nvPr/>
        </p:nvSpPr>
        <p:spPr>
          <a:xfrm>
            <a:off x="4663440" y="1051560"/>
            <a:ext cx="3931920" cy="347472"/>
          </a:xfrm>
          <a:prstGeom prst="rect">
            <a:avLst/>
          </a:prstGeom>
          <a:noFill/>
          <a:ln/>
        </p:spPr>
        <p:txBody>
          <a:bodyPr wrap="square" lIns="0" tIns="0" rIns="0" bIns="0"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  GOOD</a:t>
            </a:r>
            <a:endParaRPr lang="en-US" sz="1400" dirty="0"/>
          </a:p>
        </p:txBody>
      </p:sp>
      <p:sp>
        <p:nvSpPr>
          <p:cNvPr id="11" name="Text 9"/>
          <p:cNvSpPr/>
          <p:nvPr/>
        </p:nvSpPr>
        <p:spPr>
          <a:xfrm>
            <a:off x="4663440" y="1417320"/>
            <a:ext cx="3931920" cy="777240"/>
          </a:xfrm>
          <a:prstGeom prst="rect">
            <a:avLst/>
          </a:prstGeom>
          <a:noFill/>
          <a:ln/>
        </p:spPr>
        <p:txBody>
          <a:bodyPr wrap="square" lIns="0" tIns="0" rIns="0" bIns="0" rtlCol="0" anchor="ctr"/>
          <a:lstStyle/>
          <a:p>
            <a:pPr marL="0" indent="0">
              <a:buNone/>
            </a:pPr>
            <a:r>
              <a:rPr lang="en-US" sz="1100" dirty="0">
                <a:solidFill>
                  <a:srgbClr val="1E2A3A"/>
                </a:solidFill>
                <a:latin typeface="Courier New" pitchFamily="34" charset="0"/>
                <a:ea typeface="Courier New" pitchFamily="34" charset="-122"/>
                <a:cs typeface="Courier New" pitchFamily="34" charset="-120"/>
              </a:rPr>
              <a:t>public IReadOnlyList&lt;Student&gt; GetAll()</a:t>
            </a:r>
            <a:endParaRPr lang="en-US" sz="1100" dirty="0"/>
          </a:p>
          <a:p>
            <a:pPr marL="0" indent="0">
              <a:buNone/>
            </a:pPr>
            <a:r>
              <a:rPr lang="en-US" sz="1100" dirty="0">
                <a:solidFill>
                  <a:srgbClr val="1E2A3A"/>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1E2A3A"/>
                </a:solidFill>
                <a:latin typeface="Courier New" pitchFamily="34" charset="0"/>
                <a:ea typeface="Courier New" pitchFamily="34" charset="-122"/>
                <a:cs typeface="Courier New" pitchFamily="34" charset="-120"/>
              </a:rPr>
              <a:t>    return _students;</a:t>
            </a:r>
            <a:endParaRPr lang="en-US" sz="1100" dirty="0"/>
          </a:p>
          <a:p>
            <a:pPr marL="0" indent="0">
              <a:buNone/>
            </a:pPr>
            <a:r>
              <a:rPr lang="en-US" sz="1100" dirty="0">
                <a:solidFill>
                  <a:srgbClr val="1E2A3A"/>
                </a:solidFill>
                <a:latin typeface="Courier New" pitchFamily="34" charset="0"/>
                <a:ea typeface="Courier New" pitchFamily="34" charset="-122"/>
                <a:cs typeface="Courier New" pitchFamily="34" charset="-120"/>
              </a:rPr>
              <a:t>}</a:t>
            </a:r>
            <a:endParaRPr lang="en-US" sz="1100" dirty="0"/>
          </a:p>
        </p:txBody>
      </p:sp>
      <p:sp>
        <p:nvSpPr>
          <p:cNvPr id="12" name="Text 10"/>
          <p:cNvSpPr/>
          <p:nvPr/>
        </p:nvSpPr>
        <p:spPr>
          <a:xfrm>
            <a:off x="4663440" y="2194560"/>
            <a:ext cx="3931920" cy="640080"/>
          </a:xfrm>
          <a:prstGeom prst="rect">
            <a:avLst/>
          </a:prstGeom>
          <a:noFill/>
          <a:ln/>
        </p:spPr>
        <p:txBody>
          <a:bodyPr wrap="square" lIns="0" tIns="0" rIns="0" bIns="0" rtlCol="0" anchor="ctr"/>
          <a:lstStyle/>
          <a:p>
            <a:pPr marL="0" indent="0">
              <a:buNone/>
            </a:pPr>
            <a:r>
              <a:rPr lang="en-US" sz="1050" dirty="0">
                <a:solidFill>
                  <a:srgbClr val="1B5E20"/>
                </a:solidFill>
                <a:latin typeface="Calibri" pitchFamily="34" charset="0"/>
                <a:ea typeface="Calibri" pitchFamily="34" charset="-122"/>
                <a:cs typeface="Calibri" pitchFamily="34" charset="-120"/>
              </a:rPr>
              <a:t>Caller can only read.</a:t>
            </a:r>
            <a:endParaRPr lang="en-US" sz="1050" dirty="0"/>
          </a:p>
          <a:p>
            <a:pPr marL="0" indent="0">
              <a:buNone/>
            </a:pPr>
            <a:r>
              <a:rPr lang="en-US" sz="1050" dirty="0">
                <a:solidFill>
                  <a:srgbClr val="1B5E20"/>
                </a:solidFill>
                <a:latin typeface="Calibri" pitchFamily="34" charset="0"/>
                <a:ea typeface="Calibri" pitchFamily="34" charset="-122"/>
                <a:cs typeface="Calibri" pitchFamily="34" charset="-120"/>
              </a:rPr>
              <a:t>.Clear() and .Add() are unavailable.</a:t>
            </a:r>
            <a:endParaRPr lang="en-US" sz="1050" dirty="0"/>
          </a:p>
          <a:p>
            <a:pPr marL="0" indent="0">
              <a:buNone/>
            </a:pPr>
            <a:r>
              <a:rPr lang="en-US" sz="1050" dirty="0">
                <a:solidFill>
                  <a:srgbClr val="1B5E20"/>
                </a:solidFill>
                <a:latin typeface="Calibri" pitchFamily="34" charset="0"/>
                <a:ea typeface="Calibri" pitchFamily="34" charset="-122"/>
                <a:cs typeface="Calibri" pitchFamily="34" charset="-120"/>
              </a:rPr>
              <a:t>Architecture stays intact.</a:t>
            </a:r>
            <a:endParaRPr lang="en-US" sz="1050" dirty="0"/>
          </a:p>
        </p:txBody>
      </p:sp>
      <p:sp>
        <p:nvSpPr>
          <p:cNvPr id="13" name="Text 11"/>
          <p:cNvSpPr/>
          <p:nvPr/>
        </p:nvSpPr>
        <p:spPr>
          <a:xfrm>
            <a:off x="274320" y="3154680"/>
            <a:ext cx="8595360" cy="411480"/>
          </a:xfrm>
          <a:prstGeom prst="rect">
            <a:avLst/>
          </a:prstGeom>
          <a:noFill/>
          <a:ln/>
        </p:spPr>
        <p:txBody>
          <a:bodyPr wrap="square" lIns="0" tIns="0" rIns="0" bIns="0" rtlCol="0" anchor="ctr"/>
          <a:lstStyle/>
          <a:p>
            <a:pPr marL="0" indent="0" algn="ctr">
              <a:buNone/>
            </a:pPr>
            <a:r>
              <a:rPr lang="en-US" sz="1300" b="1" dirty="0">
                <a:solidFill>
                  <a:srgbClr val="1A237E"/>
                </a:solidFill>
                <a:latin typeface="Calibri" pitchFamily="34" charset="0"/>
                <a:ea typeface="Calibri" pitchFamily="34" charset="-122"/>
                <a:cs typeface="Calibri" pitchFamily="34" charset="-120"/>
              </a:rPr>
              <a:t>Type hierarchy:    IEnumerable&lt;T&gt;  ⊂  IReadOnlyList&lt;T&gt;  ⊂  List&lt;T&gt;</a:t>
            </a:r>
            <a:endParaRPr lang="en-US" sz="1300" dirty="0"/>
          </a:p>
        </p:txBody>
      </p:sp>
      <p:sp>
        <p:nvSpPr>
          <p:cNvPr id="14" name="Text 12"/>
          <p:cNvSpPr/>
          <p:nvPr/>
        </p:nvSpPr>
        <p:spPr>
          <a:xfrm>
            <a:off x="274320" y="3566160"/>
            <a:ext cx="8595360" cy="365760"/>
          </a:xfrm>
          <a:prstGeom prst="rect">
            <a:avLst/>
          </a:prstGeom>
          <a:noFill/>
          <a:ln/>
        </p:spPr>
        <p:txBody>
          <a:bodyPr wrap="square" lIns="0" tIns="0" rIns="0" bIns="0" rtlCol="0" anchor="ctr"/>
          <a:lstStyle/>
          <a:p>
            <a:pPr marL="0" indent="0" algn="ctr">
              <a:buNone/>
            </a:pPr>
            <a:r>
              <a:rPr lang="en-US" sz="1200" dirty="0">
                <a:solidFill>
                  <a:srgbClr val="78909C"/>
                </a:solidFill>
                <a:latin typeface="Calibri" pitchFamily="34" charset="0"/>
                <a:ea typeface="Calibri" pitchFamily="34" charset="-122"/>
                <a:cs typeface="Calibri" pitchFamily="34" charset="-120"/>
              </a:rPr>
              <a:t>Return the least-powerful interface that is sufficient for the caller.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 Flow — The Pipeline</a:t>
            </a:r>
            <a:endParaRPr lang="en-US" sz="2200" dirty="0"/>
          </a:p>
        </p:txBody>
      </p:sp>
      <p:sp>
        <p:nvSpPr>
          <p:cNvPr id="5" name="Shape 3"/>
          <p:cNvSpPr/>
          <p:nvPr/>
        </p:nvSpPr>
        <p:spPr>
          <a:xfrm>
            <a:off x="274320" y="1097280"/>
            <a:ext cx="2011680" cy="594360"/>
          </a:xfrm>
          <a:prstGeom prst="rect">
            <a:avLst/>
          </a:prstGeom>
          <a:solidFill>
            <a:srgbClr val="1A237E"/>
          </a:solidFill>
          <a:ln w="12700">
            <a:solidFill>
              <a:srgbClr val="1A237E"/>
            </a:solidFill>
            <a:prstDash val="solid"/>
          </a:ln>
        </p:spPr>
        <p:txBody>
          <a:bodyPr/>
          <a:lstStyle/>
          <a:p>
            <a:endParaRPr lang="en-US"/>
          </a:p>
        </p:txBody>
      </p:sp>
      <p:sp>
        <p:nvSpPr>
          <p:cNvPr id="6" name="Text 4"/>
          <p:cNvSpPr/>
          <p:nvPr/>
        </p:nvSpPr>
        <p:spPr>
          <a:xfrm>
            <a:off x="320040" y="1115568"/>
            <a:ext cx="1920240" cy="55778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GetAll()</a:t>
            </a:r>
            <a:endParaRPr lang="en-US" sz="1300" dirty="0"/>
          </a:p>
        </p:txBody>
      </p:sp>
      <p:sp>
        <p:nvSpPr>
          <p:cNvPr id="7" name="Text 5"/>
          <p:cNvSpPr/>
          <p:nvPr/>
        </p:nvSpPr>
        <p:spPr>
          <a:xfrm>
            <a:off x="2286000" y="1170432"/>
            <a:ext cx="457200" cy="457200"/>
          </a:xfrm>
          <a:prstGeom prst="rect">
            <a:avLst/>
          </a:prstGeom>
          <a:noFill/>
          <a:ln/>
        </p:spPr>
        <p:txBody>
          <a:bodyPr wrap="square" lIns="0" tIns="0" rIns="0" bIns="0" rtlCol="0" anchor="ctr"/>
          <a:lstStyle/>
          <a:p>
            <a:pPr marL="0" indent="0" algn="ctr">
              <a:buNone/>
            </a:pPr>
            <a:r>
              <a:rPr lang="en-US" sz="2000" dirty="0">
                <a:solidFill>
                  <a:srgbClr val="0097A7"/>
                </a:solidFill>
              </a:rPr>
              <a:t>→</a:t>
            </a:r>
            <a:endParaRPr lang="en-US" sz="2000" dirty="0"/>
          </a:p>
        </p:txBody>
      </p:sp>
      <p:sp>
        <p:nvSpPr>
          <p:cNvPr id="8" name="Shape 6"/>
          <p:cNvSpPr/>
          <p:nvPr/>
        </p:nvSpPr>
        <p:spPr>
          <a:xfrm>
            <a:off x="594360" y="1828800"/>
            <a:ext cx="1371600" cy="54864"/>
          </a:xfrm>
          <a:prstGeom prst="rect">
            <a:avLst/>
          </a:prstGeom>
          <a:solidFill>
            <a:srgbClr val="0097A7"/>
          </a:solidFill>
          <a:ln w="12700">
            <a:solidFill>
              <a:srgbClr val="0097A7"/>
            </a:solidFill>
            <a:prstDash val="solid"/>
          </a:ln>
        </p:spPr>
        <p:txBody>
          <a:bodyPr/>
          <a:lstStyle/>
          <a:p>
            <a:endParaRPr lang="en-US"/>
          </a:p>
        </p:txBody>
      </p:sp>
      <p:sp>
        <p:nvSpPr>
          <p:cNvPr id="9" name="Text 7"/>
          <p:cNvSpPr/>
          <p:nvPr/>
        </p:nvSpPr>
        <p:spPr>
          <a:xfrm>
            <a:off x="274320" y="1938528"/>
            <a:ext cx="2011680" cy="868680"/>
          </a:xfrm>
          <a:prstGeom prst="rect">
            <a:avLst/>
          </a:prstGeom>
          <a:noFill/>
          <a:ln/>
        </p:spPr>
        <p:txBody>
          <a:bodyPr wrap="square" lIns="0" tIns="0" rIns="0" bIns="0" rtlCol="0" anchor="ctr"/>
          <a:lstStyle/>
          <a:p>
            <a:pPr marL="0" indent="0" algn="ctr">
              <a:buNone/>
            </a:pPr>
            <a:r>
              <a:rPr lang="en-US" sz="1100" dirty="0">
                <a:solidFill>
                  <a:srgbClr val="37474F"/>
                </a:solidFill>
                <a:latin typeface="Calibri" pitchFamily="34" charset="0"/>
                <a:ea typeface="Calibri" pitchFamily="34" charset="-122"/>
                <a:cs typeface="Calibri" pitchFamily="34" charset="-120"/>
              </a:rPr>
              <a:t>Repository</a:t>
            </a:r>
            <a:endParaRPr lang="en-US" sz="1100" dirty="0"/>
          </a:p>
          <a:p>
            <a:pPr marL="0" indent="0" algn="ctr">
              <a:buNone/>
            </a:pPr>
            <a:r>
              <a:rPr lang="en-US" sz="1100" dirty="0">
                <a:solidFill>
                  <a:srgbClr val="37474F"/>
                </a:solidFill>
                <a:latin typeface="Calibri" pitchFamily="34" charset="0"/>
                <a:ea typeface="Calibri" pitchFamily="34" charset="-122"/>
                <a:cs typeface="Calibri" pitchFamily="34" charset="-120"/>
              </a:rPr>
              <a:t>returns</a:t>
            </a:r>
            <a:endParaRPr lang="en-US" sz="1100" dirty="0"/>
          </a:p>
          <a:p>
            <a:pPr marL="0" indent="0" algn="ctr">
              <a:buNone/>
            </a:pPr>
            <a:r>
              <a:rPr lang="en-US" sz="1100" dirty="0">
                <a:solidFill>
                  <a:srgbClr val="37474F"/>
                </a:solidFill>
                <a:latin typeface="Calibri" pitchFamily="34" charset="0"/>
                <a:ea typeface="Calibri" pitchFamily="34" charset="-122"/>
                <a:cs typeface="Calibri" pitchFamily="34" charset="-120"/>
              </a:rPr>
              <a:t>collection</a:t>
            </a:r>
            <a:endParaRPr lang="en-US" sz="1100" dirty="0"/>
          </a:p>
        </p:txBody>
      </p:sp>
      <p:sp>
        <p:nvSpPr>
          <p:cNvPr id="10" name="Shape 8"/>
          <p:cNvSpPr/>
          <p:nvPr/>
        </p:nvSpPr>
        <p:spPr>
          <a:xfrm>
            <a:off x="2468880" y="1097280"/>
            <a:ext cx="2011680" cy="594360"/>
          </a:xfrm>
          <a:prstGeom prst="rect">
            <a:avLst/>
          </a:prstGeom>
          <a:solidFill>
            <a:srgbClr val="1A237E"/>
          </a:solidFill>
          <a:ln w="12700">
            <a:solidFill>
              <a:srgbClr val="1A237E"/>
            </a:solidFill>
            <a:prstDash val="solid"/>
          </a:ln>
        </p:spPr>
        <p:txBody>
          <a:bodyPr/>
          <a:lstStyle/>
          <a:p>
            <a:endParaRPr lang="en-US"/>
          </a:p>
        </p:txBody>
      </p:sp>
      <p:sp>
        <p:nvSpPr>
          <p:cNvPr id="11" name="Text 9"/>
          <p:cNvSpPr/>
          <p:nvPr/>
        </p:nvSpPr>
        <p:spPr>
          <a:xfrm>
            <a:off x="2514600" y="1115568"/>
            <a:ext cx="1920240" cy="55778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ValidateAll()</a:t>
            </a:r>
            <a:endParaRPr lang="en-US" sz="1300" dirty="0"/>
          </a:p>
        </p:txBody>
      </p:sp>
      <p:sp>
        <p:nvSpPr>
          <p:cNvPr id="12" name="Text 10"/>
          <p:cNvSpPr/>
          <p:nvPr/>
        </p:nvSpPr>
        <p:spPr>
          <a:xfrm>
            <a:off x="4480560" y="1170432"/>
            <a:ext cx="457200" cy="457200"/>
          </a:xfrm>
          <a:prstGeom prst="rect">
            <a:avLst/>
          </a:prstGeom>
          <a:noFill/>
          <a:ln/>
        </p:spPr>
        <p:txBody>
          <a:bodyPr wrap="square" lIns="0" tIns="0" rIns="0" bIns="0" rtlCol="0" anchor="ctr"/>
          <a:lstStyle/>
          <a:p>
            <a:pPr marL="0" indent="0" algn="ctr">
              <a:buNone/>
            </a:pPr>
            <a:r>
              <a:rPr lang="en-US" sz="2000" dirty="0">
                <a:solidFill>
                  <a:srgbClr val="0097A7"/>
                </a:solidFill>
              </a:rPr>
              <a:t>→</a:t>
            </a:r>
            <a:endParaRPr lang="en-US" sz="2000" dirty="0"/>
          </a:p>
        </p:txBody>
      </p:sp>
      <p:sp>
        <p:nvSpPr>
          <p:cNvPr id="13" name="Shape 11"/>
          <p:cNvSpPr/>
          <p:nvPr/>
        </p:nvSpPr>
        <p:spPr>
          <a:xfrm>
            <a:off x="2788920" y="1828800"/>
            <a:ext cx="1371600" cy="54864"/>
          </a:xfrm>
          <a:prstGeom prst="rect">
            <a:avLst/>
          </a:prstGeom>
          <a:solidFill>
            <a:srgbClr val="0097A7"/>
          </a:solidFill>
          <a:ln w="12700">
            <a:solidFill>
              <a:srgbClr val="0097A7"/>
            </a:solidFill>
            <a:prstDash val="solid"/>
          </a:ln>
        </p:spPr>
        <p:txBody>
          <a:bodyPr/>
          <a:lstStyle/>
          <a:p>
            <a:endParaRPr lang="en-US"/>
          </a:p>
        </p:txBody>
      </p:sp>
      <p:sp>
        <p:nvSpPr>
          <p:cNvPr id="14" name="Text 12"/>
          <p:cNvSpPr/>
          <p:nvPr/>
        </p:nvSpPr>
        <p:spPr>
          <a:xfrm>
            <a:off x="2468880" y="1938528"/>
            <a:ext cx="2011680" cy="868680"/>
          </a:xfrm>
          <a:prstGeom prst="rect">
            <a:avLst/>
          </a:prstGeom>
          <a:noFill/>
          <a:ln/>
        </p:spPr>
        <p:txBody>
          <a:bodyPr wrap="square" lIns="0" tIns="0" rIns="0" bIns="0" rtlCol="0" anchor="ctr"/>
          <a:lstStyle/>
          <a:p>
            <a:pPr marL="0" indent="0" algn="ctr">
              <a:buNone/>
            </a:pPr>
            <a:r>
              <a:rPr lang="en-US" sz="1100" dirty="0">
                <a:solidFill>
                  <a:srgbClr val="37474F"/>
                </a:solidFill>
                <a:latin typeface="Calibri" pitchFamily="34" charset="0"/>
                <a:ea typeface="Calibri" pitchFamily="34" charset="-122"/>
                <a:cs typeface="Calibri" pitchFamily="34" charset="-120"/>
              </a:rPr>
              <a:t>Each item</a:t>
            </a:r>
            <a:endParaRPr lang="en-US" sz="1100" dirty="0"/>
          </a:p>
          <a:p>
            <a:pPr marL="0" indent="0" algn="ctr">
              <a:buNone/>
            </a:pPr>
            <a:r>
              <a:rPr lang="en-US" sz="1100" dirty="0">
                <a:solidFill>
                  <a:srgbClr val="37474F"/>
                </a:solidFill>
                <a:latin typeface="Calibri" pitchFamily="34" charset="0"/>
                <a:ea typeface="Calibri" pitchFamily="34" charset="-122"/>
                <a:cs typeface="Calibri" pitchFamily="34" charset="-120"/>
              </a:rPr>
              <a:t>is validated</a:t>
            </a:r>
            <a:endParaRPr lang="en-US" sz="1100" dirty="0"/>
          </a:p>
        </p:txBody>
      </p:sp>
      <p:sp>
        <p:nvSpPr>
          <p:cNvPr id="15" name="Shape 13"/>
          <p:cNvSpPr/>
          <p:nvPr/>
        </p:nvSpPr>
        <p:spPr>
          <a:xfrm>
            <a:off x="4663440" y="1097280"/>
            <a:ext cx="2011680" cy="594360"/>
          </a:xfrm>
          <a:prstGeom prst="rect">
            <a:avLst/>
          </a:prstGeom>
          <a:solidFill>
            <a:srgbClr val="1A237E"/>
          </a:solidFill>
          <a:ln w="12700">
            <a:solidFill>
              <a:srgbClr val="1A237E"/>
            </a:solidFill>
            <a:prstDash val="solid"/>
          </a:ln>
        </p:spPr>
        <p:txBody>
          <a:bodyPr/>
          <a:lstStyle/>
          <a:p>
            <a:endParaRPr lang="en-US"/>
          </a:p>
        </p:txBody>
      </p:sp>
      <p:sp>
        <p:nvSpPr>
          <p:cNvPr id="16" name="Text 14"/>
          <p:cNvSpPr/>
          <p:nvPr/>
        </p:nvSpPr>
        <p:spPr>
          <a:xfrm>
            <a:off x="4709160" y="1115568"/>
            <a:ext cx="1920240" cy="55778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Calculate()</a:t>
            </a:r>
            <a:endParaRPr lang="en-US" sz="1300" dirty="0"/>
          </a:p>
        </p:txBody>
      </p:sp>
      <p:sp>
        <p:nvSpPr>
          <p:cNvPr id="17" name="Text 15"/>
          <p:cNvSpPr/>
          <p:nvPr/>
        </p:nvSpPr>
        <p:spPr>
          <a:xfrm>
            <a:off x="6675120" y="1170432"/>
            <a:ext cx="457200" cy="457200"/>
          </a:xfrm>
          <a:prstGeom prst="rect">
            <a:avLst/>
          </a:prstGeom>
          <a:noFill/>
          <a:ln/>
        </p:spPr>
        <p:txBody>
          <a:bodyPr wrap="square" lIns="0" tIns="0" rIns="0" bIns="0" rtlCol="0" anchor="ctr"/>
          <a:lstStyle/>
          <a:p>
            <a:pPr marL="0" indent="0" algn="ctr">
              <a:buNone/>
            </a:pPr>
            <a:r>
              <a:rPr lang="en-US" sz="2000" dirty="0">
                <a:solidFill>
                  <a:srgbClr val="0097A7"/>
                </a:solidFill>
              </a:rPr>
              <a:t>→</a:t>
            </a:r>
            <a:endParaRPr lang="en-US" sz="2000" dirty="0"/>
          </a:p>
        </p:txBody>
      </p:sp>
      <p:sp>
        <p:nvSpPr>
          <p:cNvPr id="18" name="Shape 16"/>
          <p:cNvSpPr/>
          <p:nvPr/>
        </p:nvSpPr>
        <p:spPr>
          <a:xfrm>
            <a:off x="4983480" y="1828800"/>
            <a:ext cx="1371600" cy="54864"/>
          </a:xfrm>
          <a:prstGeom prst="rect">
            <a:avLst/>
          </a:prstGeom>
          <a:solidFill>
            <a:srgbClr val="0097A7"/>
          </a:solidFill>
          <a:ln w="12700">
            <a:solidFill>
              <a:srgbClr val="0097A7"/>
            </a:solidFill>
            <a:prstDash val="solid"/>
          </a:ln>
        </p:spPr>
        <p:txBody>
          <a:bodyPr/>
          <a:lstStyle/>
          <a:p>
            <a:endParaRPr lang="en-US"/>
          </a:p>
        </p:txBody>
      </p:sp>
      <p:sp>
        <p:nvSpPr>
          <p:cNvPr id="19" name="Text 17"/>
          <p:cNvSpPr/>
          <p:nvPr/>
        </p:nvSpPr>
        <p:spPr>
          <a:xfrm>
            <a:off x="4663440" y="1938528"/>
            <a:ext cx="2011680" cy="868680"/>
          </a:xfrm>
          <a:prstGeom prst="rect">
            <a:avLst/>
          </a:prstGeom>
          <a:noFill/>
          <a:ln/>
        </p:spPr>
        <p:txBody>
          <a:bodyPr wrap="square" lIns="0" tIns="0" rIns="0" bIns="0" rtlCol="0" anchor="ctr"/>
          <a:lstStyle/>
          <a:p>
            <a:pPr marL="0" indent="0" algn="ctr">
              <a:buNone/>
            </a:pPr>
            <a:r>
              <a:rPr lang="en-US" sz="1100" dirty="0">
                <a:solidFill>
                  <a:srgbClr val="37474F"/>
                </a:solidFill>
                <a:latin typeface="Calibri" pitchFamily="34" charset="0"/>
                <a:ea typeface="Calibri" pitchFamily="34" charset="-122"/>
                <a:cs typeface="Calibri" pitchFamily="34" charset="-120"/>
              </a:rPr>
              <a:t>Average or</a:t>
            </a:r>
            <a:endParaRPr lang="en-US" sz="1100" dirty="0"/>
          </a:p>
          <a:p>
            <a:pPr marL="0" indent="0" algn="ctr">
              <a:buNone/>
            </a:pPr>
            <a:r>
              <a:rPr lang="en-US" sz="1100" dirty="0">
                <a:solidFill>
                  <a:srgbClr val="37474F"/>
                </a:solidFill>
                <a:latin typeface="Calibri" pitchFamily="34" charset="0"/>
                <a:ea typeface="Calibri" pitchFamily="34" charset="-122"/>
                <a:cs typeface="Calibri" pitchFamily="34" charset="-120"/>
              </a:rPr>
              <a:t>other stat</a:t>
            </a:r>
            <a:endParaRPr lang="en-US" sz="1100" dirty="0"/>
          </a:p>
          <a:p>
            <a:pPr marL="0" indent="0" algn="ctr">
              <a:buNone/>
            </a:pPr>
            <a:r>
              <a:rPr lang="en-US" sz="1100" dirty="0">
                <a:solidFill>
                  <a:srgbClr val="37474F"/>
                </a:solidFill>
                <a:latin typeface="Calibri" pitchFamily="34" charset="0"/>
                <a:ea typeface="Calibri" pitchFamily="34" charset="-122"/>
                <a:cs typeface="Calibri" pitchFamily="34" charset="-120"/>
              </a:rPr>
              <a:t>calculated</a:t>
            </a:r>
            <a:endParaRPr lang="en-US" sz="1100" dirty="0"/>
          </a:p>
        </p:txBody>
      </p:sp>
      <p:sp>
        <p:nvSpPr>
          <p:cNvPr id="20" name="Shape 18"/>
          <p:cNvSpPr/>
          <p:nvPr/>
        </p:nvSpPr>
        <p:spPr>
          <a:xfrm>
            <a:off x="6858000" y="1097280"/>
            <a:ext cx="2011680" cy="594360"/>
          </a:xfrm>
          <a:prstGeom prst="rect">
            <a:avLst/>
          </a:prstGeom>
          <a:solidFill>
            <a:srgbClr val="1A237E"/>
          </a:solidFill>
          <a:ln w="12700">
            <a:solidFill>
              <a:srgbClr val="1A237E"/>
            </a:solidFill>
            <a:prstDash val="solid"/>
          </a:ln>
        </p:spPr>
        <p:txBody>
          <a:bodyPr/>
          <a:lstStyle/>
          <a:p>
            <a:endParaRPr lang="en-US"/>
          </a:p>
        </p:txBody>
      </p:sp>
      <p:sp>
        <p:nvSpPr>
          <p:cNvPr id="21" name="Text 19"/>
          <p:cNvSpPr/>
          <p:nvPr/>
        </p:nvSpPr>
        <p:spPr>
          <a:xfrm>
            <a:off x="6903720" y="1115568"/>
            <a:ext cx="1920240" cy="55778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PrintStudents()</a:t>
            </a:r>
            <a:endParaRPr lang="en-US" sz="1300" dirty="0"/>
          </a:p>
        </p:txBody>
      </p:sp>
      <p:sp>
        <p:nvSpPr>
          <p:cNvPr id="22" name="Shape 20"/>
          <p:cNvSpPr/>
          <p:nvPr/>
        </p:nvSpPr>
        <p:spPr>
          <a:xfrm>
            <a:off x="7178040" y="1828800"/>
            <a:ext cx="1371600" cy="54864"/>
          </a:xfrm>
          <a:prstGeom prst="rect">
            <a:avLst/>
          </a:prstGeom>
          <a:solidFill>
            <a:srgbClr val="0097A7"/>
          </a:solidFill>
          <a:ln w="12700">
            <a:solidFill>
              <a:srgbClr val="0097A7"/>
            </a:solidFill>
            <a:prstDash val="solid"/>
          </a:ln>
        </p:spPr>
        <p:txBody>
          <a:bodyPr/>
          <a:lstStyle/>
          <a:p>
            <a:endParaRPr lang="en-US"/>
          </a:p>
        </p:txBody>
      </p:sp>
      <p:sp>
        <p:nvSpPr>
          <p:cNvPr id="23" name="Text 21"/>
          <p:cNvSpPr/>
          <p:nvPr/>
        </p:nvSpPr>
        <p:spPr>
          <a:xfrm>
            <a:off x="6858000" y="1938528"/>
            <a:ext cx="2011680" cy="868680"/>
          </a:xfrm>
          <a:prstGeom prst="rect">
            <a:avLst/>
          </a:prstGeom>
          <a:noFill/>
          <a:ln/>
        </p:spPr>
        <p:txBody>
          <a:bodyPr wrap="square" lIns="0" tIns="0" rIns="0" bIns="0" rtlCol="0" anchor="ctr"/>
          <a:lstStyle/>
          <a:p>
            <a:pPr marL="0" indent="0" algn="ctr">
              <a:buNone/>
            </a:pPr>
            <a:r>
              <a:rPr lang="en-US" sz="1100" dirty="0">
                <a:solidFill>
                  <a:srgbClr val="37474F"/>
                </a:solidFill>
                <a:latin typeface="Calibri" pitchFamily="34" charset="0"/>
                <a:ea typeface="Calibri" pitchFamily="34" charset="-122"/>
                <a:cs typeface="Calibri" pitchFamily="34" charset="-120"/>
              </a:rPr>
              <a:t>Results</a:t>
            </a:r>
            <a:endParaRPr lang="en-US" sz="1100" dirty="0"/>
          </a:p>
          <a:p>
            <a:pPr marL="0" indent="0" algn="ctr">
              <a:buNone/>
            </a:pPr>
            <a:r>
              <a:rPr lang="en-US" sz="1100" dirty="0">
                <a:solidFill>
                  <a:srgbClr val="37474F"/>
                </a:solidFill>
                <a:latin typeface="Calibri" pitchFamily="34" charset="0"/>
                <a:ea typeface="Calibri" pitchFamily="34" charset="-122"/>
                <a:cs typeface="Calibri" pitchFamily="34" charset="-120"/>
              </a:rPr>
              <a:t>printed to</a:t>
            </a:r>
            <a:endParaRPr lang="en-US" sz="1100" dirty="0"/>
          </a:p>
          <a:p>
            <a:pPr marL="0" indent="0" algn="ctr">
              <a:buNone/>
            </a:pPr>
            <a:r>
              <a:rPr lang="en-US" sz="1100" dirty="0">
                <a:solidFill>
                  <a:srgbClr val="37474F"/>
                </a:solidFill>
                <a:latin typeface="Calibri" pitchFamily="34" charset="0"/>
                <a:ea typeface="Calibri" pitchFamily="34" charset="-122"/>
                <a:cs typeface="Calibri" pitchFamily="34" charset="-120"/>
              </a:rPr>
              <a:t>user</a:t>
            </a:r>
            <a:endParaRPr lang="en-US" sz="1100" dirty="0"/>
          </a:p>
        </p:txBody>
      </p:sp>
      <p:sp>
        <p:nvSpPr>
          <p:cNvPr id="24" name="Shape 22"/>
          <p:cNvSpPr/>
          <p:nvPr/>
        </p:nvSpPr>
        <p:spPr>
          <a:xfrm>
            <a:off x="274320" y="2926080"/>
            <a:ext cx="8595360" cy="160020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25" name="Text 23"/>
          <p:cNvSpPr/>
          <p:nvPr/>
        </p:nvSpPr>
        <p:spPr>
          <a:xfrm>
            <a:off x="438912" y="3035808"/>
            <a:ext cx="8266176" cy="138074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var students  = _repository.GetAll();</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valid     = _validator.ValidateAll(students);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average   = _strategy.Calculate(valid);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_printer.PrintStudents(valid);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Every step works with a collection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Lab-6: Common Mistakes</a:t>
            </a:r>
            <a:endParaRPr lang="en-US" sz="2200" dirty="0"/>
          </a:p>
        </p:txBody>
      </p:sp>
      <p:sp>
        <p:nvSpPr>
          <p:cNvPr id="5" name="Shape 3"/>
          <p:cNvSpPr/>
          <p:nvPr/>
        </p:nvSpPr>
        <p:spPr>
          <a:xfrm>
            <a:off x="274320" y="960120"/>
            <a:ext cx="3931920" cy="457200"/>
          </a:xfrm>
          <a:prstGeom prst="rect">
            <a:avLst/>
          </a:prstGeom>
          <a:solidFill>
            <a:srgbClr val="FFEBEE"/>
          </a:solidFill>
          <a:ln w="12700">
            <a:solidFill>
              <a:srgbClr val="C62828"/>
            </a:solidFill>
            <a:prstDash val="solid"/>
          </a:ln>
        </p:spPr>
        <p:txBody>
          <a:bodyPr/>
          <a:lstStyle/>
          <a:p>
            <a:endParaRPr lang="en-US"/>
          </a:p>
        </p:txBody>
      </p:sp>
      <p:sp>
        <p:nvSpPr>
          <p:cNvPr id="6" name="Text 4"/>
          <p:cNvSpPr/>
          <p:nvPr/>
        </p:nvSpPr>
        <p:spPr>
          <a:xfrm>
            <a:off x="365760" y="978408"/>
            <a:ext cx="3749040" cy="420624"/>
          </a:xfrm>
          <a:prstGeom prst="rect">
            <a:avLst/>
          </a:prstGeom>
          <a:noFill/>
          <a:ln/>
        </p:spPr>
        <p:txBody>
          <a:bodyPr wrap="square" lIns="0" tIns="0" rIns="0" bIns="0" rtlCol="0" anchor="ctr"/>
          <a:lstStyle/>
          <a:p>
            <a:pPr marL="0" indent="0">
              <a:buNone/>
            </a:pPr>
            <a:r>
              <a:rPr lang="en-US" sz="1000" dirty="0">
                <a:solidFill>
                  <a:srgbClr val="B71C1C"/>
                </a:solidFill>
                <a:latin typeface="Courier New" pitchFamily="34" charset="0"/>
                <a:ea typeface="Courier New" pitchFamily="34" charset="-122"/>
                <a:cs typeface="Courier New" pitchFamily="34" charset="-120"/>
              </a:rPr>
              <a:t>❌  public List&lt;Student&gt; Students { get; set; }</a:t>
            </a:r>
            <a:endParaRPr lang="en-US" sz="1000" dirty="0"/>
          </a:p>
        </p:txBody>
      </p:sp>
      <p:sp>
        <p:nvSpPr>
          <p:cNvPr id="7" name="Shape 5"/>
          <p:cNvSpPr/>
          <p:nvPr/>
        </p:nvSpPr>
        <p:spPr>
          <a:xfrm>
            <a:off x="4389120" y="960120"/>
            <a:ext cx="4480560" cy="457200"/>
          </a:xfrm>
          <a:prstGeom prst="rect">
            <a:avLst/>
          </a:prstGeom>
          <a:solidFill>
            <a:srgbClr val="E8F5E9"/>
          </a:solidFill>
          <a:ln w="12700">
            <a:solidFill>
              <a:srgbClr val="2E7D32"/>
            </a:solidFill>
            <a:prstDash val="solid"/>
          </a:ln>
        </p:spPr>
        <p:txBody>
          <a:bodyPr/>
          <a:lstStyle/>
          <a:p>
            <a:endParaRPr lang="en-US"/>
          </a:p>
        </p:txBody>
      </p:sp>
      <p:sp>
        <p:nvSpPr>
          <p:cNvPr id="8" name="Text 6"/>
          <p:cNvSpPr/>
          <p:nvPr/>
        </p:nvSpPr>
        <p:spPr>
          <a:xfrm>
            <a:off x="4480560" y="978408"/>
            <a:ext cx="4297680" cy="420624"/>
          </a:xfrm>
          <a:prstGeom prst="rect">
            <a:avLst/>
          </a:prstGeom>
          <a:noFill/>
          <a:ln/>
        </p:spPr>
        <p:txBody>
          <a:bodyPr wrap="square" lIns="0" tIns="0" rIns="0" bIns="0" rtlCol="0" anchor="ctr"/>
          <a:lstStyle/>
          <a:p>
            <a:pPr marL="0" indent="0">
              <a:buNone/>
            </a:pPr>
            <a:r>
              <a:rPr lang="en-US" sz="1000" dirty="0">
                <a:solidFill>
                  <a:srgbClr val="1B5E20"/>
                </a:solidFill>
                <a:latin typeface="Courier New" pitchFamily="34" charset="0"/>
                <a:ea typeface="Courier New" pitchFamily="34" charset="-122"/>
                <a:cs typeface="Courier New" pitchFamily="34" charset="-120"/>
              </a:rPr>
              <a:t>✔  private List&lt;Student&gt; _students = new();</a:t>
            </a:r>
            <a:endParaRPr lang="en-US" sz="1000" dirty="0"/>
          </a:p>
        </p:txBody>
      </p:sp>
      <p:sp>
        <p:nvSpPr>
          <p:cNvPr id="9" name="Text 7"/>
          <p:cNvSpPr/>
          <p:nvPr/>
        </p:nvSpPr>
        <p:spPr>
          <a:xfrm>
            <a:off x="320040" y="1453896"/>
            <a:ext cx="8503920" cy="320040"/>
          </a:xfrm>
          <a:prstGeom prst="rect">
            <a:avLst/>
          </a:prstGeom>
          <a:noFill/>
          <a:ln/>
        </p:spPr>
        <p:txBody>
          <a:bodyPr wrap="square" lIns="0" tIns="0" rIns="0" bIns="0" rtlCol="0" anchor="ctr"/>
          <a:lstStyle/>
          <a:p>
            <a:pPr marL="0" indent="0">
              <a:buNone/>
            </a:pPr>
            <a:r>
              <a:rPr lang="en-US" sz="1100" dirty="0">
                <a:solidFill>
                  <a:srgbClr val="78909C"/>
                </a:solidFill>
                <a:latin typeface="Calibri" pitchFamily="34" charset="0"/>
                <a:ea typeface="Calibri" pitchFamily="34" charset="-122"/>
                <a:cs typeface="Calibri" pitchFamily="34" charset="-120"/>
              </a:rPr>
              <a:t>→  Public list — outside classes can mutate it!</a:t>
            </a:r>
            <a:endParaRPr lang="en-US" sz="1100" dirty="0"/>
          </a:p>
        </p:txBody>
      </p:sp>
      <p:sp>
        <p:nvSpPr>
          <p:cNvPr id="10" name="Shape 8"/>
          <p:cNvSpPr/>
          <p:nvPr/>
        </p:nvSpPr>
        <p:spPr>
          <a:xfrm>
            <a:off x="274320" y="2148840"/>
            <a:ext cx="3931920" cy="457200"/>
          </a:xfrm>
          <a:prstGeom prst="rect">
            <a:avLst/>
          </a:prstGeom>
          <a:solidFill>
            <a:srgbClr val="FFEBEE"/>
          </a:solidFill>
          <a:ln w="12700">
            <a:solidFill>
              <a:srgbClr val="C62828"/>
            </a:solidFill>
            <a:prstDash val="solid"/>
          </a:ln>
        </p:spPr>
        <p:txBody>
          <a:bodyPr/>
          <a:lstStyle/>
          <a:p>
            <a:endParaRPr lang="en-US"/>
          </a:p>
        </p:txBody>
      </p:sp>
      <p:sp>
        <p:nvSpPr>
          <p:cNvPr id="11" name="Text 9"/>
          <p:cNvSpPr/>
          <p:nvPr/>
        </p:nvSpPr>
        <p:spPr>
          <a:xfrm>
            <a:off x="365760" y="2167128"/>
            <a:ext cx="3749040" cy="420624"/>
          </a:xfrm>
          <a:prstGeom prst="rect">
            <a:avLst/>
          </a:prstGeom>
          <a:noFill/>
          <a:ln/>
        </p:spPr>
        <p:txBody>
          <a:bodyPr wrap="square" lIns="0" tIns="0" rIns="0" bIns="0" rtlCol="0" anchor="ctr"/>
          <a:lstStyle/>
          <a:p>
            <a:pPr marL="0" indent="0">
              <a:buNone/>
            </a:pPr>
            <a:r>
              <a:rPr lang="en-US" sz="1000" dirty="0">
                <a:solidFill>
                  <a:srgbClr val="B71C1C"/>
                </a:solidFill>
                <a:latin typeface="Courier New" pitchFamily="34" charset="0"/>
                <a:ea typeface="Courier New" pitchFamily="34" charset="-122"/>
                <a:cs typeface="Courier New" pitchFamily="34" charset="-120"/>
              </a:rPr>
              <a:t>❌  repository.GetAll().Add(student);</a:t>
            </a:r>
            <a:endParaRPr lang="en-US" sz="1000" dirty="0"/>
          </a:p>
        </p:txBody>
      </p:sp>
      <p:sp>
        <p:nvSpPr>
          <p:cNvPr id="12" name="Shape 10"/>
          <p:cNvSpPr/>
          <p:nvPr/>
        </p:nvSpPr>
        <p:spPr>
          <a:xfrm>
            <a:off x="4389120" y="2148840"/>
            <a:ext cx="4480560" cy="457200"/>
          </a:xfrm>
          <a:prstGeom prst="rect">
            <a:avLst/>
          </a:prstGeom>
          <a:solidFill>
            <a:srgbClr val="E8F5E9"/>
          </a:solidFill>
          <a:ln w="12700">
            <a:solidFill>
              <a:srgbClr val="2E7D32"/>
            </a:solidFill>
            <a:prstDash val="solid"/>
          </a:ln>
        </p:spPr>
        <p:txBody>
          <a:bodyPr/>
          <a:lstStyle/>
          <a:p>
            <a:endParaRPr lang="en-US"/>
          </a:p>
        </p:txBody>
      </p:sp>
      <p:sp>
        <p:nvSpPr>
          <p:cNvPr id="13" name="Text 11"/>
          <p:cNvSpPr/>
          <p:nvPr/>
        </p:nvSpPr>
        <p:spPr>
          <a:xfrm>
            <a:off x="4480560" y="2167128"/>
            <a:ext cx="4297680" cy="420624"/>
          </a:xfrm>
          <a:prstGeom prst="rect">
            <a:avLst/>
          </a:prstGeom>
          <a:noFill/>
          <a:ln/>
        </p:spPr>
        <p:txBody>
          <a:bodyPr wrap="square" lIns="0" tIns="0" rIns="0" bIns="0" rtlCol="0" anchor="ctr"/>
          <a:lstStyle/>
          <a:p>
            <a:pPr marL="0" indent="0">
              <a:buNone/>
            </a:pPr>
            <a:r>
              <a:rPr lang="en-US" sz="1000" dirty="0">
                <a:solidFill>
                  <a:srgbClr val="1B5E20"/>
                </a:solidFill>
                <a:latin typeface="Courier New" pitchFamily="34" charset="0"/>
                <a:ea typeface="Courier New" pitchFamily="34" charset="-122"/>
                <a:cs typeface="Courier New" pitchFamily="34" charset="-120"/>
              </a:rPr>
              <a:t>✔  repository.Add(student);</a:t>
            </a:r>
            <a:endParaRPr lang="en-US" sz="1000" dirty="0"/>
          </a:p>
        </p:txBody>
      </p:sp>
      <p:sp>
        <p:nvSpPr>
          <p:cNvPr id="14" name="Text 12"/>
          <p:cNvSpPr/>
          <p:nvPr/>
        </p:nvSpPr>
        <p:spPr>
          <a:xfrm>
            <a:off x="320040" y="2642616"/>
            <a:ext cx="8503920" cy="320040"/>
          </a:xfrm>
          <a:prstGeom prst="rect">
            <a:avLst/>
          </a:prstGeom>
          <a:noFill/>
          <a:ln/>
        </p:spPr>
        <p:txBody>
          <a:bodyPr wrap="square" lIns="0" tIns="0" rIns="0" bIns="0" rtlCol="0" anchor="ctr"/>
          <a:lstStyle/>
          <a:p>
            <a:pPr marL="0" indent="0">
              <a:buNone/>
            </a:pPr>
            <a:r>
              <a:rPr lang="en-US" sz="1100" dirty="0">
                <a:solidFill>
                  <a:srgbClr val="78909C"/>
                </a:solidFill>
                <a:latin typeface="Calibri" pitchFamily="34" charset="0"/>
                <a:ea typeface="Calibri" pitchFamily="34" charset="-122"/>
                <a:cs typeface="Calibri" pitchFamily="34" charset="-120"/>
              </a:rPr>
              <a:t>→  Access via repository methods, not directly on the list</a:t>
            </a:r>
            <a:endParaRPr lang="en-US" sz="1100" dirty="0"/>
          </a:p>
        </p:txBody>
      </p:sp>
      <p:sp>
        <p:nvSpPr>
          <p:cNvPr id="15" name="Shape 13"/>
          <p:cNvSpPr/>
          <p:nvPr/>
        </p:nvSpPr>
        <p:spPr>
          <a:xfrm>
            <a:off x="274320" y="3337560"/>
            <a:ext cx="3931920" cy="457200"/>
          </a:xfrm>
          <a:prstGeom prst="rect">
            <a:avLst/>
          </a:prstGeom>
          <a:solidFill>
            <a:srgbClr val="FFEBEE"/>
          </a:solidFill>
          <a:ln w="12700">
            <a:solidFill>
              <a:srgbClr val="C62828"/>
            </a:solidFill>
            <a:prstDash val="solid"/>
          </a:ln>
        </p:spPr>
        <p:txBody>
          <a:bodyPr/>
          <a:lstStyle/>
          <a:p>
            <a:endParaRPr lang="en-US"/>
          </a:p>
        </p:txBody>
      </p:sp>
      <p:sp>
        <p:nvSpPr>
          <p:cNvPr id="16" name="Text 14"/>
          <p:cNvSpPr/>
          <p:nvPr/>
        </p:nvSpPr>
        <p:spPr>
          <a:xfrm>
            <a:off x="365760" y="3355848"/>
            <a:ext cx="3749040" cy="420624"/>
          </a:xfrm>
          <a:prstGeom prst="rect">
            <a:avLst/>
          </a:prstGeom>
          <a:noFill/>
          <a:ln/>
        </p:spPr>
        <p:txBody>
          <a:bodyPr wrap="square" lIns="0" tIns="0" rIns="0" bIns="0" rtlCol="0" anchor="ctr"/>
          <a:lstStyle/>
          <a:p>
            <a:pPr marL="0" indent="0">
              <a:buNone/>
            </a:pPr>
            <a:r>
              <a:rPr lang="en-US" sz="1000" dirty="0">
                <a:solidFill>
                  <a:srgbClr val="B71C1C"/>
                </a:solidFill>
                <a:latin typeface="Courier New" pitchFamily="34" charset="0"/>
                <a:ea typeface="Courier New" pitchFamily="34" charset="-122"/>
                <a:cs typeface="Courier New" pitchFamily="34" charset="-120"/>
              </a:rPr>
              <a:t>❌  List&lt;Student&gt; GetAll() =&gt; _students;</a:t>
            </a:r>
            <a:endParaRPr lang="en-US" sz="1000" dirty="0"/>
          </a:p>
        </p:txBody>
      </p:sp>
      <p:sp>
        <p:nvSpPr>
          <p:cNvPr id="17" name="Shape 15"/>
          <p:cNvSpPr/>
          <p:nvPr/>
        </p:nvSpPr>
        <p:spPr>
          <a:xfrm>
            <a:off x="4389120" y="3337560"/>
            <a:ext cx="4480560" cy="457200"/>
          </a:xfrm>
          <a:prstGeom prst="rect">
            <a:avLst/>
          </a:prstGeom>
          <a:solidFill>
            <a:srgbClr val="E8F5E9"/>
          </a:solidFill>
          <a:ln w="12700">
            <a:solidFill>
              <a:srgbClr val="2E7D32"/>
            </a:solidFill>
            <a:prstDash val="solid"/>
          </a:ln>
        </p:spPr>
        <p:txBody>
          <a:bodyPr/>
          <a:lstStyle/>
          <a:p>
            <a:endParaRPr lang="en-US"/>
          </a:p>
        </p:txBody>
      </p:sp>
      <p:sp>
        <p:nvSpPr>
          <p:cNvPr id="18" name="Text 16"/>
          <p:cNvSpPr/>
          <p:nvPr/>
        </p:nvSpPr>
        <p:spPr>
          <a:xfrm>
            <a:off x="4480560" y="3355848"/>
            <a:ext cx="4297680" cy="420624"/>
          </a:xfrm>
          <a:prstGeom prst="rect">
            <a:avLst/>
          </a:prstGeom>
          <a:noFill/>
          <a:ln/>
        </p:spPr>
        <p:txBody>
          <a:bodyPr wrap="square" lIns="0" tIns="0" rIns="0" bIns="0" rtlCol="0" anchor="ctr"/>
          <a:lstStyle/>
          <a:p>
            <a:pPr marL="0" indent="0">
              <a:buNone/>
            </a:pPr>
            <a:r>
              <a:rPr lang="en-US" sz="1000" dirty="0">
                <a:solidFill>
                  <a:srgbClr val="1B5E20"/>
                </a:solidFill>
                <a:latin typeface="Courier New" pitchFamily="34" charset="0"/>
                <a:ea typeface="Courier New" pitchFamily="34" charset="-122"/>
                <a:cs typeface="Courier New" pitchFamily="34" charset="-120"/>
              </a:rPr>
              <a:t>✔  IReadOnlyList&lt;Student&gt; GetAll() =&gt; _students;</a:t>
            </a:r>
            <a:endParaRPr lang="en-US" sz="1000" dirty="0"/>
          </a:p>
        </p:txBody>
      </p:sp>
      <p:sp>
        <p:nvSpPr>
          <p:cNvPr id="19" name="Text 17"/>
          <p:cNvSpPr/>
          <p:nvPr/>
        </p:nvSpPr>
        <p:spPr>
          <a:xfrm>
            <a:off x="320040" y="3831336"/>
            <a:ext cx="8503920" cy="320040"/>
          </a:xfrm>
          <a:prstGeom prst="rect">
            <a:avLst/>
          </a:prstGeom>
          <a:noFill/>
          <a:ln/>
        </p:spPr>
        <p:txBody>
          <a:bodyPr wrap="square" lIns="0" tIns="0" rIns="0" bIns="0" rtlCol="0" anchor="ctr"/>
          <a:lstStyle/>
          <a:p>
            <a:pPr marL="0" indent="0">
              <a:buNone/>
            </a:pPr>
            <a:r>
              <a:rPr lang="en-US" sz="1100" dirty="0">
                <a:solidFill>
                  <a:srgbClr val="78909C"/>
                </a:solidFill>
                <a:latin typeface="Calibri" pitchFamily="34" charset="0"/>
                <a:ea typeface="Calibri" pitchFamily="34" charset="-122"/>
                <a:cs typeface="Calibri" pitchFamily="34" charset="-120"/>
              </a:rPr>
              <a:t>→  Return a read-only interface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37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365760" y="1920240"/>
            <a:ext cx="8503920" cy="128016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2. Dictionary&lt;TKey, TValue&gt;</a:t>
            </a:r>
            <a:endParaRPr lang="en-US" sz="4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List&lt;T&gt; vs Dictionary&lt;K,V&gt; — When to Use?</a:t>
            </a:r>
            <a:endParaRPr lang="en-US" sz="2200" dirty="0"/>
          </a:p>
        </p:txBody>
      </p:sp>
      <p:sp>
        <p:nvSpPr>
          <p:cNvPr id="5" name="Shape 3"/>
          <p:cNvSpPr/>
          <p:nvPr/>
        </p:nvSpPr>
        <p:spPr>
          <a:xfrm>
            <a:off x="274320" y="914400"/>
            <a:ext cx="2560320" cy="548640"/>
          </a:xfrm>
          <a:prstGeom prst="rect">
            <a:avLst/>
          </a:prstGeom>
          <a:solidFill>
            <a:srgbClr val="1A237E"/>
          </a:solidFill>
          <a:ln w="12700">
            <a:solidFill>
              <a:srgbClr val="CCCCCC"/>
            </a:solidFill>
            <a:prstDash val="solid"/>
          </a:ln>
        </p:spPr>
        <p:txBody>
          <a:bodyPr/>
          <a:lstStyle/>
          <a:p>
            <a:endParaRPr lang="en-US"/>
          </a:p>
        </p:txBody>
      </p:sp>
      <p:sp>
        <p:nvSpPr>
          <p:cNvPr id="6" name="Text 4"/>
          <p:cNvSpPr/>
          <p:nvPr/>
        </p:nvSpPr>
        <p:spPr>
          <a:xfrm>
            <a:off x="365760" y="950976"/>
            <a:ext cx="2377440" cy="475488"/>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p:txBody>
      </p:sp>
      <p:sp>
        <p:nvSpPr>
          <p:cNvPr id="7" name="Shape 5"/>
          <p:cNvSpPr/>
          <p:nvPr/>
        </p:nvSpPr>
        <p:spPr>
          <a:xfrm>
            <a:off x="2834640" y="914400"/>
            <a:ext cx="2743200" cy="548640"/>
          </a:xfrm>
          <a:prstGeom prst="rect">
            <a:avLst/>
          </a:prstGeom>
          <a:solidFill>
            <a:srgbClr val="283593"/>
          </a:solidFill>
          <a:ln w="12700">
            <a:solidFill>
              <a:srgbClr val="CCCCCC"/>
            </a:solidFill>
            <a:prstDash val="solid"/>
          </a:ln>
        </p:spPr>
        <p:txBody>
          <a:bodyPr/>
          <a:lstStyle/>
          <a:p>
            <a:endParaRPr lang="en-US"/>
          </a:p>
        </p:txBody>
      </p:sp>
      <p:sp>
        <p:nvSpPr>
          <p:cNvPr id="8" name="Text 6"/>
          <p:cNvSpPr/>
          <p:nvPr/>
        </p:nvSpPr>
        <p:spPr>
          <a:xfrm>
            <a:off x="2926080" y="950976"/>
            <a:ext cx="2560320" cy="475488"/>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List&lt;T&gt;</a:t>
            </a:r>
            <a:endParaRPr lang="en-US" sz="1200" dirty="0"/>
          </a:p>
        </p:txBody>
      </p:sp>
      <p:sp>
        <p:nvSpPr>
          <p:cNvPr id="9" name="Shape 7"/>
          <p:cNvSpPr/>
          <p:nvPr/>
        </p:nvSpPr>
        <p:spPr>
          <a:xfrm>
            <a:off x="5577840" y="914400"/>
            <a:ext cx="3474720" cy="548640"/>
          </a:xfrm>
          <a:prstGeom prst="rect">
            <a:avLst/>
          </a:prstGeom>
          <a:solidFill>
            <a:srgbClr val="0097A7"/>
          </a:solidFill>
          <a:ln w="12700">
            <a:solidFill>
              <a:srgbClr val="CCCCCC"/>
            </a:solidFill>
            <a:prstDash val="solid"/>
          </a:ln>
        </p:spPr>
        <p:txBody>
          <a:bodyPr/>
          <a:lstStyle/>
          <a:p>
            <a:endParaRPr lang="en-US"/>
          </a:p>
        </p:txBody>
      </p:sp>
      <p:sp>
        <p:nvSpPr>
          <p:cNvPr id="10" name="Text 8"/>
          <p:cNvSpPr/>
          <p:nvPr/>
        </p:nvSpPr>
        <p:spPr>
          <a:xfrm>
            <a:off x="5669280" y="950976"/>
            <a:ext cx="3291840" cy="475488"/>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Dictionary&lt;K,V&gt;</a:t>
            </a:r>
            <a:endParaRPr lang="en-US" sz="1200" dirty="0"/>
          </a:p>
        </p:txBody>
      </p:sp>
      <p:sp>
        <p:nvSpPr>
          <p:cNvPr id="11" name="Shape 9"/>
          <p:cNvSpPr/>
          <p:nvPr/>
        </p:nvSpPr>
        <p:spPr>
          <a:xfrm>
            <a:off x="274320" y="1463040"/>
            <a:ext cx="2560320" cy="548640"/>
          </a:xfrm>
          <a:prstGeom prst="rect">
            <a:avLst/>
          </a:prstGeom>
          <a:solidFill>
            <a:srgbClr val="EEF0FF"/>
          </a:solidFill>
          <a:ln w="12700">
            <a:solidFill>
              <a:srgbClr val="CCCCCC"/>
            </a:solidFill>
            <a:prstDash val="solid"/>
          </a:ln>
        </p:spPr>
        <p:txBody>
          <a:bodyPr/>
          <a:lstStyle/>
          <a:p>
            <a:endParaRPr lang="en-US"/>
          </a:p>
        </p:txBody>
      </p:sp>
      <p:sp>
        <p:nvSpPr>
          <p:cNvPr id="12" name="Text 10"/>
          <p:cNvSpPr/>
          <p:nvPr/>
        </p:nvSpPr>
        <p:spPr>
          <a:xfrm>
            <a:off x="365760" y="1499616"/>
            <a:ext cx="2377440" cy="47548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Add element</a:t>
            </a:r>
            <a:endParaRPr lang="en-US" sz="1100" dirty="0"/>
          </a:p>
        </p:txBody>
      </p:sp>
      <p:sp>
        <p:nvSpPr>
          <p:cNvPr id="13" name="Shape 11"/>
          <p:cNvSpPr/>
          <p:nvPr/>
        </p:nvSpPr>
        <p:spPr>
          <a:xfrm>
            <a:off x="2834640" y="1463040"/>
            <a:ext cx="2743200" cy="548640"/>
          </a:xfrm>
          <a:prstGeom prst="rect">
            <a:avLst/>
          </a:prstGeom>
          <a:solidFill>
            <a:srgbClr val="EEF0FF"/>
          </a:solidFill>
          <a:ln w="12700">
            <a:solidFill>
              <a:srgbClr val="CCCCCC"/>
            </a:solidFill>
            <a:prstDash val="solid"/>
          </a:ln>
        </p:spPr>
        <p:txBody>
          <a:bodyPr/>
          <a:lstStyle/>
          <a:p>
            <a:endParaRPr lang="en-US"/>
          </a:p>
        </p:txBody>
      </p:sp>
      <p:sp>
        <p:nvSpPr>
          <p:cNvPr id="14" name="Text 12"/>
          <p:cNvSpPr/>
          <p:nvPr/>
        </p:nvSpPr>
        <p:spPr>
          <a:xfrm>
            <a:off x="2926080" y="1499616"/>
            <a:ext cx="2560320" cy="47548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.Add(item)</a:t>
            </a:r>
            <a:endParaRPr lang="en-US" sz="1100" dirty="0"/>
          </a:p>
        </p:txBody>
      </p:sp>
      <p:sp>
        <p:nvSpPr>
          <p:cNvPr id="15" name="Shape 13"/>
          <p:cNvSpPr/>
          <p:nvPr/>
        </p:nvSpPr>
        <p:spPr>
          <a:xfrm>
            <a:off x="5577840" y="1463040"/>
            <a:ext cx="3474720" cy="548640"/>
          </a:xfrm>
          <a:prstGeom prst="rect">
            <a:avLst/>
          </a:prstGeom>
          <a:solidFill>
            <a:srgbClr val="EEF0FF"/>
          </a:solidFill>
          <a:ln w="12700">
            <a:solidFill>
              <a:srgbClr val="CCCCCC"/>
            </a:solidFill>
            <a:prstDash val="solid"/>
          </a:ln>
        </p:spPr>
        <p:txBody>
          <a:bodyPr/>
          <a:lstStyle/>
          <a:p>
            <a:endParaRPr lang="en-US"/>
          </a:p>
        </p:txBody>
      </p:sp>
      <p:sp>
        <p:nvSpPr>
          <p:cNvPr id="16" name="Text 14"/>
          <p:cNvSpPr/>
          <p:nvPr/>
        </p:nvSpPr>
        <p:spPr>
          <a:xfrm>
            <a:off x="5669280" y="1499616"/>
            <a:ext cx="3291840" cy="47548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.Add(key, value)</a:t>
            </a:r>
            <a:endParaRPr lang="en-US" sz="1100" dirty="0"/>
          </a:p>
        </p:txBody>
      </p:sp>
      <p:sp>
        <p:nvSpPr>
          <p:cNvPr id="17" name="Shape 15"/>
          <p:cNvSpPr/>
          <p:nvPr/>
        </p:nvSpPr>
        <p:spPr>
          <a:xfrm>
            <a:off x="274320" y="2011680"/>
            <a:ext cx="2560320" cy="548640"/>
          </a:xfrm>
          <a:prstGeom prst="rect">
            <a:avLst/>
          </a:prstGeom>
          <a:solidFill>
            <a:srgbClr val="FFFFFF"/>
          </a:solidFill>
          <a:ln w="12700">
            <a:solidFill>
              <a:srgbClr val="CCCCCC"/>
            </a:solidFill>
            <a:prstDash val="solid"/>
          </a:ln>
        </p:spPr>
        <p:txBody>
          <a:bodyPr/>
          <a:lstStyle/>
          <a:p>
            <a:endParaRPr lang="en-US"/>
          </a:p>
        </p:txBody>
      </p:sp>
      <p:sp>
        <p:nvSpPr>
          <p:cNvPr id="18" name="Text 16"/>
          <p:cNvSpPr/>
          <p:nvPr/>
        </p:nvSpPr>
        <p:spPr>
          <a:xfrm>
            <a:off x="365760" y="2048256"/>
            <a:ext cx="2377440" cy="47548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Find by ID</a:t>
            </a:r>
            <a:endParaRPr lang="en-US" sz="1100" dirty="0"/>
          </a:p>
        </p:txBody>
      </p:sp>
      <p:sp>
        <p:nvSpPr>
          <p:cNvPr id="19" name="Shape 17"/>
          <p:cNvSpPr/>
          <p:nvPr/>
        </p:nvSpPr>
        <p:spPr>
          <a:xfrm>
            <a:off x="2834640" y="2011680"/>
            <a:ext cx="2743200" cy="548640"/>
          </a:xfrm>
          <a:prstGeom prst="rect">
            <a:avLst/>
          </a:prstGeom>
          <a:solidFill>
            <a:srgbClr val="FFFFFF"/>
          </a:solidFill>
          <a:ln w="12700">
            <a:solidFill>
              <a:srgbClr val="CCCCCC"/>
            </a:solidFill>
            <a:prstDash val="solid"/>
          </a:ln>
        </p:spPr>
        <p:txBody>
          <a:bodyPr/>
          <a:lstStyle/>
          <a:p>
            <a:endParaRPr lang="en-US"/>
          </a:p>
        </p:txBody>
      </p:sp>
      <p:sp>
        <p:nvSpPr>
          <p:cNvPr id="20" name="Text 18"/>
          <p:cNvSpPr/>
          <p:nvPr/>
        </p:nvSpPr>
        <p:spPr>
          <a:xfrm>
            <a:off x="2926080" y="2048256"/>
            <a:ext cx="2560320" cy="47548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foreach + if  😓</a:t>
            </a:r>
            <a:endParaRPr lang="en-US" sz="1100" dirty="0"/>
          </a:p>
        </p:txBody>
      </p:sp>
      <p:sp>
        <p:nvSpPr>
          <p:cNvPr id="21" name="Shape 19"/>
          <p:cNvSpPr/>
          <p:nvPr/>
        </p:nvSpPr>
        <p:spPr>
          <a:xfrm>
            <a:off x="5577840" y="2011680"/>
            <a:ext cx="3474720" cy="548640"/>
          </a:xfrm>
          <a:prstGeom prst="rect">
            <a:avLst/>
          </a:prstGeom>
          <a:solidFill>
            <a:srgbClr val="FFFFFF"/>
          </a:solidFill>
          <a:ln w="12700">
            <a:solidFill>
              <a:srgbClr val="CCCCCC"/>
            </a:solidFill>
            <a:prstDash val="solid"/>
          </a:ln>
        </p:spPr>
        <p:txBody>
          <a:bodyPr/>
          <a:lstStyle/>
          <a:p>
            <a:endParaRPr lang="en-US"/>
          </a:p>
        </p:txBody>
      </p:sp>
      <p:sp>
        <p:nvSpPr>
          <p:cNvPr id="22" name="Text 20"/>
          <p:cNvSpPr/>
          <p:nvPr/>
        </p:nvSpPr>
        <p:spPr>
          <a:xfrm>
            <a:off x="5669280" y="2048256"/>
            <a:ext cx="3291840" cy="475488"/>
          </a:xfrm>
          <a:prstGeom prst="rect">
            <a:avLst/>
          </a:prstGeom>
          <a:noFill/>
          <a:ln/>
        </p:spPr>
        <p:txBody>
          <a:bodyPr wrap="square" lIns="0" tIns="0" rIns="0" bIns="0" rtlCol="0" anchor="ctr"/>
          <a:lstStyle/>
          <a:p>
            <a:pPr marL="0" indent="0" algn="l">
              <a:buNone/>
            </a:pPr>
            <a:r>
              <a:rPr lang="en-US" sz="1100" dirty="0">
                <a:solidFill>
                  <a:srgbClr val="0097A7"/>
                </a:solidFill>
                <a:latin typeface="Calibri" pitchFamily="34" charset="0"/>
                <a:ea typeface="Calibri" pitchFamily="34" charset="-122"/>
                <a:cs typeface="Calibri" pitchFamily="34" charset="-120"/>
              </a:rPr>
              <a:t>[key]  ⚡ direct</a:t>
            </a:r>
            <a:endParaRPr lang="en-US" sz="1100" dirty="0"/>
          </a:p>
        </p:txBody>
      </p:sp>
      <p:sp>
        <p:nvSpPr>
          <p:cNvPr id="23" name="Shape 21"/>
          <p:cNvSpPr/>
          <p:nvPr/>
        </p:nvSpPr>
        <p:spPr>
          <a:xfrm>
            <a:off x="274320" y="2560320"/>
            <a:ext cx="2560320" cy="548640"/>
          </a:xfrm>
          <a:prstGeom prst="rect">
            <a:avLst/>
          </a:prstGeom>
          <a:solidFill>
            <a:srgbClr val="EEF0FF"/>
          </a:solidFill>
          <a:ln w="12700">
            <a:solidFill>
              <a:srgbClr val="CCCCCC"/>
            </a:solidFill>
            <a:prstDash val="solid"/>
          </a:ln>
        </p:spPr>
        <p:txBody>
          <a:bodyPr/>
          <a:lstStyle/>
          <a:p>
            <a:endParaRPr lang="en-US"/>
          </a:p>
        </p:txBody>
      </p:sp>
      <p:sp>
        <p:nvSpPr>
          <p:cNvPr id="24" name="Text 22"/>
          <p:cNvSpPr/>
          <p:nvPr/>
        </p:nvSpPr>
        <p:spPr>
          <a:xfrm>
            <a:off x="365760" y="2596896"/>
            <a:ext cx="2377440" cy="47548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Search speed</a:t>
            </a:r>
            <a:endParaRPr lang="en-US" sz="1100" dirty="0"/>
          </a:p>
        </p:txBody>
      </p:sp>
      <p:sp>
        <p:nvSpPr>
          <p:cNvPr id="25" name="Shape 23"/>
          <p:cNvSpPr/>
          <p:nvPr/>
        </p:nvSpPr>
        <p:spPr>
          <a:xfrm>
            <a:off x="2834640" y="2560320"/>
            <a:ext cx="2743200" cy="548640"/>
          </a:xfrm>
          <a:prstGeom prst="rect">
            <a:avLst/>
          </a:prstGeom>
          <a:solidFill>
            <a:srgbClr val="EEF0FF"/>
          </a:solidFill>
          <a:ln w="12700">
            <a:solidFill>
              <a:srgbClr val="CCCCCC"/>
            </a:solidFill>
            <a:prstDash val="solid"/>
          </a:ln>
        </p:spPr>
        <p:txBody>
          <a:bodyPr/>
          <a:lstStyle/>
          <a:p>
            <a:endParaRPr lang="en-US"/>
          </a:p>
        </p:txBody>
      </p:sp>
      <p:sp>
        <p:nvSpPr>
          <p:cNvPr id="26" name="Text 24"/>
          <p:cNvSpPr/>
          <p:nvPr/>
        </p:nvSpPr>
        <p:spPr>
          <a:xfrm>
            <a:off x="2926080" y="2596896"/>
            <a:ext cx="2560320" cy="47548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O(n) — slow</a:t>
            </a:r>
            <a:endParaRPr lang="en-US" sz="1100" dirty="0"/>
          </a:p>
        </p:txBody>
      </p:sp>
      <p:sp>
        <p:nvSpPr>
          <p:cNvPr id="27" name="Shape 25"/>
          <p:cNvSpPr/>
          <p:nvPr/>
        </p:nvSpPr>
        <p:spPr>
          <a:xfrm>
            <a:off x="5577840" y="2560320"/>
            <a:ext cx="3474720" cy="548640"/>
          </a:xfrm>
          <a:prstGeom prst="rect">
            <a:avLst/>
          </a:prstGeom>
          <a:solidFill>
            <a:srgbClr val="EEF0FF"/>
          </a:solidFill>
          <a:ln w="12700">
            <a:solidFill>
              <a:srgbClr val="CCCCCC"/>
            </a:solidFill>
            <a:prstDash val="solid"/>
          </a:ln>
        </p:spPr>
        <p:txBody>
          <a:bodyPr/>
          <a:lstStyle/>
          <a:p>
            <a:endParaRPr lang="en-US"/>
          </a:p>
        </p:txBody>
      </p:sp>
      <p:sp>
        <p:nvSpPr>
          <p:cNvPr id="28" name="Text 26"/>
          <p:cNvSpPr/>
          <p:nvPr/>
        </p:nvSpPr>
        <p:spPr>
          <a:xfrm>
            <a:off x="5669280" y="2596896"/>
            <a:ext cx="3291840" cy="475488"/>
          </a:xfrm>
          <a:prstGeom prst="rect">
            <a:avLst/>
          </a:prstGeom>
          <a:noFill/>
          <a:ln/>
        </p:spPr>
        <p:txBody>
          <a:bodyPr wrap="square" lIns="0" tIns="0" rIns="0" bIns="0" rtlCol="0" anchor="ctr"/>
          <a:lstStyle/>
          <a:p>
            <a:pPr marL="0" indent="0" algn="l">
              <a:buNone/>
            </a:pPr>
            <a:r>
              <a:rPr lang="en-US" sz="1100" dirty="0">
                <a:solidFill>
                  <a:srgbClr val="0097A7"/>
                </a:solidFill>
                <a:latin typeface="Calibri" pitchFamily="34" charset="0"/>
                <a:ea typeface="Calibri" pitchFamily="34" charset="-122"/>
                <a:cs typeface="Calibri" pitchFamily="34" charset="-120"/>
              </a:rPr>
              <a:t>O(1) — instant</a:t>
            </a:r>
            <a:endParaRPr lang="en-US" sz="1100" dirty="0"/>
          </a:p>
        </p:txBody>
      </p:sp>
      <p:sp>
        <p:nvSpPr>
          <p:cNvPr id="29" name="Shape 27"/>
          <p:cNvSpPr/>
          <p:nvPr/>
        </p:nvSpPr>
        <p:spPr>
          <a:xfrm>
            <a:off x="274320" y="3108960"/>
            <a:ext cx="2560320" cy="548640"/>
          </a:xfrm>
          <a:prstGeom prst="rect">
            <a:avLst/>
          </a:prstGeom>
          <a:solidFill>
            <a:srgbClr val="FFFFFF"/>
          </a:solidFill>
          <a:ln w="12700">
            <a:solidFill>
              <a:srgbClr val="CCCCCC"/>
            </a:solidFill>
            <a:prstDash val="solid"/>
          </a:ln>
        </p:spPr>
        <p:txBody>
          <a:bodyPr/>
          <a:lstStyle/>
          <a:p>
            <a:endParaRPr lang="en-US"/>
          </a:p>
        </p:txBody>
      </p:sp>
      <p:sp>
        <p:nvSpPr>
          <p:cNvPr id="30" name="Text 28"/>
          <p:cNvSpPr/>
          <p:nvPr/>
        </p:nvSpPr>
        <p:spPr>
          <a:xfrm>
            <a:off x="365760" y="3145536"/>
            <a:ext cx="2377440" cy="47548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Indexing</a:t>
            </a:r>
            <a:endParaRPr lang="en-US" sz="1100" dirty="0"/>
          </a:p>
        </p:txBody>
      </p:sp>
      <p:sp>
        <p:nvSpPr>
          <p:cNvPr id="31" name="Shape 29"/>
          <p:cNvSpPr/>
          <p:nvPr/>
        </p:nvSpPr>
        <p:spPr>
          <a:xfrm>
            <a:off x="2834640" y="3108960"/>
            <a:ext cx="2743200" cy="548640"/>
          </a:xfrm>
          <a:prstGeom prst="rect">
            <a:avLst/>
          </a:prstGeom>
          <a:solidFill>
            <a:srgbClr val="FFFFFF"/>
          </a:solidFill>
          <a:ln w="12700">
            <a:solidFill>
              <a:srgbClr val="CCCCCC"/>
            </a:solidFill>
            <a:prstDash val="solid"/>
          </a:ln>
        </p:spPr>
        <p:txBody>
          <a:bodyPr/>
          <a:lstStyle/>
          <a:p>
            <a:endParaRPr lang="en-US"/>
          </a:p>
        </p:txBody>
      </p:sp>
      <p:sp>
        <p:nvSpPr>
          <p:cNvPr id="32" name="Text 30"/>
          <p:cNvSpPr/>
          <p:nvPr/>
        </p:nvSpPr>
        <p:spPr>
          <a:xfrm>
            <a:off x="2926080" y="3145536"/>
            <a:ext cx="2560320" cy="47548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by position</a:t>
            </a:r>
            <a:endParaRPr lang="en-US" sz="1100" dirty="0"/>
          </a:p>
        </p:txBody>
      </p:sp>
      <p:sp>
        <p:nvSpPr>
          <p:cNvPr id="33" name="Shape 31"/>
          <p:cNvSpPr/>
          <p:nvPr/>
        </p:nvSpPr>
        <p:spPr>
          <a:xfrm>
            <a:off x="5577840" y="3108960"/>
            <a:ext cx="3474720" cy="548640"/>
          </a:xfrm>
          <a:prstGeom prst="rect">
            <a:avLst/>
          </a:prstGeom>
          <a:solidFill>
            <a:srgbClr val="FFFFFF"/>
          </a:solidFill>
          <a:ln w="12700">
            <a:solidFill>
              <a:srgbClr val="CCCCCC"/>
            </a:solidFill>
            <a:prstDash val="solid"/>
          </a:ln>
        </p:spPr>
        <p:txBody>
          <a:bodyPr/>
          <a:lstStyle/>
          <a:p>
            <a:endParaRPr lang="en-US"/>
          </a:p>
        </p:txBody>
      </p:sp>
      <p:sp>
        <p:nvSpPr>
          <p:cNvPr id="34" name="Text 32"/>
          <p:cNvSpPr/>
          <p:nvPr/>
        </p:nvSpPr>
        <p:spPr>
          <a:xfrm>
            <a:off x="5669280" y="3145536"/>
            <a:ext cx="3291840" cy="475488"/>
          </a:xfrm>
          <a:prstGeom prst="rect">
            <a:avLst/>
          </a:prstGeom>
          <a:noFill/>
          <a:ln/>
        </p:spPr>
        <p:txBody>
          <a:bodyPr wrap="square" lIns="0" tIns="0" rIns="0" bIns="0" rtlCol="0" anchor="ctr"/>
          <a:lstStyle/>
          <a:p>
            <a:pPr marL="0" indent="0" algn="l">
              <a:buNone/>
            </a:pPr>
            <a:r>
              <a:rPr lang="en-US" sz="1100" dirty="0">
                <a:solidFill>
                  <a:srgbClr val="0097A7"/>
                </a:solidFill>
                <a:latin typeface="Calibri" pitchFamily="34" charset="0"/>
                <a:ea typeface="Calibri" pitchFamily="34" charset="-122"/>
                <a:cs typeface="Calibri" pitchFamily="34" charset="-120"/>
              </a:rPr>
              <a:t>by key (ID)</a:t>
            </a:r>
            <a:endParaRPr lang="en-US" sz="1100" dirty="0"/>
          </a:p>
        </p:txBody>
      </p:sp>
      <p:sp>
        <p:nvSpPr>
          <p:cNvPr id="35" name="Shape 33"/>
          <p:cNvSpPr/>
          <p:nvPr/>
        </p:nvSpPr>
        <p:spPr>
          <a:xfrm>
            <a:off x="274320" y="3657600"/>
            <a:ext cx="2560320" cy="731520"/>
          </a:xfrm>
          <a:prstGeom prst="rect">
            <a:avLst/>
          </a:prstGeom>
          <a:solidFill>
            <a:srgbClr val="EEF0FF"/>
          </a:solidFill>
          <a:ln w="12700">
            <a:solidFill>
              <a:srgbClr val="CCCCCC"/>
            </a:solidFill>
            <a:prstDash val="solid"/>
          </a:ln>
        </p:spPr>
        <p:txBody>
          <a:bodyPr/>
          <a:lstStyle/>
          <a:p>
            <a:endParaRPr lang="en-US"/>
          </a:p>
        </p:txBody>
      </p:sp>
      <p:sp>
        <p:nvSpPr>
          <p:cNvPr id="36" name="Text 34"/>
          <p:cNvSpPr/>
          <p:nvPr/>
        </p:nvSpPr>
        <p:spPr>
          <a:xfrm>
            <a:off x="365760" y="3694176"/>
            <a:ext cx="2377440" cy="65836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Use when...</a:t>
            </a:r>
            <a:endParaRPr lang="en-US" sz="1100" dirty="0"/>
          </a:p>
        </p:txBody>
      </p:sp>
      <p:sp>
        <p:nvSpPr>
          <p:cNvPr id="37" name="Shape 35"/>
          <p:cNvSpPr/>
          <p:nvPr/>
        </p:nvSpPr>
        <p:spPr>
          <a:xfrm>
            <a:off x="2834640" y="3657600"/>
            <a:ext cx="2743200" cy="731520"/>
          </a:xfrm>
          <a:prstGeom prst="rect">
            <a:avLst/>
          </a:prstGeom>
          <a:solidFill>
            <a:srgbClr val="EEF0FF"/>
          </a:solidFill>
          <a:ln w="12700">
            <a:solidFill>
              <a:srgbClr val="CCCCCC"/>
            </a:solidFill>
            <a:prstDash val="solid"/>
          </a:ln>
        </p:spPr>
        <p:txBody>
          <a:bodyPr/>
          <a:lstStyle/>
          <a:p>
            <a:endParaRPr lang="en-US"/>
          </a:p>
        </p:txBody>
      </p:sp>
      <p:sp>
        <p:nvSpPr>
          <p:cNvPr id="38" name="Text 36"/>
          <p:cNvSpPr/>
          <p:nvPr/>
        </p:nvSpPr>
        <p:spPr>
          <a:xfrm>
            <a:off x="2926080" y="3694176"/>
            <a:ext cx="2560320" cy="65836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order matters, no key needed</a:t>
            </a:r>
            <a:endParaRPr lang="en-US" sz="1100" dirty="0"/>
          </a:p>
        </p:txBody>
      </p:sp>
      <p:sp>
        <p:nvSpPr>
          <p:cNvPr id="39" name="Shape 37"/>
          <p:cNvSpPr/>
          <p:nvPr/>
        </p:nvSpPr>
        <p:spPr>
          <a:xfrm>
            <a:off x="5577840" y="3657600"/>
            <a:ext cx="3474720" cy="731520"/>
          </a:xfrm>
          <a:prstGeom prst="rect">
            <a:avLst/>
          </a:prstGeom>
          <a:solidFill>
            <a:srgbClr val="EEF0FF"/>
          </a:solidFill>
          <a:ln w="12700">
            <a:solidFill>
              <a:srgbClr val="CCCCCC"/>
            </a:solidFill>
            <a:prstDash val="solid"/>
          </a:ln>
        </p:spPr>
        <p:txBody>
          <a:bodyPr/>
          <a:lstStyle/>
          <a:p>
            <a:endParaRPr lang="en-US"/>
          </a:p>
        </p:txBody>
      </p:sp>
      <p:sp>
        <p:nvSpPr>
          <p:cNvPr id="40" name="Text 38"/>
          <p:cNvSpPr/>
          <p:nvPr/>
        </p:nvSpPr>
        <p:spPr>
          <a:xfrm>
            <a:off x="5669280" y="3694176"/>
            <a:ext cx="3291840" cy="658368"/>
          </a:xfrm>
          <a:prstGeom prst="rect">
            <a:avLst/>
          </a:prstGeom>
          <a:noFill/>
          <a:ln/>
        </p:spPr>
        <p:txBody>
          <a:bodyPr wrap="square" lIns="0" tIns="0" rIns="0" bIns="0" rtlCol="0" anchor="ctr"/>
          <a:lstStyle/>
          <a:p>
            <a:pPr marL="0" indent="0" algn="l">
              <a:buNone/>
            </a:pPr>
            <a:r>
              <a:rPr lang="en-US" sz="1100" dirty="0">
                <a:solidFill>
                  <a:srgbClr val="37474F"/>
                </a:solidFill>
                <a:latin typeface="Calibri" pitchFamily="34" charset="0"/>
                <a:ea typeface="Calibri" pitchFamily="34" charset="-122"/>
                <a:cs typeface="Calibri" pitchFamily="34" charset="-120"/>
              </a:rPr>
              <a:t>need to find by ID / code / key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GetById: O(n) vs O(1)</a:t>
            </a:r>
            <a:endParaRPr lang="en-US" sz="2200" dirty="0"/>
          </a:p>
        </p:txBody>
      </p:sp>
      <p:sp>
        <p:nvSpPr>
          <p:cNvPr id="5" name="Shape 3"/>
          <p:cNvSpPr/>
          <p:nvPr/>
        </p:nvSpPr>
        <p:spPr>
          <a:xfrm>
            <a:off x="274320" y="1005840"/>
            <a:ext cx="4023360" cy="2286000"/>
          </a:xfrm>
          <a:prstGeom prst="rect">
            <a:avLst/>
          </a:prstGeom>
          <a:solidFill>
            <a:srgbClr val="FFEBEE"/>
          </a:solidFill>
          <a:ln w="12700">
            <a:solidFill>
              <a:srgbClr val="C62828"/>
            </a:solidFill>
            <a:prstDash val="solid"/>
          </a:ln>
        </p:spPr>
        <p:txBody>
          <a:bodyPr/>
          <a:lstStyle/>
          <a:p>
            <a:endParaRPr lang="en-US"/>
          </a:p>
        </p:txBody>
      </p:sp>
      <p:sp>
        <p:nvSpPr>
          <p:cNvPr id="6" name="Text 4"/>
          <p:cNvSpPr/>
          <p:nvPr/>
        </p:nvSpPr>
        <p:spPr>
          <a:xfrm>
            <a:off x="365760" y="1051560"/>
            <a:ext cx="3840480" cy="365760"/>
          </a:xfrm>
          <a:prstGeom prst="rect">
            <a:avLst/>
          </a:prstGeom>
          <a:noFill/>
          <a:ln/>
        </p:spPr>
        <p:txBody>
          <a:bodyPr wrap="square" lIns="0" tIns="0" rIns="0" bIns="0" rtlCol="0" anchor="ctr"/>
          <a:lstStyle/>
          <a:p>
            <a:pPr marL="0" indent="0">
              <a:buNone/>
            </a:pPr>
            <a:r>
              <a:rPr lang="en-US" sz="1300" b="1" dirty="0">
                <a:solidFill>
                  <a:srgbClr val="B71C1C"/>
                </a:solidFill>
                <a:latin typeface="Calibri" pitchFamily="34" charset="0"/>
                <a:ea typeface="Calibri" pitchFamily="34" charset="-122"/>
                <a:cs typeface="Calibri" pitchFamily="34" charset="-120"/>
              </a:rPr>
              <a:t>List&lt;T&gt;  —  O(n)  😓</a:t>
            </a:r>
            <a:endParaRPr lang="en-US" sz="1300" dirty="0"/>
          </a:p>
        </p:txBody>
      </p:sp>
      <p:sp>
        <p:nvSpPr>
          <p:cNvPr id="7" name="Text 5"/>
          <p:cNvSpPr/>
          <p:nvPr/>
        </p:nvSpPr>
        <p:spPr>
          <a:xfrm>
            <a:off x="365760" y="1463040"/>
            <a:ext cx="3749040" cy="1645920"/>
          </a:xfrm>
          <a:prstGeom prst="rect">
            <a:avLst/>
          </a:prstGeom>
          <a:noFill/>
          <a:ln/>
        </p:spPr>
        <p:txBody>
          <a:bodyPr wrap="square" lIns="0" tIns="0" rIns="0" bIns="0" rtlCol="0" anchor="ctr"/>
          <a:lstStyle/>
          <a:p>
            <a:pPr marL="0" indent="0">
              <a:buNone/>
            </a:pPr>
            <a:r>
              <a:rPr lang="en-US" sz="1000" dirty="0">
                <a:solidFill>
                  <a:srgbClr val="37474F"/>
                </a:solidFill>
                <a:latin typeface="Courier New" pitchFamily="34" charset="0"/>
                <a:ea typeface="Courier New" pitchFamily="34" charset="-122"/>
                <a:cs typeface="Courier New" pitchFamily="34" charset="-120"/>
              </a:rPr>
              <a:t>// 1000 students = up to 1000 steps!</a:t>
            </a:r>
            <a:endParaRPr lang="en-US" sz="1000" dirty="0"/>
          </a:p>
          <a:p>
            <a:pPr marL="0" indent="0">
              <a:buNone/>
            </a:pPr>
            <a:r>
              <a:rPr lang="en-US" sz="1000" dirty="0">
                <a:solidFill>
                  <a:srgbClr val="37474F"/>
                </a:solidFill>
                <a:latin typeface="Courier New" pitchFamily="34" charset="0"/>
                <a:ea typeface="Courier New" pitchFamily="34" charset="-122"/>
                <a:cs typeface="Courier New" pitchFamily="34" charset="-120"/>
              </a:rPr>
              <a:t>foreach (var s in _students)</a:t>
            </a:r>
            <a:endParaRPr lang="en-US" sz="1000" dirty="0"/>
          </a:p>
          <a:p>
            <a:pPr marL="0" indent="0">
              <a:buNone/>
            </a:pPr>
            <a:r>
              <a:rPr lang="en-US" sz="1000" dirty="0">
                <a:solidFill>
                  <a:srgbClr val="37474F"/>
                </a:solidFill>
                <a:latin typeface="Courier New" pitchFamily="34" charset="0"/>
                <a:ea typeface="Courier New" pitchFamily="34" charset="-122"/>
                <a:cs typeface="Courier New" pitchFamily="34" charset="-120"/>
              </a:rPr>
              <a:t>{</a:t>
            </a:r>
            <a:endParaRPr lang="en-US" sz="1000" dirty="0"/>
          </a:p>
          <a:p>
            <a:pPr marL="0" indent="0">
              <a:buNone/>
            </a:pPr>
            <a:r>
              <a:rPr lang="en-US" sz="1000" dirty="0">
                <a:solidFill>
                  <a:srgbClr val="37474F"/>
                </a:solidFill>
                <a:latin typeface="Courier New" pitchFamily="34" charset="0"/>
                <a:ea typeface="Courier New" pitchFamily="34" charset="-122"/>
                <a:cs typeface="Courier New" pitchFamily="34" charset="-120"/>
              </a:rPr>
              <a:t>    if (s.Id == id)</a:t>
            </a:r>
            <a:endParaRPr lang="en-US" sz="1000" dirty="0"/>
          </a:p>
          <a:p>
            <a:pPr marL="0" indent="0">
              <a:buNone/>
            </a:pPr>
            <a:r>
              <a:rPr lang="en-US" sz="1000" dirty="0">
                <a:solidFill>
                  <a:srgbClr val="37474F"/>
                </a:solidFill>
                <a:latin typeface="Courier New" pitchFamily="34" charset="0"/>
                <a:ea typeface="Courier New" pitchFamily="34" charset="-122"/>
                <a:cs typeface="Courier New" pitchFamily="34" charset="-120"/>
              </a:rPr>
              <a:t>        return s;</a:t>
            </a:r>
            <a:endParaRPr lang="en-US" sz="1000" dirty="0"/>
          </a:p>
          <a:p>
            <a:pPr marL="0" indent="0">
              <a:buNone/>
            </a:pPr>
            <a:r>
              <a:rPr lang="en-US" sz="1000" dirty="0">
                <a:solidFill>
                  <a:srgbClr val="37474F"/>
                </a:solidFill>
                <a:latin typeface="Courier New" pitchFamily="34" charset="0"/>
                <a:ea typeface="Courier New" pitchFamily="34" charset="-122"/>
                <a:cs typeface="Courier New" pitchFamily="34" charset="-120"/>
              </a:rPr>
              <a:t>}</a:t>
            </a:r>
            <a:endParaRPr lang="en-US" sz="1000" dirty="0"/>
          </a:p>
          <a:p>
            <a:pPr marL="0" indent="0">
              <a:buNone/>
            </a:pPr>
            <a:r>
              <a:rPr lang="en-US" sz="1000" dirty="0">
                <a:solidFill>
                  <a:srgbClr val="37474F"/>
                </a:solidFill>
                <a:latin typeface="Courier New" pitchFamily="34" charset="0"/>
                <a:ea typeface="Courier New" pitchFamily="34" charset="-122"/>
                <a:cs typeface="Courier New" pitchFamily="34" charset="-120"/>
              </a:rPr>
              <a:t>return null;</a:t>
            </a:r>
            <a:endParaRPr lang="en-US" sz="1000" dirty="0"/>
          </a:p>
        </p:txBody>
      </p:sp>
      <p:sp>
        <p:nvSpPr>
          <p:cNvPr id="8" name="Shape 6"/>
          <p:cNvSpPr/>
          <p:nvPr/>
        </p:nvSpPr>
        <p:spPr>
          <a:xfrm>
            <a:off x="4572000" y="1005840"/>
            <a:ext cx="4206240" cy="2286000"/>
          </a:xfrm>
          <a:prstGeom prst="rect">
            <a:avLst/>
          </a:prstGeom>
          <a:solidFill>
            <a:srgbClr val="E8F5E9"/>
          </a:solidFill>
          <a:ln w="12700">
            <a:solidFill>
              <a:srgbClr val="2E7D32"/>
            </a:solidFill>
            <a:prstDash val="solid"/>
          </a:ln>
        </p:spPr>
        <p:txBody>
          <a:bodyPr/>
          <a:lstStyle/>
          <a:p>
            <a:endParaRPr lang="en-US"/>
          </a:p>
        </p:txBody>
      </p:sp>
      <p:sp>
        <p:nvSpPr>
          <p:cNvPr id="9" name="Text 7"/>
          <p:cNvSpPr/>
          <p:nvPr/>
        </p:nvSpPr>
        <p:spPr>
          <a:xfrm>
            <a:off x="4663440" y="1051560"/>
            <a:ext cx="4023360" cy="365760"/>
          </a:xfrm>
          <a:prstGeom prst="rect">
            <a:avLst/>
          </a:prstGeom>
          <a:noFill/>
          <a:ln/>
        </p:spPr>
        <p:txBody>
          <a:bodyPr wrap="square" lIns="0" tIns="0" rIns="0" bIns="0" rtlCol="0" anchor="ctr"/>
          <a:lstStyle/>
          <a:p>
            <a:pPr marL="0" indent="0">
              <a:buNone/>
            </a:pPr>
            <a:r>
              <a:rPr lang="en-US" sz="1300" b="1" dirty="0">
                <a:solidFill>
                  <a:srgbClr val="1B5E20"/>
                </a:solidFill>
                <a:latin typeface="Calibri" pitchFamily="34" charset="0"/>
                <a:ea typeface="Calibri" pitchFamily="34" charset="-122"/>
                <a:cs typeface="Calibri" pitchFamily="34" charset="-120"/>
              </a:rPr>
              <a:t>Dictionary&lt;K,V&gt;  —  O(1)  ⚡</a:t>
            </a:r>
            <a:endParaRPr lang="en-US" sz="1300" dirty="0"/>
          </a:p>
        </p:txBody>
      </p:sp>
      <p:sp>
        <p:nvSpPr>
          <p:cNvPr id="10" name="Text 8"/>
          <p:cNvSpPr/>
          <p:nvPr/>
        </p:nvSpPr>
        <p:spPr>
          <a:xfrm>
            <a:off x="4663440" y="1463040"/>
            <a:ext cx="3931920" cy="1645920"/>
          </a:xfrm>
          <a:prstGeom prst="rect">
            <a:avLst/>
          </a:prstGeom>
          <a:noFill/>
          <a:ln/>
        </p:spPr>
        <p:txBody>
          <a:bodyPr wrap="square" lIns="0" tIns="0" rIns="0" bIns="0" rtlCol="0" anchor="ctr"/>
          <a:lstStyle/>
          <a:p>
            <a:pPr marL="0" indent="0">
              <a:buNone/>
            </a:pPr>
            <a:r>
              <a:rPr lang="en-US" sz="1000" dirty="0">
                <a:solidFill>
                  <a:srgbClr val="37474F"/>
                </a:solidFill>
                <a:latin typeface="Courier New" pitchFamily="34" charset="0"/>
                <a:ea typeface="Courier New" pitchFamily="34" charset="-122"/>
                <a:cs typeface="Courier New" pitchFamily="34" charset="-120"/>
              </a:rPr>
              <a:t>// Always 1 step, regardless of size!
_students.TryGetValue(id, out var s);
return s; // or null
</a:t>
            </a:r>
            <a:endParaRPr lang="en-US" sz="1000" dirty="0"/>
          </a:p>
        </p:txBody>
      </p:sp>
      <p:sp>
        <p:nvSpPr>
          <p:cNvPr id="11" name="Text 9"/>
          <p:cNvSpPr/>
          <p:nvPr/>
        </p:nvSpPr>
        <p:spPr>
          <a:xfrm>
            <a:off x="274320" y="3520440"/>
            <a:ext cx="8595360" cy="411480"/>
          </a:xfrm>
          <a:prstGeom prst="rect">
            <a:avLst/>
          </a:prstGeom>
          <a:noFill/>
          <a:ln/>
        </p:spPr>
        <p:txBody>
          <a:bodyPr wrap="square" lIns="0" tIns="0" rIns="0" bIns="0" rtlCol="0" anchor="ctr"/>
          <a:lstStyle/>
          <a:p>
            <a:pPr marL="0" indent="0" algn="ctr">
              <a:buNone/>
            </a:pPr>
            <a:r>
              <a:rPr lang="en-US" sz="1400" b="1" dirty="0">
                <a:solidFill>
                  <a:srgbClr val="1A237E"/>
                </a:solidFill>
                <a:latin typeface="Calibri" pitchFamily="34" charset="0"/>
                <a:ea typeface="Calibri" pitchFamily="34" charset="-122"/>
                <a:cs typeface="Calibri" pitchFamily="34" charset="-120"/>
              </a:rPr>
              <a:t>1,000 students: List = up to 1,000 steps       Dictionary = always 1 step</a:t>
            </a:r>
            <a:endParaRPr lang="en-US" sz="1400" dirty="0"/>
          </a:p>
        </p:txBody>
      </p:sp>
      <p:sp>
        <p:nvSpPr>
          <p:cNvPr id="12" name="Text 10"/>
          <p:cNvSpPr/>
          <p:nvPr/>
        </p:nvSpPr>
        <p:spPr>
          <a:xfrm>
            <a:off x="274320" y="3977640"/>
            <a:ext cx="8595360" cy="365760"/>
          </a:xfrm>
          <a:prstGeom prst="rect">
            <a:avLst/>
          </a:prstGeom>
          <a:noFill/>
          <a:ln/>
        </p:spPr>
        <p:txBody>
          <a:bodyPr wrap="square" lIns="0" tIns="0" rIns="0" bIns="0" rtlCol="0" anchor="ctr"/>
          <a:lstStyle/>
          <a:p>
            <a:pPr marL="0" indent="0" algn="ctr">
              <a:buNone/>
            </a:pPr>
            <a:r>
              <a:rPr lang="en-US" sz="1200" dirty="0">
                <a:solidFill>
                  <a:srgbClr val="0097A7"/>
                </a:solidFill>
                <a:latin typeface="Calibri" pitchFamily="34" charset="0"/>
                <a:ea typeface="Calibri" pitchFamily="34" charset="-122"/>
                <a:cs typeface="Calibri" pitchFamily="34" charset="-120"/>
              </a:rPr>
              <a:t>Use Dictionary internally in Repository, return IReadOnlyList externally!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Dictionary in Repository — Code</a:t>
            </a:r>
            <a:endParaRPr lang="en-US" sz="2200" dirty="0"/>
          </a:p>
        </p:txBody>
      </p:sp>
      <p:sp>
        <p:nvSpPr>
          <p:cNvPr id="5" name="Shape 3"/>
          <p:cNvSpPr/>
          <p:nvPr/>
        </p:nvSpPr>
        <p:spPr>
          <a:xfrm>
            <a:off x="274320" y="914400"/>
            <a:ext cx="8595360" cy="320040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6" name="Text 4"/>
          <p:cNvSpPr/>
          <p:nvPr/>
        </p:nvSpPr>
        <p:spPr>
          <a:xfrm>
            <a:off x="438912" y="1024128"/>
            <a:ext cx="8266176" cy="298094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public class StudentRepository : IStudentRepository</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 Dictionary&lt;raktas, studentas&gt; — raktas yra 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private Dictionary&lt;int, Student&gt; _students = new();</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public void Add(Student student)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=&gt; _students[student.Id] = student;   // O(1)</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public Student? GetById(int 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=&gt; _students.TryGetValue(id, out var s) ? s : null; // O(1)</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public IReadOnlyList&lt;Student&gt; GetAll()</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=&gt; _students.Values.ToList();          // grąžiname sąrašą</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public bool Remove(int 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=&gt; _students.Remove(id);              // O(1)</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p:txBody>
      </p:sp>
      <p:sp>
        <p:nvSpPr>
          <p:cNvPr id="7" name="Shape 5"/>
          <p:cNvSpPr/>
          <p:nvPr/>
        </p:nvSpPr>
        <p:spPr>
          <a:xfrm>
            <a:off x="274320" y="4279392"/>
            <a:ext cx="54864" cy="292608"/>
          </a:xfrm>
          <a:prstGeom prst="rect">
            <a:avLst/>
          </a:prstGeom>
          <a:solidFill>
            <a:srgbClr val="0097A7"/>
          </a:solidFill>
          <a:ln w="12700">
            <a:solidFill>
              <a:srgbClr val="0097A7"/>
            </a:solidFill>
            <a:prstDash val="solid"/>
          </a:ln>
        </p:spPr>
        <p:txBody>
          <a:bodyPr/>
          <a:lstStyle/>
          <a:p>
            <a:endParaRPr lang="en-US"/>
          </a:p>
        </p:txBody>
      </p:sp>
      <p:sp>
        <p:nvSpPr>
          <p:cNvPr id="8" name="Text 6"/>
          <p:cNvSpPr/>
          <p:nvPr/>
        </p:nvSpPr>
        <p:spPr>
          <a:xfrm>
            <a:off x="457200" y="4297680"/>
            <a:ext cx="8321040" cy="274320"/>
          </a:xfrm>
          <a:prstGeom prst="rect">
            <a:avLst/>
          </a:prstGeom>
          <a:noFill/>
          <a:ln/>
        </p:spPr>
        <p:txBody>
          <a:bodyPr wrap="square" lIns="0" tIns="0" rIns="0" bIns="0" rtlCol="0" anchor="ctr"/>
          <a:lstStyle/>
          <a:p>
            <a:pPr marL="0" indent="0">
              <a:buNone/>
            </a:pPr>
            <a:r>
              <a:rPr lang="en-US" sz="1200" dirty="0">
                <a:solidFill>
                  <a:srgbClr val="37474F"/>
                </a:solidFill>
                <a:latin typeface="Calibri" pitchFamily="34" charset="0"/>
                <a:ea typeface="Calibri" pitchFamily="34" charset="-122"/>
                <a:cs typeface="Calibri" pitchFamily="34" charset="-120"/>
              </a:rPr>
              <a:t>private — nobody outside accesses the dictionary directly</a:t>
            </a:r>
            <a:endParaRPr lang="en-US" sz="1200" dirty="0"/>
          </a:p>
        </p:txBody>
      </p:sp>
      <p:sp>
        <p:nvSpPr>
          <p:cNvPr id="9" name="Shape 7"/>
          <p:cNvSpPr/>
          <p:nvPr/>
        </p:nvSpPr>
        <p:spPr>
          <a:xfrm>
            <a:off x="274320" y="4663440"/>
            <a:ext cx="54864" cy="292608"/>
          </a:xfrm>
          <a:prstGeom prst="rect">
            <a:avLst/>
          </a:prstGeom>
          <a:solidFill>
            <a:srgbClr val="0097A7"/>
          </a:solidFill>
          <a:ln w="12700">
            <a:solidFill>
              <a:srgbClr val="0097A7"/>
            </a:solidFill>
            <a:prstDash val="solid"/>
          </a:ln>
        </p:spPr>
        <p:txBody>
          <a:bodyPr/>
          <a:lstStyle/>
          <a:p>
            <a:endParaRPr lang="en-US"/>
          </a:p>
        </p:txBody>
      </p:sp>
      <p:sp>
        <p:nvSpPr>
          <p:cNvPr id="10" name="Text 8"/>
          <p:cNvSpPr/>
          <p:nvPr/>
        </p:nvSpPr>
        <p:spPr>
          <a:xfrm>
            <a:off x="457200" y="4681728"/>
            <a:ext cx="8321040" cy="274320"/>
          </a:xfrm>
          <a:prstGeom prst="rect">
            <a:avLst/>
          </a:prstGeom>
          <a:noFill/>
          <a:ln/>
        </p:spPr>
        <p:txBody>
          <a:bodyPr wrap="square" lIns="0" tIns="0" rIns="0" bIns="0" rtlCol="0" anchor="ctr"/>
          <a:lstStyle/>
          <a:p>
            <a:pPr marL="0" indent="0">
              <a:buNone/>
            </a:pPr>
            <a:r>
              <a:rPr lang="en-US" sz="1200" dirty="0">
                <a:solidFill>
                  <a:srgbClr val="37474F"/>
                </a:solidFill>
                <a:latin typeface="Calibri" pitchFamily="34" charset="0"/>
                <a:ea typeface="Calibri" pitchFamily="34" charset="-122"/>
                <a:cs typeface="Calibri" pitchFamily="34" charset="-120"/>
              </a:rPr>
              <a:t>IReadOnlyList returned by GetAll() — protects from external modification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37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365760" y="1920240"/>
            <a:ext cx="8503920" cy="128016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3. IEnumerable&lt;T&gt;</a:t>
            </a:r>
            <a:endParaRPr lang="en-US" sz="4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What Does foreach Actually Do?</a:t>
            </a:r>
            <a:endParaRPr lang="en-US" sz="2200" dirty="0"/>
          </a:p>
        </p:txBody>
      </p:sp>
      <p:sp>
        <p:nvSpPr>
          <p:cNvPr id="5" name="Shape 3"/>
          <p:cNvSpPr/>
          <p:nvPr/>
        </p:nvSpPr>
        <p:spPr>
          <a:xfrm>
            <a:off x="274320" y="914400"/>
            <a:ext cx="4023360" cy="237744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6" name="Text 4"/>
          <p:cNvSpPr/>
          <p:nvPr/>
        </p:nvSpPr>
        <p:spPr>
          <a:xfrm>
            <a:off x="438912" y="1024128"/>
            <a:ext cx="3694176" cy="215798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What you write:
foreach (var student in students)
{
    Console.WriteLine(student.Name);
}
</a:t>
            </a:r>
            <a:endParaRPr lang="en-US" sz="1150" dirty="0"/>
          </a:p>
        </p:txBody>
      </p:sp>
      <p:sp>
        <p:nvSpPr>
          <p:cNvPr id="7" name="Text 5"/>
          <p:cNvSpPr/>
          <p:nvPr/>
        </p:nvSpPr>
        <p:spPr>
          <a:xfrm>
            <a:off x="4389120" y="1920240"/>
            <a:ext cx="365760" cy="457200"/>
          </a:xfrm>
          <a:prstGeom prst="rect">
            <a:avLst/>
          </a:prstGeom>
          <a:noFill/>
          <a:ln/>
        </p:spPr>
        <p:txBody>
          <a:bodyPr wrap="square" lIns="0" tIns="0" rIns="0" bIns="0" rtlCol="0" anchor="ctr"/>
          <a:lstStyle/>
          <a:p>
            <a:pPr marL="0" indent="0" algn="ctr">
              <a:buNone/>
            </a:pPr>
            <a:r>
              <a:rPr lang="en-US" sz="2400" dirty="0">
                <a:solidFill>
                  <a:srgbClr val="0097A7"/>
                </a:solidFill>
              </a:rPr>
              <a:t>→</a:t>
            </a:r>
            <a:endParaRPr lang="en-US" sz="2400" dirty="0"/>
          </a:p>
        </p:txBody>
      </p:sp>
      <p:sp>
        <p:nvSpPr>
          <p:cNvPr id="8" name="Shape 6"/>
          <p:cNvSpPr/>
          <p:nvPr/>
        </p:nvSpPr>
        <p:spPr>
          <a:xfrm>
            <a:off x="4846320" y="914400"/>
            <a:ext cx="4023360" cy="237744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9" name="Text 7"/>
          <p:cNvSpPr/>
          <p:nvPr/>
        </p:nvSpPr>
        <p:spPr>
          <a:xfrm>
            <a:off x="5010912" y="1024128"/>
            <a:ext cx="3694176" cy="215798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What C# actually executes: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enumerator = students.GetEnumerator();</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while (enumerator.MoveNext())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var student = enumerator.Current;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Console.WriteLine(student.Name);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Pattern: Iterator Design Principle</a:t>
            </a:r>
            <a:endParaRPr lang="en-US" sz="1150" dirty="0"/>
          </a:p>
        </p:txBody>
      </p:sp>
      <p:sp>
        <p:nvSpPr>
          <p:cNvPr id="10" name="Text 8"/>
          <p:cNvSpPr/>
          <p:nvPr/>
        </p:nvSpPr>
        <p:spPr>
          <a:xfrm>
            <a:off x="274320" y="3474720"/>
            <a:ext cx="8595360" cy="731520"/>
          </a:xfrm>
          <a:prstGeom prst="rect">
            <a:avLst/>
          </a:prstGeom>
          <a:noFill/>
          <a:ln/>
        </p:spPr>
        <p:txBody>
          <a:bodyPr wrap="square" lIns="0" tIns="0" rIns="0" bIns="0" rtlCol="0" anchor="ctr"/>
          <a:lstStyle/>
          <a:p>
            <a:pPr marL="0" indent="0">
              <a:buNone/>
            </a:pPr>
            <a:r>
              <a:rPr lang="en-US" sz="1300" dirty="0">
                <a:solidFill>
                  <a:srgbClr val="37474F"/>
                </a:solidFill>
                <a:latin typeface="Calibri" pitchFamily="34" charset="0"/>
                <a:ea typeface="Calibri" pitchFamily="34" charset="-122"/>
                <a:cs typeface="Calibri" pitchFamily="34" charset="-120"/>
              </a:rPr>
              <a:t>Any class that implements IEnumerable&lt;T&gt; can be used in a foreach loop.</a:t>
            </a:r>
            <a:endParaRPr lang="en-US" sz="1300" dirty="0"/>
          </a:p>
          <a:p>
            <a:pPr marL="0" indent="0">
              <a:buNone/>
            </a:pPr>
            <a:r>
              <a:rPr lang="en-US" sz="1300" dirty="0">
                <a:solidFill>
                  <a:srgbClr val="37474F"/>
                </a:solidFill>
                <a:latin typeface="Calibri" pitchFamily="34" charset="0"/>
                <a:ea typeface="Calibri" pitchFamily="34" charset="-122"/>
                <a:cs typeface="Calibri" pitchFamily="34" charset="-120"/>
              </a:rPr>
              <a:t>List&lt;T&gt;, Dictionary&lt;K,V&gt;.Values, arrays — all implement IEnumerable&lt;T&gt;.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IEnumerable · IReadOnlyList · List — Comparison</a:t>
            </a:r>
            <a:endParaRPr lang="en-US" sz="2200" dirty="0"/>
          </a:p>
        </p:txBody>
      </p:sp>
      <p:sp>
        <p:nvSpPr>
          <p:cNvPr id="5" name="Shape 3"/>
          <p:cNvSpPr/>
          <p:nvPr/>
        </p:nvSpPr>
        <p:spPr>
          <a:xfrm>
            <a:off x="274320" y="960120"/>
            <a:ext cx="2560320" cy="585216"/>
          </a:xfrm>
          <a:prstGeom prst="rect">
            <a:avLst/>
          </a:prstGeom>
          <a:solidFill>
            <a:srgbClr val="1A237E"/>
          </a:solidFill>
          <a:ln w="12700">
            <a:solidFill>
              <a:srgbClr val="CCCCCC"/>
            </a:solidFill>
            <a:prstDash val="solid"/>
          </a:ln>
        </p:spPr>
        <p:txBody>
          <a:bodyPr/>
          <a:lstStyle/>
          <a:p>
            <a:endParaRPr lang="en-US"/>
          </a:p>
        </p:txBody>
      </p:sp>
      <p:sp>
        <p:nvSpPr>
          <p:cNvPr id="6" name="Text 4"/>
          <p:cNvSpPr/>
          <p:nvPr/>
        </p:nvSpPr>
        <p:spPr>
          <a:xfrm>
            <a:off x="347472" y="996696"/>
            <a:ext cx="2414016" cy="51206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Capability</a:t>
            </a:r>
            <a:endParaRPr lang="en-US" sz="1200" dirty="0"/>
          </a:p>
        </p:txBody>
      </p:sp>
      <p:sp>
        <p:nvSpPr>
          <p:cNvPr id="7" name="Shape 5"/>
          <p:cNvSpPr/>
          <p:nvPr/>
        </p:nvSpPr>
        <p:spPr>
          <a:xfrm>
            <a:off x="2834640" y="960120"/>
            <a:ext cx="1920240" cy="585216"/>
          </a:xfrm>
          <a:prstGeom prst="rect">
            <a:avLst/>
          </a:prstGeom>
          <a:solidFill>
            <a:srgbClr val="283593"/>
          </a:solidFill>
          <a:ln w="12700">
            <a:solidFill>
              <a:srgbClr val="CCCCCC"/>
            </a:solidFill>
            <a:prstDash val="solid"/>
          </a:ln>
        </p:spPr>
        <p:txBody>
          <a:bodyPr/>
          <a:lstStyle/>
          <a:p>
            <a:endParaRPr lang="en-US"/>
          </a:p>
        </p:txBody>
      </p:sp>
      <p:sp>
        <p:nvSpPr>
          <p:cNvPr id="8" name="Text 6"/>
          <p:cNvSpPr/>
          <p:nvPr/>
        </p:nvSpPr>
        <p:spPr>
          <a:xfrm>
            <a:off x="2907792" y="996696"/>
            <a:ext cx="1773936" cy="51206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IEnumerable&lt;T&gt;</a:t>
            </a:r>
            <a:endParaRPr lang="en-US" sz="1200" dirty="0"/>
          </a:p>
        </p:txBody>
      </p:sp>
      <p:sp>
        <p:nvSpPr>
          <p:cNvPr id="9" name="Shape 7"/>
          <p:cNvSpPr/>
          <p:nvPr/>
        </p:nvSpPr>
        <p:spPr>
          <a:xfrm>
            <a:off x="4754880" y="960120"/>
            <a:ext cx="2194560" cy="585216"/>
          </a:xfrm>
          <a:prstGeom prst="rect">
            <a:avLst/>
          </a:prstGeom>
          <a:solidFill>
            <a:srgbClr val="283593"/>
          </a:solidFill>
          <a:ln w="12700">
            <a:solidFill>
              <a:srgbClr val="CCCCCC"/>
            </a:solidFill>
            <a:prstDash val="solid"/>
          </a:ln>
        </p:spPr>
        <p:txBody>
          <a:bodyPr/>
          <a:lstStyle/>
          <a:p>
            <a:endParaRPr lang="en-US"/>
          </a:p>
        </p:txBody>
      </p:sp>
      <p:sp>
        <p:nvSpPr>
          <p:cNvPr id="10" name="Text 8"/>
          <p:cNvSpPr/>
          <p:nvPr/>
        </p:nvSpPr>
        <p:spPr>
          <a:xfrm>
            <a:off x="4828032" y="996696"/>
            <a:ext cx="2048256" cy="51206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IReadOnlyList&lt;T&gt;</a:t>
            </a:r>
            <a:endParaRPr lang="en-US" sz="1200" dirty="0"/>
          </a:p>
        </p:txBody>
      </p:sp>
      <p:sp>
        <p:nvSpPr>
          <p:cNvPr id="11" name="Shape 9"/>
          <p:cNvSpPr/>
          <p:nvPr/>
        </p:nvSpPr>
        <p:spPr>
          <a:xfrm>
            <a:off x="6949440" y="960120"/>
            <a:ext cx="1920240" cy="585216"/>
          </a:xfrm>
          <a:prstGeom prst="rect">
            <a:avLst/>
          </a:prstGeom>
          <a:solidFill>
            <a:srgbClr val="283593"/>
          </a:solidFill>
          <a:ln w="12700">
            <a:solidFill>
              <a:srgbClr val="CCCCCC"/>
            </a:solidFill>
            <a:prstDash val="solid"/>
          </a:ln>
        </p:spPr>
        <p:txBody>
          <a:bodyPr/>
          <a:lstStyle/>
          <a:p>
            <a:endParaRPr lang="en-US"/>
          </a:p>
        </p:txBody>
      </p:sp>
      <p:sp>
        <p:nvSpPr>
          <p:cNvPr id="12" name="Text 10"/>
          <p:cNvSpPr/>
          <p:nvPr/>
        </p:nvSpPr>
        <p:spPr>
          <a:xfrm>
            <a:off x="7022592" y="996696"/>
            <a:ext cx="1773936" cy="51206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List&lt;T&gt;</a:t>
            </a:r>
            <a:endParaRPr lang="en-US" sz="1200" dirty="0"/>
          </a:p>
        </p:txBody>
      </p:sp>
      <p:sp>
        <p:nvSpPr>
          <p:cNvPr id="13" name="Shape 11"/>
          <p:cNvSpPr/>
          <p:nvPr/>
        </p:nvSpPr>
        <p:spPr>
          <a:xfrm>
            <a:off x="274320" y="1581912"/>
            <a:ext cx="2560320" cy="585216"/>
          </a:xfrm>
          <a:prstGeom prst="rect">
            <a:avLst/>
          </a:prstGeom>
          <a:solidFill>
            <a:srgbClr val="EEF0FF"/>
          </a:solidFill>
          <a:ln w="12700">
            <a:solidFill>
              <a:srgbClr val="CCCCCC"/>
            </a:solidFill>
            <a:prstDash val="solid"/>
          </a:ln>
        </p:spPr>
        <p:txBody>
          <a:bodyPr/>
          <a:lstStyle/>
          <a:p>
            <a:endParaRPr lang="en-US"/>
          </a:p>
        </p:txBody>
      </p:sp>
      <p:sp>
        <p:nvSpPr>
          <p:cNvPr id="14" name="Text 12"/>
          <p:cNvSpPr/>
          <p:nvPr/>
        </p:nvSpPr>
        <p:spPr>
          <a:xfrm>
            <a:off x="347472" y="1618488"/>
            <a:ext cx="2414016" cy="512064"/>
          </a:xfrm>
          <a:prstGeom prst="rect">
            <a:avLst/>
          </a:prstGeom>
          <a:noFill/>
          <a:ln/>
        </p:spPr>
        <p:txBody>
          <a:bodyPr wrap="square" lIns="0" tIns="0" rIns="0" bIns="0" rtlCol="0" anchor="ctr"/>
          <a:lstStyle/>
          <a:p>
            <a:pPr marL="0" indent="0" algn="l">
              <a:buNone/>
            </a:pPr>
            <a:r>
              <a:rPr lang="en-US" sz="1150" dirty="0">
                <a:solidFill>
                  <a:srgbClr val="37474F"/>
                </a:solidFill>
                <a:latin typeface="Calibri" pitchFamily="34" charset="0"/>
                <a:ea typeface="Calibri" pitchFamily="34" charset="-122"/>
                <a:cs typeface="Calibri" pitchFamily="34" charset="-120"/>
              </a:rPr>
              <a:t>foreach</a:t>
            </a:r>
            <a:endParaRPr lang="en-US" sz="1150" dirty="0"/>
          </a:p>
        </p:txBody>
      </p:sp>
      <p:sp>
        <p:nvSpPr>
          <p:cNvPr id="15" name="Shape 13"/>
          <p:cNvSpPr/>
          <p:nvPr/>
        </p:nvSpPr>
        <p:spPr>
          <a:xfrm>
            <a:off x="2834640" y="1581912"/>
            <a:ext cx="1920240" cy="585216"/>
          </a:xfrm>
          <a:prstGeom prst="rect">
            <a:avLst/>
          </a:prstGeom>
          <a:solidFill>
            <a:srgbClr val="EEF0FF"/>
          </a:solidFill>
          <a:ln w="12700">
            <a:solidFill>
              <a:srgbClr val="CCCCCC"/>
            </a:solidFill>
            <a:prstDash val="solid"/>
          </a:ln>
        </p:spPr>
        <p:txBody>
          <a:bodyPr/>
          <a:lstStyle/>
          <a:p>
            <a:endParaRPr lang="en-US"/>
          </a:p>
        </p:txBody>
      </p:sp>
      <p:sp>
        <p:nvSpPr>
          <p:cNvPr id="16" name="Text 14"/>
          <p:cNvSpPr/>
          <p:nvPr/>
        </p:nvSpPr>
        <p:spPr>
          <a:xfrm>
            <a:off x="2907792" y="1618488"/>
            <a:ext cx="1773936" cy="512064"/>
          </a:xfrm>
          <a:prstGeom prst="rect">
            <a:avLst/>
          </a:prstGeom>
          <a:noFill/>
          <a:ln/>
        </p:spPr>
        <p:txBody>
          <a:bodyPr wrap="square" lIns="0" tIns="0" rIns="0" bIns="0"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a:t>
            </a:r>
            <a:endParaRPr lang="en-US" sz="1150" dirty="0"/>
          </a:p>
        </p:txBody>
      </p:sp>
      <p:sp>
        <p:nvSpPr>
          <p:cNvPr id="17" name="Shape 15"/>
          <p:cNvSpPr/>
          <p:nvPr/>
        </p:nvSpPr>
        <p:spPr>
          <a:xfrm>
            <a:off x="4754880" y="1581912"/>
            <a:ext cx="2194560" cy="585216"/>
          </a:xfrm>
          <a:prstGeom prst="rect">
            <a:avLst/>
          </a:prstGeom>
          <a:solidFill>
            <a:srgbClr val="EEF0FF"/>
          </a:solidFill>
          <a:ln w="12700">
            <a:solidFill>
              <a:srgbClr val="CCCCCC"/>
            </a:solidFill>
            <a:prstDash val="solid"/>
          </a:ln>
        </p:spPr>
        <p:txBody>
          <a:bodyPr/>
          <a:lstStyle/>
          <a:p>
            <a:endParaRPr lang="en-US"/>
          </a:p>
        </p:txBody>
      </p:sp>
      <p:sp>
        <p:nvSpPr>
          <p:cNvPr id="18" name="Text 16"/>
          <p:cNvSpPr/>
          <p:nvPr/>
        </p:nvSpPr>
        <p:spPr>
          <a:xfrm>
            <a:off x="4828032" y="1618488"/>
            <a:ext cx="2048256" cy="512064"/>
          </a:xfrm>
          <a:prstGeom prst="rect">
            <a:avLst/>
          </a:prstGeom>
          <a:noFill/>
          <a:ln/>
        </p:spPr>
        <p:txBody>
          <a:bodyPr wrap="square" lIns="0" tIns="0" rIns="0" bIns="0"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a:t>
            </a:r>
            <a:endParaRPr lang="en-US" sz="1150" dirty="0"/>
          </a:p>
        </p:txBody>
      </p:sp>
      <p:sp>
        <p:nvSpPr>
          <p:cNvPr id="19" name="Shape 17"/>
          <p:cNvSpPr/>
          <p:nvPr/>
        </p:nvSpPr>
        <p:spPr>
          <a:xfrm>
            <a:off x="6949440" y="1581912"/>
            <a:ext cx="1920240" cy="585216"/>
          </a:xfrm>
          <a:prstGeom prst="rect">
            <a:avLst/>
          </a:prstGeom>
          <a:solidFill>
            <a:srgbClr val="EEF0FF"/>
          </a:solidFill>
          <a:ln w="12700">
            <a:solidFill>
              <a:srgbClr val="CCCCCC"/>
            </a:solidFill>
            <a:prstDash val="solid"/>
          </a:ln>
        </p:spPr>
        <p:txBody>
          <a:bodyPr/>
          <a:lstStyle/>
          <a:p>
            <a:endParaRPr lang="en-US"/>
          </a:p>
        </p:txBody>
      </p:sp>
      <p:sp>
        <p:nvSpPr>
          <p:cNvPr id="20" name="Text 18"/>
          <p:cNvSpPr/>
          <p:nvPr/>
        </p:nvSpPr>
        <p:spPr>
          <a:xfrm>
            <a:off x="7022592" y="1618488"/>
            <a:ext cx="1773936" cy="512064"/>
          </a:xfrm>
          <a:prstGeom prst="rect">
            <a:avLst/>
          </a:prstGeom>
          <a:noFill/>
          <a:ln/>
        </p:spPr>
        <p:txBody>
          <a:bodyPr wrap="square" lIns="0" tIns="0" rIns="0" bIns="0"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a:t>
            </a:r>
            <a:endParaRPr lang="en-US" sz="1150" dirty="0"/>
          </a:p>
        </p:txBody>
      </p:sp>
      <p:sp>
        <p:nvSpPr>
          <p:cNvPr id="21" name="Shape 19"/>
          <p:cNvSpPr/>
          <p:nvPr/>
        </p:nvSpPr>
        <p:spPr>
          <a:xfrm>
            <a:off x="274320" y="2203704"/>
            <a:ext cx="2560320" cy="585216"/>
          </a:xfrm>
          <a:prstGeom prst="rect">
            <a:avLst/>
          </a:prstGeom>
          <a:solidFill>
            <a:srgbClr val="FFFFFF"/>
          </a:solidFill>
          <a:ln w="12700">
            <a:solidFill>
              <a:srgbClr val="CCCCCC"/>
            </a:solidFill>
            <a:prstDash val="solid"/>
          </a:ln>
        </p:spPr>
        <p:txBody>
          <a:bodyPr/>
          <a:lstStyle/>
          <a:p>
            <a:endParaRPr lang="en-US"/>
          </a:p>
        </p:txBody>
      </p:sp>
      <p:sp>
        <p:nvSpPr>
          <p:cNvPr id="22" name="Text 20"/>
          <p:cNvSpPr/>
          <p:nvPr/>
        </p:nvSpPr>
        <p:spPr>
          <a:xfrm>
            <a:off x="347472" y="2240280"/>
            <a:ext cx="2414016" cy="512064"/>
          </a:xfrm>
          <a:prstGeom prst="rect">
            <a:avLst/>
          </a:prstGeom>
          <a:noFill/>
          <a:ln/>
        </p:spPr>
        <p:txBody>
          <a:bodyPr wrap="square" lIns="0" tIns="0" rIns="0" bIns="0" rtlCol="0" anchor="ctr"/>
          <a:lstStyle/>
          <a:p>
            <a:pPr marL="0" indent="0" algn="l">
              <a:buNone/>
            </a:pPr>
            <a:r>
              <a:rPr lang="en-US" sz="1150" dirty="0">
                <a:solidFill>
                  <a:srgbClr val="37474F"/>
                </a:solidFill>
                <a:latin typeface="Calibri" pitchFamily="34" charset="0"/>
                <a:ea typeface="Calibri" pitchFamily="34" charset="-122"/>
                <a:cs typeface="Calibri" pitchFamily="34" charset="-120"/>
              </a:rPr>
              <a:t>Indexing [i]</a:t>
            </a:r>
            <a:endParaRPr lang="en-US" sz="1150" dirty="0"/>
          </a:p>
        </p:txBody>
      </p:sp>
      <p:sp>
        <p:nvSpPr>
          <p:cNvPr id="23" name="Shape 21"/>
          <p:cNvSpPr/>
          <p:nvPr/>
        </p:nvSpPr>
        <p:spPr>
          <a:xfrm>
            <a:off x="2834640" y="2203704"/>
            <a:ext cx="1920240" cy="585216"/>
          </a:xfrm>
          <a:prstGeom prst="rect">
            <a:avLst/>
          </a:prstGeom>
          <a:solidFill>
            <a:srgbClr val="FFFFFF"/>
          </a:solidFill>
          <a:ln w="12700">
            <a:solidFill>
              <a:srgbClr val="CCCCCC"/>
            </a:solidFill>
            <a:prstDash val="solid"/>
          </a:ln>
        </p:spPr>
        <p:txBody>
          <a:bodyPr/>
          <a:lstStyle/>
          <a:p>
            <a:endParaRPr lang="en-US"/>
          </a:p>
        </p:txBody>
      </p:sp>
      <p:sp>
        <p:nvSpPr>
          <p:cNvPr id="24" name="Text 22"/>
          <p:cNvSpPr/>
          <p:nvPr/>
        </p:nvSpPr>
        <p:spPr>
          <a:xfrm>
            <a:off x="2907792" y="2240280"/>
            <a:ext cx="1773936" cy="512064"/>
          </a:xfrm>
          <a:prstGeom prst="rect">
            <a:avLst/>
          </a:prstGeom>
          <a:noFill/>
          <a:ln/>
        </p:spPr>
        <p:txBody>
          <a:bodyPr wrap="square" lIns="0" tIns="0" rIns="0" bIns="0" rtlCol="0" anchor="ctr"/>
          <a:lstStyle/>
          <a:p>
            <a:pPr marL="0" indent="0" algn="ctr">
              <a:buNone/>
            </a:pPr>
            <a:r>
              <a:rPr lang="en-US" sz="1150" b="1" dirty="0">
                <a:solidFill>
                  <a:srgbClr val="B71C1C"/>
                </a:solidFill>
                <a:latin typeface="Calibri" pitchFamily="34" charset="0"/>
                <a:ea typeface="Calibri" pitchFamily="34" charset="-122"/>
                <a:cs typeface="Calibri" pitchFamily="34" charset="-120"/>
              </a:rPr>
              <a:t>✘</a:t>
            </a:r>
            <a:endParaRPr lang="en-US" sz="1150" dirty="0"/>
          </a:p>
        </p:txBody>
      </p:sp>
      <p:sp>
        <p:nvSpPr>
          <p:cNvPr id="25" name="Shape 23"/>
          <p:cNvSpPr/>
          <p:nvPr/>
        </p:nvSpPr>
        <p:spPr>
          <a:xfrm>
            <a:off x="4754880" y="2203704"/>
            <a:ext cx="2194560" cy="585216"/>
          </a:xfrm>
          <a:prstGeom prst="rect">
            <a:avLst/>
          </a:prstGeom>
          <a:solidFill>
            <a:srgbClr val="FFFFFF"/>
          </a:solidFill>
          <a:ln w="12700">
            <a:solidFill>
              <a:srgbClr val="CCCCCC"/>
            </a:solidFill>
            <a:prstDash val="solid"/>
          </a:ln>
        </p:spPr>
        <p:txBody>
          <a:bodyPr/>
          <a:lstStyle/>
          <a:p>
            <a:endParaRPr lang="en-US"/>
          </a:p>
        </p:txBody>
      </p:sp>
      <p:sp>
        <p:nvSpPr>
          <p:cNvPr id="26" name="Text 24"/>
          <p:cNvSpPr/>
          <p:nvPr/>
        </p:nvSpPr>
        <p:spPr>
          <a:xfrm>
            <a:off x="4828032" y="2240280"/>
            <a:ext cx="2048256" cy="512064"/>
          </a:xfrm>
          <a:prstGeom prst="rect">
            <a:avLst/>
          </a:prstGeom>
          <a:noFill/>
          <a:ln/>
        </p:spPr>
        <p:txBody>
          <a:bodyPr wrap="square" lIns="0" tIns="0" rIns="0" bIns="0"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a:t>
            </a:r>
            <a:endParaRPr lang="en-US" sz="1150" dirty="0"/>
          </a:p>
        </p:txBody>
      </p:sp>
      <p:sp>
        <p:nvSpPr>
          <p:cNvPr id="27" name="Shape 25"/>
          <p:cNvSpPr/>
          <p:nvPr/>
        </p:nvSpPr>
        <p:spPr>
          <a:xfrm>
            <a:off x="6949440" y="2203704"/>
            <a:ext cx="1920240" cy="585216"/>
          </a:xfrm>
          <a:prstGeom prst="rect">
            <a:avLst/>
          </a:prstGeom>
          <a:solidFill>
            <a:srgbClr val="FFFFFF"/>
          </a:solidFill>
          <a:ln w="12700">
            <a:solidFill>
              <a:srgbClr val="CCCCCC"/>
            </a:solidFill>
            <a:prstDash val="solid"/>
          </a:ln>
        </p:spPr>
        <p:txBody>
          <a:bodyPr/>
          <a:lstStyle/>
          <a:p>
            <a:endParaRPr lang="en-US"/>
          </a:p>
        </p:txBody>
      </p:sp>
      <p:sp>
        <p:nvSpPr>
          <p:cNvPr id="28" name="Text 26"/>
          <p:cNvSpPr/>
          <p:nvPr/>
        </p:nvSpPr>
        <p:spPr>
          <a:xfrm>
            <a:off x="7022592" y="2240280"/>
            <a:ext cx="1773936" cy="512064"/>
          </a:xfrm>
          <a:prstGeom prst="rect">
            <a:avLst/>
          </a:prstGeom>
          <a:noFill/>
          <a:ln/>
        </p:spPr>
        <p:txBody>
          <a:bodyPr wrap="square" lIns="0" tIns="0" rIns="0" bIns="0"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a:t>
            </a:r>
            <a:endParaRPr lang="en-US" sz="1150" dirty="0"/>
          </a:p>
        </p:txBody>
      </p:sp>
      <p:sp>
        <p:nvSpPr>
          <p:cNvPr id="29" name="Shape 27"/>
          <p:cNvSpPr/>
          <p:nvPr/>
        </p:nvSpPr>
        <p:spPr>
          <a:xfrm>
            <a:off x="274320" y="2825496"/>
            <a:ext cx="2560320" cy="585216"/>
          </a:xfrm>
          <a:prstGeom prst="rect">
            <a:avLst/>
          </a:prstGeom>
          <a:solidFill>
            <a:srgbClr val="EEF0FF"/>
          </a:solidFill>
          <a:ln w="12700">
            <a:solidFill>
              <a:srgbClr val="CCCCCC"/>
            </a:solidFill>
            <a:prstDash val="solid"/>
          </a:ln>
        </p:spPr>
        <p:txBody>
          <a:bodyPr/>
          <a:lstStyle/>
          <a:p>
            <a:endParaRPr lang="en-US"/>
          </a:p>
        </p:txBody>
      </p:sp>
      <p:sp>
        <p:nvSpPr>
          <p:cNvPr id="30" name="Text 28"/>
          <p:cNvSpPr/>
          <p:nvPr/>
        </p:nvSpPr>
        <p:spPr>
          <a:xfrm>
            <a:off x="347472" y="2862072"/>
            <a:ext cx="2414016" cy="512064"/>
          </a:xfrm>
          <a:prstGeom prst="rect">
            <a:avLst/>
          </a:prstGeom>
          <a:noFill/>
          <a:ln/>
        </p:spPr>
        <p:txBody>
          <a:bodyPr wrap="square" lIns="0" tIns="0" rIns="0" bIns="0" rtlCol="0" anchor="ctr"/>
          <a:lstStyle/>
          <a:p>
            <a:pPr marL="0" indent="0" algn="l">
              <a:buNone/>
            </a:pPr>
            <a:r>
              <a:rPr lang="en-US" sz="1150" dirty="0">
                <a:solidFill>
                  <a:srgbClr val="37474F"/>
                </a:solidFill>
                <a:latin typeface="Calibri" pitchFamily="34" charset="0"/>
                <a:ea typeface="Calibri" pitchFamily="34" charset="-122"/>
                <a:cs typeface="Calibri" pitchFamily="34" charset="-120"/>
              </a:rPr>
              <a:t>Count property</a:t>
            </a:r>
            <a:endParaRPr lang="en-US" sz="1150" dirty="0"/>
          </a:p>
        </p:txBody>
      </p:sp>
      <p:sp>
        <p:nvSpPr>
          <p:cNvPr id="31" name="Shape 29"/>
          <p:cNvSpPr/>
          <p:nvPr/>
        </p:nvSpPr>
        <p:spPr>
          <a:xfrm>
            <a:off x="2834640" y="2825496"/>
            <a:ext cx="1920240" cy="585216"/>
          </a:xfrm>
          <a:prstGeom prst="rect">
            <a:avLst/>
          </a:prstGeom>
          <a:solidFill>
            <a:srgbClr val="EEF0FF"/>
          </a:solidFill>
          <a:ln w="12700">
            <a:solidFill>
              <a:srgbClr val="CCCCCC"/>
            </a:solidFill>
            <a:prstDash val="solid"/>
          </a:ln>
        </p:spPr>
        <p:txBody>
          <a:bodyPr/>
          <a:lstStyle/>
          <a:p>
            <a:endParaRPr lang="en-US"/>
          </a:p>
        </p:txBody>
      </p:sp>
      <p:sp>
        <p:nvSpPr>
          <p:cNvPr id="32" name="Text 30"/>
          <p:cNvSpPr/>
          <p:nvPr/>
        </p:nvSpPr>
        <p:spPr>
          <a:xfrm>
            <a:off x="2907792" y="2862072"/>
            <a:ext cx="1773936" cy="512064"/>
          </a:xfrm>
          <a:prstGeom prst="rect">
            <a:avLst/>
          </a:prstGeom>
          <a:noFill/>
          <a:ln/>
        </p:spPr>
        <p:txBody>
          <a:bodyPr wrap="square" lIns="0" tIns="0" rIns="0" bIns="0" rtlCol="0" anchor="ctr"/>
          <a:lstStyle/>
          <a:p>
            <a:pPr marL="0" indent="0" algn="ctr">
              <a:buNone/>
            </a:pPr>
            <a:r>
              <a:rPr lang="en-US" sz="1150" b="1" dirty="0">
                <a:solidFill>
                  <a:srgbClr val="B71C1C"/>
                </a:solidFill>
                <a:latin typeface="Calibri" pitchFamily="34" charset="0"/>
                <a:ea typeface="Calibri" pitchFamily="34" charset="-122"/>
                <a:cs typeface="Calibri" pitchFamily="34" charset="-120"/>
              </a:rPr>
              <a:t>✘</a:t>
            </a:r>
            <a:endParaRPr lang="en-US" sz="1150" dirty="0"/>
          </a:p>
        </p:txBody>
      </p:sp>
      <p:sp>
        <p:nvSpPr>
          <p:cNvPr id="33" name="Shape 31"/>
          <p:cNvSpPr/>
          <p:nvPr/>
        </p:nvSpPr>
        <p:spPr>
          <a:xfrm>
            <a:off x="4754880" y="2825496"/>
            <a:ext cx="2194560" cy="585216"/>
          </a:xfrm>
          <a:prstGeom prst="rect">
            <a:avLst/>
          </a:prstGeom>
          <a:solidFill>
            <a:srgbClr val="EEF0FF"/>
          </a:solidFill>
          <a:ln w="12700">
            <a:solidFill>
              <a:srgbClr val="CCCCCC"/>
            </a:solidFill>
            <a:prstDash val="solid"/>
          </a:ln>
        </p:spPr>
        <p:txBody>
          <a:bodyPr/>
          <a:lstStyle/>
          <a:p>
            <a:endParaRPr lang="en-US"/>
          </a:p>
        </p:txBody>
      </p:sp>
      <p:sp>
        <p:nvSpPr>
          <p:cNvPr id="34" name="Text 32"/>
          <p:cNvSpPr/>
          <p:nvPr/>
        </p:nvSpPr>
        <p:spPr>
          <a:xfrm>
            <a:off x="4828032" y="2862072"/>
            <a:ext cx="2048256" cy="512064"/>
          </a:xfrm>
          <a:prstGeom prst="rect">
            <a:avLst/>
          </a:prstGeom>
          <a:noFill/>
          <a:ln/>
        </p:spPr>
        <p:txBody>
          <a:bodyPr wrap="square" lIns="0" tIns="0" rIns="0" bIns="0"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a:t>
            </a:r>
            <a:endParaRPr lang="en-US" sz="1150" dirty="0"/>
          </a:p>
        </p:txBody>
      </p:sp>
      <p:sp>
        <p:nvSpPr>
          <p:cNvPr id="35" name="Shape 33"/>
          <p:cNvSpPr/>
          <p:nvPr/>
        </p:nvSpPr>
        <p:spPr>
          <a:xfrm>
            <a:off x="6949440" y="2825496"/>
            <a:ext cx="1920240" cy="585216"/>
          </a:xfrm>
          <a:prstGeom prst="rect">
            <a:avLst/>
          </a:prstGeom>
          <a:solidFill>
            <a:srgbClr val="EEF0FF"/>
          </a:solidFill>
          <a:ln w="12700">
            <a:solidFill>
              <a:srgbClr val="CCCCCC"/>
            </a:solidFill>
            <a:prstDash val="solid"/>
          </a:ln>
        </p:spPr>
        <p:txBody>
          <a:bodyPr/>
          <a:lstStyle/>
          <a:p>
            <a:endParaRPr lang="en-US"/>
          </a:p>
        </p:txBody>
      </p:sp>
      <p:sp>
        <p:nvSpPr>
          <p:cNvPr id="36" name="Text 34"/>
          <p:cNvSpPr/>
          <p:nvPr/>
        </p:nvSpPr>
        <p:spPr>
          <a:xfrm>
            <a:off x="7022592" y="2862072"/>
            <a:ext cx="1773936" cy="512064"/>
          </a:xfrm>
          <a:prstGeom prst="rect">
            <a:avLst/>
          </a:prstGeom>
          <a:noFill/>
          <a:ln/>
        </p:spPr>
        <p:txBody>
          <a:bodyPr wrap="square" lIns="0" tIns="0" rIns="0" bIns="0"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a:t>
            </a:r>
            <a:endParaRPr lang="en-US" sz="1150" dirty="0"/>
          </a:p>
        </p:txBody>
      </p:sp>
      <p:sp>
        <p:nvSpPr>
          <p:cNvPr id="37" name="Shape 35"/>
          <p:cNvSpPr/>
          <p:nvPr/>
        </p:nvSpPr>
        <p:spPr>
          <a:xfrm>
            <a:off x="274320" y="3447288"/>
            <a:ext cx="2560320" cy="585216"/>
          </a:xfrm>
          <a:prstGeom prst="rect">
            <a:avLst/>
          </a:prstGeom>
          <a:solidFill>
            <a:srgbClr val="FFFFFF"/>
          </a:solidFill>
          <a:ln w="12700">
            <a:solidFill>
              <a:srgbClr val="CCCCCC"/>
            </a:solidFill>
            <a:prstDash val="solid"/>
          </a:ln>
        </p:spPr>
        <p:txBody>
          <a:bodyPr/>
          <a:lstStyle/>
          <a:p>
            <a:endParaRPr lang="en-US"/>
          </a:p>
        </p:txBody>
      </p:sp>
      <p:sp>
        <p:nvSpPr>
          <p:cNvPr id="38" name="Text 36"/>
          <p:cNvSpPr/>
          <p:nvPr/>
        </p:nvSpPr>
        <p:spPr>
          <a:xfrm>
            <a:off x="347472" y="3483864"/>
            <a:ext cx="2414016" cy="512064"/>
          </a:xfrm>
          <a:prstGeom prst="rect">
            <a:avLst/>
          </a:prstGeom>
          <a:noFill/>
          <a:ln/>
        </p:spPr>
        <p:txBody>
          <a:bodyPr wrap="square" lIns="0" tIns="0" rIns="0" bIns="0" rtlCol="0" anchor="ctr"/>
          <a:lstStyle/>
          <a:p>
            <a:pPr marL="0" indent="0" algn="l">
              <a:buNone/>
            </a:pPr>
            <a:r>
              <a:rPr lang="en-US" sz="1150" dirty="0">
                <a:solidFill>
                  <a:srgbClr val="37474F"/>
                </a:solidFill>
                <a:latin typeface="Calibri" pitchFamily="34" charset="0"/>
                <a:ea typeface="Calibri" pitchFamily="34" charset="-122"/>
                <a:cs typeface="Calibri" pitchFamily="34" charset="-120"/>
              </a:rPr>
              <a:t>Add / Remove</a:t>
            </a:r>
            <a:endParaRPr lang="en-US" sz="1150" dirty="0"/>
          </a:p>
        </p:txBody>
      </p:sp>
      <p:sp>
        <p:nvSpPr>
          <p:cNvPr id="39" name="Shape 37"/>
          <p:cNvSpPr/>
          <p:nvPr/>
        </p:nvSpPr>
        <p:spPr>
          <a:xfrm>
            <a:off x="2834640" y="3447288"/>
            <a:ext cx="1920240" cy="585216"/>
          </a:xfrm>
          <a:prstGeom prst="rect">
            <a:avLst/>
          </a:prstGeom>
          <a:solidFill>
            <a:srgbClr val="FFFFFF"/>
          </a:solidFill>
          <a:ln w="12700">
            <a:solidFill>
              <a:srgbClr val="CCCCCC"/>
            </a:solidFill>
            <a:prstDash val="solid"/>
          </a:ln>
        </p:spPr>
        <p:txBody>
          <a:bodyPr/>
          <a:lstStyle/>
          <a:p>
            <a:endParaRPr lang="en-US"/>
          </a:p>
        </p:txBody>
      </p:sp>
      <p:sp>
        <p:nvSpPr>
          <p:cNvPr id="40" name="Text 38"/>
          <p:cNvSpPr/>
          <p:nvPr/>
        </p:nvSpPr>
        <p:spPr>
          <a:xfrm>
            <a:off x="2907792" y="3483864"/>
            <a:ext cx="1773936" cy="512064"/>
          </a:xfrm>
          <a:prstGeom prst="rect">
            <a:avLst/>
          </a:prstGeom>
          <a:noFill/>
          <a:ln/>
        </p:spPr>
        <p:txBody>
          <a:bodyPr wrap="square" lIns="0" tIns="0" rIns="0" bIns="0" rtlCol="0" anchor="ctr"/>
          <a:lstStyle/>
          <a:p>
            <a:pPr marL="0" indent="0" algn="ctr">
              <a:buNone/>
            </a:pPr>
            <a:r>
              <a:rPr lang="en-US" sz="1150" b="1" dirty="0">
                <a:solidFill>
                  <a:srgbClr val="B71C1C"/>
                </a:solidFill>
                <a:latin typeface="Calibri" pitchFamily="34" charset="0"/>
                <a:ea typeface="Calibri" pitchFamily="34" charset="-122"/>
                <a:cs typeface="Calibri" pitchFamily="34" charset="-120"/>
              </a:rPr>
              <a:t>✘</a:t>
            </a:r>
            <a:endParaRPr lang="en-US" sz="1150" dirty="0"/>
          </a:p>
        </p:txBody>
      </p:sp>
      <p:sp>
        <p:nvSpPr>
          <p:cNvPr id="41" name="Shape 39"/>
          <p:cNvSpPr/>
          <p:nvPr/>
        </p:nvSpPr>
        <p:spPr>
          <a:xfrm>
            <a:off x="4754880" y="3447288"/>
            <a:ext cx="2194560" cy="585216"/>
          </a:xfrm>
          <a:prstGeom prst="rect">
            <a:avLst/>
          </a:prstGeom>
          <a:solidFill>
            <a:srgbClr val="FFFFFF"/>
          </a:solidFill>
          <a:ln w="12700">
            <a:solidFill>
              <a:srgbClr val="CCCCCC"/>
            </a:solidFill>
            <a:prstDash val="solid"/>
          </a:ln>
        </p:spPr>
        <p:txBody>
          <a:bodyPr/>
          <a:lstStyle/>
          <a:p>
            <a:endParaRPr lang="en-US"/>
          </a:p>
        </p:txBody>
      </p:sp>
      <p:sp>
        <p:nvSpPr>
          <p:cNvPr id="42" name="Text 40"/>
          <p:cNvSpPr/>
          <p:nvPr/>
        </p:nvSpPr>
        <p:spPr>
          <a:xfrm>
            <a:off x="4828032" y="3483864"/>
            <a:ext cx="2048256" cy="512064"/>
          </a:xfrm>
          <a:prstGeom prst="rect">
            <a:avLst/>
          </a:prstGeom>
          <a:noFill/>
          <a:ln/>
        </p:spPr>
        <p:txBody>
          <a:bodyPr wrap="square" lIns="0" tIns="0" rIns="0" bIns="0" rtlCol="0" anchor="ctr"/>
          <a:lstStyle/>
          <a:p>
            <a:pPr marL="0" indent="0" algn="ctr">
              <a:buNone/>
            </a:pPr>
            <a:r>
              <a:rPr lang="en-US" sz="1150" b="1" dirty="0">
                <a:solidFill>
                  <a:srgbClr val="B71C1C"/>
                </a:solidFill>
                <a:latin typeface="Calibri" pitchFamily="34" charset="0"/>
                <a:ea typeface="Calibri" pitchFamily="34" charset="-122"/>
                <a:cs typeface="Calibri" pitchFamily="34" charset="-120"/>
              </a:rPr>
              <a:t>✘</a:t>
            </a:r>
            <a:endParaRPr lang="en-US" sz="1150" dirty="0"/>
          </a:p>
        </p:txBody>
      </p:sp>
      <p:sp>
        <p:nvSpPr>
          <p:cNvPr id="43" name="Shape 41"/>
          <p:cNvSpPr/>
          <p:nvPr/>
        </p:nvSpPr>
        <p:spPr>
          <a:xfrm>
            <a:off x="6949440" y="3447288"/>
            <a:ext cx="1920240" cy="585216"/>
          </a:xfrm>
          <a:prstGeom prst="rect">
            <a:avLst/>
          </a:prstGeom>
          <a:solidFill>
            <a:srgbClr val="FFFFFF"/>
          </a:solidFill>
          <a:ln w="12700">
            <a:solidFill>
              <a:srgbClr val="CCCCCC"/>
            </a:solidFill>
            <a:prstDash val="solid"/>
          </a:ln>
        </p:spPr>
        <p:txBody>
          <a:bodyPr/>
          <a:lstStyle/>
          <a:p>
            <a:endParaRPr lang="en-US"/>
          </a:p>
        </p:txBody>
      </p:sp>
      <p:sp>
        <p:nvSpPr>
          <p:cNvPr id="44" name="Text 42"/>
          <p:cNvSpPr/>
          <p:nvPr/>
        </p:nvSpPr>
        <p:spPr>
          <a:xfrm>
            <a:off x="7022592" y="3483864"/>
            <a:ext cx="1773936" cy="512064"/>
          </a:xfrm>
          <a:prstGeom prst="rect">
            <a:avLst/>
          </a:prstGeom>
          <a:noFill/>
          <a:ln/>
        </p:spPr>
        <p:txBody>
          <a:bodyPr wrap="square" lIns="0" tIns="0" rIns="0" bIns="0"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a:t>
            </a:r>
            <a:endParaRPr lang="en-US" sz="1150" dirty="0"/>
          </a:p>
        </p:txBody>
      </p:sp>
      <p:sp>
        <p:nvSpPr>
          <p:cNvPr id="45" name="Shape 43"/>
          <p:cNvSpPr/>
          <p:nvPr/>
        </p:nvSpPr>
        <p:spPr>
          <a:xfrm>
            <a:off x="274320" y="4069080"/>
            <a:ext cx="2560320" cy="585216"/>
          </a:xfrm>
          <a:prstGeom prst="rect">
            <a:avLst/>
          </a:prstGeom>
          <a:solidFill>
            <a:srgbClr val="EEF0FF"/>
          </a:solidFill>
          <a:ln w="12700">
            <a:solidFill>
              <a:srgbClr val="CCCCCC"/>
            </a:solidFill>
            <a:prstDash val="solid"/>
          </a:ln>
        </p:spPr>
        <p:txBody>
          <a:bodyPr/>
          <a:lstStyle/>
          <a:p>
            <a:endParaRPr lang="en-US"/>
          </a:p>
        </p:txBody>
      </p:sp>
      <p:sp>
        <p:nvSpPr>
          <p:cNvPr id="46" name="Text 44"/>
          <p:cNvSpPr/>
          <p:nvPr/>
        </p:nvSpPr>
        <p:spPr>
          <a:xfrm>
            <a:off x="347472" y="4105656"/>
            <a:ext cx="2414016" cy="512064"/>
          </a:xfrm>
          <a:prstGeom prst="rect">
            <a:avLst/>
          </a:prstGeom>
          <a:noFill/>
          <a:ln/>
        </p:spPr>
        <p:txBody>
          <a:bodyPr wrap="square" lIns="0" tIns="0" rIns="0" bIns="0" rtlCol="0" anchor="ctr"/>
          <a:lstStyle/>
          <a:p>
            <a:pPr marL="0" indent="0" algn="l">
              <a:buNone/>
            </a:pPr>
            <a:r>
              <a:rPr lang="en-US" sz="1150" dirty="0">
                <a:solidFill>
                  <a:srgbClr val="37474F"/>
                </a:solidFill>
                <a:latin typeface="Calibri" pitchFamily="34" charset="0"/>
                <a:ea typeface="Calibri" pitchFamily="34" charset="-122"/>
                <a:cs typeface="Calibri" pitchFamily="34" charset="-120"/>
              </a:rPr>
              <a:t>Use when...</a:t>
            </a:r>
            <a:endParaRPr lang="en-US" sz="1150" dirty="0"/>
          </a:p>
        </p:txBody>
      </p:sp>
      <p:sp>
        <p:nvSpPr>
          <p:cNvPr id="47" name="Shape 45"/>
          <p:cNvSpPr/>
          <p:nvPr/>
        </p:nvSpPr>
        <p:spPr>
          <a:xfrm>
            <a:off x="2834640" y="4069080"/>
            <a:ext cx="1920240" cy="585216"/>
          </a:xfrm>
          <a:prstGeom prst="rect">
            <a:avLst/>
          </a:prstGeom>
          <a:solidFill>
            <a:srgbClr val="EEF0FF"/>
          </a:solidFill>
          <a:ln w="12700">
            <a:solidFill>
              <a:srgbClr val="CCCCCC"/>
            </a:solidFill>
            <a:prstDash val="solid"/>
          </a:ln>
        </p:spPr>
        <p:txBody>
          <a:bodyPr/>
          <a:lstStyle/>
          <a:p>
            <a:endParaRPr lang="en-US"/>
          </a:p>
        </p:txBody>
      </p:sp>
      <p:sp>
        <p:nvSpPr>
          <p:cNvPr id="48" name="Text 46"/>
          <p:cNvSpPr/>
          <p:nvPr/>
        </p:nvSpPr>
        <p:spPr>
          <a:xfrm>
            <a:off x="2907792" y="4105656"/>
            <a:ext cx="1773936" cy="512064"/>
          </a:xfrm>
          <a:prstGeom prst="rect">
            <a:avLst/>
          </a:prstGeom>
          <a:noFill/>
          <a:ln/>
        </p:spPr>
        <p:txBody>
          <a:bodyPr wrap="square" lIns="0" tIns="0" rIns="0" bIns="0" rtlCol="0" anchor="ctr"/>
          <a:lstStyle/>
          <a:p>
            <a:pPr marL="0" indent="0" algn="ctr">
              <a:buNone/>
            </a:pPr>
            <a:r>
              <a:rPr lang="en-US" sz="1150" dirty="0">
                <a:solidFill>
                  <a:srgbClr val="37474F"/>
                </a:solidFill>
                <a:latin typeface="Calibri" pitchFamily="34" charset="0"/>
                <a:ea typeface="Calibri" pitchFamily="34" charset="-122"/>
                <a:cs typeface="Calibri" pitchFamily="34" charset="-120"/>
              </a:rPr>
              <a:t>returning a sequence from a method</a:t>
            </a:r>
            <a:endParaRPr lang="en-US" sz="1150" dirty="0"/>
          </a:p>
        </p:txBody>
      </p:sp>
      <p:sp>
        <p:nvSpPr>
          <p:cNvPr id="49" name="Shape 47"/>
          <p:cNvSpPr/>
          <p:nvPr/>
        </p:nvSpPr>
        <p:spPr>
          <a:xfrm>
            <a:off x="4754880" y="4069080"/>
            <a:ext cx="2194560" cy="585216"/>
          </a:xfrm>
          <a:prstGeom prst="rect">
            <a:avLst/>
          </a:prstGeom>
          <a:solidFill>
            <a:srgbClr val="EEF0FF"/>
          </a:solidFill>
          <a:ln w="12700">
            <a:solidFill>
              <a:srgbClr val="CCCCCC"/>
            </a:solidFill>
            <a:prstDash val="solid"/>
          </a:ln>
        </p:spPr>
        <p:txBody>
          <a:bodyPr/>
          <a:lstStyle/>
          <a:p>
            <a:endParaRPr lang="en-US"/>
          </a:p>
        </p:txBody>
      </p:sp>
      <p:sp>
        <p:nvSpPr>
          <p:cNvPr id="50" name="Text 48"/>
          <p:cNvSpPr/>
          <p:nvPr/>
        </p:nvSpPr>
        <p:spPr>
          <a:xfrm>
            <a:off x="4828032" y="4105656"/>
            <a:ext cx="2048256" cy="512064"/>
          </a:xfrm>
          <a:prstGeom prst="rect">
            <a:avLst/>
          </a:prstGeom>
          <a:noFill/>
          <a:ln/>
        </p:spPr>
        <p:txBody>
          <a:bodyPr wrap="square" lIns="0" tIns="0" rIns="0" bIns="0" rtlCol="0" anchor="ctr"/>
          <a:lstStyle/>
          <a:p>
            <a:pPr marL="0" indent="0" algn="ctr">
              <a:buNone/>
            </a:pPr>
            <a:r>
              <a:rPr lang="en-US" sz="1150" dirty="0">
                <a:solidFill>
                  <a:srgbClr val="37474F"/>
                </a:solidFill>
                <a:latin typeface="Calibri" pitchFamily="34" charset="0"/>
                <a:ea typeface="Calibri" pitchFamily="34" charset="-122"/>
                <a:cs typeface="Calibri" pitchFamily="34" charset="-120"/>
              </a:rPr>
              <a:t>returning read-only list</a:t>
            </a:r>
            <a:endParaRPr lang="en-US" sz="1150" dirty="0"/>
          </a:p>
        </p:txBody>
      </p:sp>
      <p:sp>
        <p:nvSpPr>
          <p:cNvPr id="51" name="Shape 49"/>
          <p:cNvSpPr/>
          <p:nvPr/>
        </p:nvSpPr>
        <p:spPr>
          <a:xfrm>
            <a:off x="6949440" y="4069080"/>
            <a:ext cx="1920240" cy="585216"/>
          </a:xfrm>
          <a:prstGeom prst="rect">
            <a:avLst/>
          </a:prstGeom>
          <a:solidFill>
            <a:srgbClr val="EEF0FF"/>
          </a:solidFill>
          <a:ln w="12700">
            <a:solidFill>
              <a:srgbClr val="CCCCCC"/>
            </a:solidFill>
            <a:prstDash val="solid"/>
          </a:ln>
        </p:spPr>
        <p:txBody>
          <a:bodyPr/>
          <a:lstStyle/>
          <a:p>
            <a:endParaRPr lang="en-US"/>
          </a:p>
        </p:txBody>
      </p:sp>
      <p:sp>
        <p:nvSpPr>
          <p:cNvPr id="52" name="Text 50"/>
          <p:cNvSpPr/>
          <p:nvPr/>
        </p:nvSpPr>
        <p:spPr>
          <a:xfrm>
            <a:off x="7022592" y="4105656"/>
            <a:ext cx="1773936" cy="512064"/>
          </a:xfrm>
          <a:prstGeom prst="rect">
            <a:avLst/>
          </a:prstGeom>
          <a:noFill/>
          <a:ln/>
        </p:spPr>
        <p:txBody>
          <a:bodyPr wrap="square" lIns="0" tIns="0" rIns="0" bIns="0" rtlCol="0" anchor="ctr"/>
          <a:lstStyle/>
          <a:p>
            <a:pPr marL="0" indent="0" algn="ctr">
              <a:buNone/>
            </a:pPr>
            <a:r>
              <a:rPr lang="en-US" sz="1150" dirty="0">
                <a:solidFill>
                  <a:srgbClr val="37474F"/>
                </a:solidFill>
                <a:latin typeface="Calibri" pitchFamily="34" charset="0"/>
                <a:ea typeface="Calibri" pitchFamily="34" charset="-122"/>
                <a:cs typeface="Calibri" pitchFamily="34" charset="-120"/>
              </a:rPr>
              <a:t>private internal storage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37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365760" y="1920240"/>
            <a:ext cx="8503920" cy="128016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4. LINQ — Language Integrated Query</a:t>
            </a:r>
            <a:endParaRPr lang="en-US" sz="4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LINQ = The Pipeline Made Readable</a:t>
            </a:r>
            <a:endParaRPr lang="en-US" sz="2200" dirty="0"/>
          </a:p>
        </p:txBody>
      </p:sp>
      <p:sp>
        <p:nvSpPr>
          <p:cNvPr id="5" name="Text 3"/>
          <p:cNvSpPr/>
          <p:nvPr/>
        </p:nvSpPr>
        <p:spPr>
          <a:xfrm>
            <a:off x="274320" y="914400"/>
            <a:ext cx="4023360" cy="320040"/>
          </a:xfrm>
          <a:prstGeom prst="rect">
            <a:avLst/>
          </a:prstGeom>
          <a:noFill/>
          <a:ln/>
        </p:spPr>
        <p:txBody>
          <a:bodyPr wrap="square" lIns="0" tIns="0" rIns="0" bIns="0" rtlCol="0" anchor="ctr"/>
          <a:lstStyle/>
          <a:p>
            <a:pPr marL="0" indent="0">
              <a:buNone/>
            </a:pPr>
            <a:r>
              <a:rPr lang="en-US" sz="1300" b="1" dirty="0">
                <a:solidFill>
                  <a:srgbClr val="78909C"/>
                </a:solidFill>
                <a:latin typeface="Calibri" pitchFamily="34" charset="0"/>
                <a:ea typeface="Calibri" pitchFamily="34" charset="-122"/>
                <a:cs typeface="Calibri" pitchFamily="34" charset="-120"/>
              </a:rPr>
              <a:t>Without LINQ</a:t>
            </a:r>
            <a:endParaRPr lang="en-US" sz="1300" dirty="0"/>
          </a:p>
        </p:txBody>
      </p:sp>
      <p:sp>
        <p:nvSpPr>
          <p:cNvPr id="6" name="Shape 4"/>
          <p:cNvSpPr/>
          <p:nvPr/>
        </p:nvSpPr>
        <p:spPr>
          <a:xfrm>
            <a:off x="274320" y="1234440"/>
            <a:ext cx="4023360" cy="219456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7" name="Text 5"/>
          <p:cNvSpPr/>
          <p:nvPr/>
        </p:nvSpPr>
        <p:spPr>
          <a:xfrm>
            <a:off x="438912" y="1344168"/>
            <a:ext cx="3694176" cy="197510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Manual approach (without LINQ):</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excellent = new List&lt;Student&gt;();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foreach (var s in students)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if (s.Grade &gt;= 9)</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excellent.Add(s);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A lot of code for a simple idea</a:t>
            </a:r>
            <a:endParaRPr lang="en-US" sz="1150" dirty="0"/>
          </a:p>
        </p:txBody>
      </p:sp>
      <p:sp>
        <p:nvSpPr>
          <p:cNvPr id="8" name="Text 6"/>
          <p:cNvSpPr/>
          <p:nvPr/>
        </p:nvSpPr>
        <p:spPr>
          <a:xfrm>
            <a:off x="4572000" y="914400"/>
            <a:ext cx="4297680" cy="320040"/>
          </a:xfrm>
          <a:prstGeom prst="rect">
            <a:avLst/>
          </a:prstGeom>
          <a:noFill/>
          <a:ln/>
        </p:spPr>
        <p:txBody>
          <a:bodyPr wrap="square" lIns="0" tIns="0" rIns="0" bIns="0" rtlCol="0" anchor="ctr"/>
          <a:lstStyle/>
          <a:p>
            <a:pPr marL="0" indent="0">
              <a:buNone/>
            </a:pPr>
            <a:r>
              <a:rPr lang="en-US" sz="1300" b="1" dirty="0">
                <a:solidFill>
                  <a:srgbClr val="0097A7"/>
                </a:solidFill>
                <a:latin typeface="Calibri" pitchFamily="34" charset="0"/>
                <a:ea typeface="Calibri" pitchFamily="34" charset="-122"/>
                <a:cs typeface="Calibri" pitchFamily="34" charset="-120"/>
              </a:rPr>
              <a:t>LINQ ⚡</a:t>
            </a:r>
            <a:endParaRPr lang="en-US" sz="1300" dirty="0"/>
          </a:p>
        </p:txBody>
      </p:sp>
      <p:sp>
        <p:nvSpPr>
          <p:cNvPr id="9" name="Shape 7"/>
          <p:cNvSpPr/>
          <p:nvPr/>
        </p:nvSpPr>
        <p:spPr>
          <a:xfrm>
            <a:off x="4572000" y="1234440"/>
            <a:ext cx="4297680" cy="219456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10" name="Text 8"/>
          <p:cNvSpPr/>
          <p:nvPr/>
        </p:nvSpPr>
        <p:spPr>
          <a:xfrm>
            <a:off x="4736592" y="1344168"/>
            <a:ext cx="3968496" cy="197510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With LINQ:</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excellent = students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.Where(s =&gt; s.Grade &gt;= 9)</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.ToList();</a:t>
            </a:r>
            <a:endParaRPr lang="en-US" sz="1150" dirty="0"/>
          </a:p>
          <a:p>
            <a:pPr marL="0" indent="0" algn="l">
              <a:buNone/>
            </a:pPr>
            <a:endParaRPr lang="en-US" sz="1150" dirty="0"/>
          </a:p>
          <a:p>
            <a:pPr marL="0" indent="0" algn="l">
              <a:buNone/>
            </a:pP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Same result — reads like a sentence!</a:t>
            </a:r>
            <a:endParaRPr lang="en-US" sz="1150" dirty="0"/>
          </a:p>
        </p:txBody>
      </p:sp>
      <p:sp>
        <p:nvSpPr>
          <p:cNvPr id="11" name="Text 9"/>
          <p:cNvSpPr/>
          <p:nvPr/>
        </p:nvSpPr>
        <p:spPr>
          <a:xfrm>
            <a:off x="274320" y="3566160"/>
            <a:ext cx="8595360" cy="685800"/>
          </a:xfrm>
          <a:prstGeom prst="rect">
            <a:avLst/>
          </a:prstGeom>
          <a:noFill/>
          <a:ln/>
        </p:spPr>
        <p:txBody>
          <a:bodyPr wrap="square" lIns="0" tIns="0" rIns="0" bIns="0" rtlCol="0" anchor="ctr"/>
          <a:lstStyle/>
          <a:p>
            <a:pPr marL="0" indent="0">
              <a:buNone/>
            </a:pPr>
            <a:r>
              <a:rPr lang="en-US" sz="1250" dirty="0">
                <a:solidFill>
                  <a:srgbClr val="37474F"/>
                </a:solidFill>
                <a:latin typeface="Calibri" pitchFamily="34" charset="0"/>
                <a:ea typeface="Calibri" pitchFamily="34" charset="-122"/>
                <a:cs typeface="Calibri" pitchFamily="34" charset="-120"/>
              </a:rPr>
              <a:t>LINQ is a .NET library that lets you write filtering, sorting, and transformation operations</a:t>
            </a:r>
            <a:endParaRPr lang="en-US" sz="1250" dirty="0"/>
          </a:p>
          <a:p>
            <a:pPr marL="0" indent="0">
              <a:buNone/>
            </a:pPr>
            <a:r>
              <a:rPr lang="en-US" sz="1250" dirty="0">
                <a:solidFill>
                  <a:srgbClr val="37474F"/>
                </a:solidFill>
                <a:latin typeface="Calibri" pitchFamily="34" charset="0"/>
                <a:ea typeface="Calibri" pitchFamily="34" charset="-122"/>
                <a:cs typeface="Calibri" pitchFamily="34" charset="-120"/>
              </a:rPr>
              <a:t>using method chaining. Works with any IEnumerable&lt;T&gt;.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LINQ: Where  +  Select</a:t>
            </a:r>
            <a:endParaRPr lang="en-US" sz="2200" dirty="0"/>
          </a:p>
        </p:txBody>
      </p:sp>
      <p:sp>
        <p:nvSpPr>
          <p:cNvPr id="5" name="Shape 3"/>
          <p:cNvSpPr/>
          <p:nvPr/>
        </p:nvSpPr>
        <p:spPr>
          <a:xfrm>
            <a:off x="274320" y="914400"/>
            <a:ext cx="8595360" cy="365760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6" name="Text 4"/>
          <p:cNvSpPr/>
          <p:nvPr/>
        </p:nvSpPr>
        <p:spPr>
          <a:xfrm>
            <a:off x="438912" y="1024128"/>
            <a:ext cx="8266176" cy="343814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WHERE — filters elements (like SQL WHERE)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passed  = students.Where(s =&gt; s.Grade &gt;= 5);</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seniors = students.Where(s =&gt; s.Year == 3);</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active  = students.Where(s =&gt; s.IsActive &amp;&amp; s.Grade &gt; 4);</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SELECT — transforms to a new shape (projection)</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names   = students.Select(s =&gt; s.Name);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summary = students.Select(s =&gt; $"{s.Name}: {s.Grade:F1}");</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Chain them — filter AND transform</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report = students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.Where(s =&gt; s.Grade &gt;= 5)           // only passing</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.Select(s =&gt; $"{s.Name}: {s.Grade:F1}")  // to string</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.ToList();                           // convert to list</a:t>
            </a:r>
            <a:endParaRPr lang="en-US" sz="1150" dirty="0"/>
          </a:p>
        </p:txBody>
      </p:sp>
      <p:sp>
        <p:nvSpPr>
          <p:cNvPr id="7" name="Text 5"/>
          <p:cNvSpPr/>
          <p:nvPr/>
        </p:nvSpPr>
        <p:spPr>
          <a:xfrm>
            <a:off x="274320" y="4663440"/>
            <a:ext cx="8595360" cy="347472"/>
          </a:xfrm>
          <a:prstGeom prst="rect">
            <a:avLst/>
          </a:prstGeom>
          <a:noFill/>
          <a:ln/>
        </p:spPr>
        <p:txBody>
          <a:bodyPr wrap="square" lIns="0" tIns="0" rIns="0" bIns="0" rtlCol="0" anchor="ctr"/>
          <a:lstStyle/>
          <a:p>
            <a:pPr marL="0" indent="0">
              <a:buNone/>
            </a:pPr>
            <a:r>
              <a:rPr lang="en-US" sz="1200" dirty="0">
                <a:solidFill>
                  <a:srgbClr val="0097A7"/>
                </a:solidFill>
                <a:latin typeface="Calibri" pitchFamily="34" charset="0"/>
                <a:ea typeface="Calibri" pitchFamily="34" charset="-122"/>
                <a:cs typeface="Calibri" pitchFamily="34" charset="-120"/>
              </a:rPr>
              <a:t>⚡ LINQ operations are lazy — they don't execute until you call .ToList() or iterate with foreach.</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LINQ: OrderBy  +  First  /  FirstOrDefault</a:t>
            </a:r>
            <a:endParaRPr lang="en-US" sz="2200" dirty="0"/>
          </a:p>
        </p:txBody>
      </p:sp>
      <p:sp>
        <p:nvSpPr>
          <p:cNvPr id="5" name="Shape 3"/>
          <p:cNvSpPr/>
          <p:nvPr/>
        </p:nvSpPr>
        <p:spPr>
          <a:xfrm>
            <a:off x="274320" y="914400"/>
            <a:ext cx="8595360" cy="352044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6" name="Text 4"/>
          <p:cNvSpPr/>
          <p:nvPr/>
        </p:nvSpPr>
        <p:spPr>
          <a:xfrm>
            <a:off x="438912" y="1024128"/>
            <a:ext cx="8266176" cy="330098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ORDERBY — sorts elements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byName  = students.OrderBy(s =&gt; s.Name);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byGrade = students.OrderByDescending(s =&gt; s.Grade);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Multi-level sort: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sorted  = students.OrderBy(s =&gt; s.GroupName)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.ThenBy(s =&gt; s.Name);</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FIRST — first element (throws if empty!)</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best = students.OrderByDescending(s =&gt; s.Grade).First();</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FIRSTORDEFAULT — returns null if not found (safe!)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found = students.FirstOrDefault(s =&gt; s.Name == "Alice");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if (found == null)</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Console.WriteLine("Student not found");</a:t>
            </a:r>
            <a:endParaRPr lang="en-US" sz="1150" dirty="0"/>
          </a:p>
        </p:txBody>
      </p:sp>
      <p:sp>
        <p:nvSpPr>
          <p:cNvPr id="7" name="Shape 5"/>
          <p:cNvSpPr/>
          <p:nvPr/>
        </p:nvSpPr>
        <p:spPr>
          <a:xfrm>
            <a:off x="274320" y="4526280"/>
            <a:ext cx="8595360" cy="475488"/>
          </a:xfrm>
          <a:prstGeom prst="rect">
            <a:avLst/>
          </a:prstGeom>
          <a:solidFill>
            <a:srgbClr val="FFF8E1"/>
          </a:solidFill>
          <a:ln w="12700">
            <a:solidFill>
              <a:srgbClr val="F9A825"/>
            </a:solidFill>
            <a:prstDash val="solid"/>
          </a:ln>
        </p:spPr>
        <p:txBody>
          <a:bodyPr/>
          <a:lstStyle/>
          <a:p>
            <a:endParaRPr lang="en-US"/>
          </a:p>
        </p:txBody>
      </p:sp>
      <p:sp>
        <p:nvSpPr>
          <p:cNvPr id="8" name="Text 6"/>
          <p:cNvSpPr/>
          <p:nvPr/>
        </p:nvSpPr>
        <p:spPr>
          <a:xfrm>
            <a:off x="438912" y="4553712"/>
            <a:ext cx="8229600" cy="402336"/>
          </a:xfrm>
          <a:prstGeom prst="rect">
            <a:avLst/>
          </a:prstGeom>
          <a:noFill/>
          <a:ln/>
        </p:spPr>
        <p:txBody>
          <a:bodyPr wrap="square" lIns="0" tIns="0" rIns="0" bIns="0" rtlCol="0" anchor="ctr"/>
          <a:lstStyle/>
          <a:p>
            <a:pPr marL="0" indent="0">
              <a:buNone/>
            </a:pPr>
            <a:r>
              <a:rPr lang="en-US" sz="1300" b="1" dirty="0">
                <a:solidFill>
                  <a:srgbClr val="4E342E"/>
                </a:solidFill>
                <a:latin typeface="Calibri" pitchFamily="34" charset="0"/>
                <a:ea typeface="Calibri" pitchFamily="34" charset="-122"/>
                <a:cs typeface="Calibri" pitchFamily="34" charset="-120"/>
              </a:rPr>
              <a:t>⚠  .First() throws InvalidOperationException if the collection is empty. Prefer .FirstOrDefault() when unsure.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LINQ: Any  +  Count  +  GroupBy</a:t>
            </a:r>
            <a:endParaRPr lang="en-US" sz="2200" dirty="0"/>
          </a:p>
        </p:txBody>
      </p:sp>
      <p:sp>
        <p:nvSpPr>
          <p:cNvPr id="5" name="Shape 3"/>
          <p:cNvSpPr/>
          <p:nvPr/>
        </p:nvSpPr>
        <p:spPr>
          <a:xfrm>
            <a:off x="274320" y="914400"/>
            <a:ext cx="8595360" cy="384048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6" name="Text 4"/>
          <p:cNvSpPr/>
          <p:nvPr/>
        </p:nvSpPr>
        <p:spPr>
          <a:xfrm>
            <a:off x="438912" y="1024128"/>
            <a:ext cx="8266176" cy="362102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ANY — is there at least one match?  (returns bool)</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bool hasExcellent = students.Any(s =&gt; s.Grade &gt;= 9);</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bool isEmpty      = !students.Any();   // is it empty?</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COUNT — how many elements match?</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int total    = students.Count();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int failing  = students.Count(s =&gt; s.Grade &lt; 5);</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int passing  = students.Count(s =&gt; s.Grade &gt;= 5);</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GROUPBY — groups by a key</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byGroup = students.GroupBy(s =&gt; s.GroupName);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foreach (var group in byGroup)</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Console.WriteLine($"Group {group.Key}: {group.Count()} students");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var avg = group.Average(s =&gt; s.Grade);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Console.WriteLine($"  Average: {avg:F2}");</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LINQ — Full Pipeline</a:t>
            </a:r>
            <a:endParaRPr lang="en-US" sz="2200" dirty="0"/>
          </a:p>
        </p:txBody>
      </p:sp>
      <p:sp>
        <p:nvSpPr>
          <p:cNvPr id="5" name="Shape 3"/>
          <p:cNvSpPr/>
          <p:nvPr/>
        </p:nvSpPr>
        <p:spPr>
          <a:xfrm>
            <a:off x="274320" y="914400"/>
            <a:ext cx="8595360" cy="365760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6" name="Text 4"/>
          <p:cNvSpPr/>
          <p:nvPr/>
        </p:nvSpPr>
        <p:spPr>
          <a:xfrm>
            <a:off x="438912" y="1024128"/>
            <a:ext cx="8266176" cy="343814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Full LINQ pipeline — real example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report = _repository.GetAll()</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.Where(s =&gt; s.IsActive)                          // 1. filter</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.Where(s =&gt; s.Grade &gt;= 5)                        // 2. passing only</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.OrderByDescending(s =&gt; s.Grade)                 // 3. sort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.Select(s =&gt; new                                 // 4. transform</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s.Name,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Grade = s.Grade.ToString("F1"),</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Status = s.Grade &gt;= 9 ? "Excellent" : "Passed"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.ToList();                                       // 5. execute</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Matches our pipeline: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GetAll → ValidateAll → Calculate → Print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Just written in LINQ syntax!</a:t>
            </a:r>
            <a:endParaRPr lang="en-US" sz="1150" dirty="0"/>
          </a:p>
        </p:txBody>
      </p:sp>
      <p:sp>
        <p:nvSpPr>
          <p:cNvPr id="7" name="Text 5"/>
          <p:cNvSpPr/>
          <p:nvPr/>
        </p:nvSpPr>
        <p:spPr>
          <a:xfrm>
            <a:off x="274320" y="4663440"/>
            <a:ext cx="8595360" cy="365760"/>
          </a:xfrm>
          <a:prstGeom prst="rect">
            <a:avLst/>
          </a:prstGeom>
          <a:noFill/>
          <a:ln/>
        </p:spPr>
        <p:txBody>
          <a:bodyPr wrap="square" lIns="0" tIns="0" rIns="0" bIns="0" rtlCol="0" anchor="ctr"/>
          <a:lstStyle/>
          <a:p>
            <a:pPr marL="0" indent="0" algn="ctr">
              <a:buNone/>
            </a:pPr>
            <a:r>
              <a:rPr lang="en-US" sz="1300" b="1" dirty="0">
                <a:solidFill>
                  <a:srgbClr val="1A237E"/>
                </a:solidFill>
                <a:latin typeface="Calibri" pitchFamily="34" charset="0"/>
                <a:ea typeface="Calibri" pitchFamily="34" charset="-122"/>
                <a:cs typeface="Calibri" pitchFamily="34" charset="-120"/>
              </a:rPr>
              <a:t>LINQ method chain mirrors the architectural pipeline — same thinking, compact syntax.</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37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365760" y="1920240"/>
            <a:ext cx="8503920" cy="128016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5. Generics &amp; IRepository&lt;T&gt;</a:t>
            </a:r>
            <a:endParaRPr lang="en-US" sz="4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What Is &lt;T&gt;? — Type Parameter</a:t>
            </a:r>
            <a:endParaRPr lang="en-US" sz="2200" dirty="0"/>
          </a:p>
        </p:txBody>
      </p:sp>
      <p:sp>
        <p:nvSpPr>
          <p:cNvPr id="5" name="Shape 3"/>
          <p:cNvSpPr/>
          <p:nvPr/>
        </p:nvSpPr>
        <p:spPr>
          <a:xfrm>
            <a:off x="274320" y="914400"/>
            <a:ext cx="8595360" cy="374904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6" name="Text 4"/>
          <p:cNvSpPr/>
          <p:nvPr/>
        </p:nvSpPr>
        <p:spPr>
          <a:xfrm>
            <a:off x="438912" y="1024128"/>
            <a:ext cx="8266176" cy="352958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You already use generics: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List&lt;Student&gt;             // T = Student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List&lt;string&gt;              // T = string</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Dictionary&lt;int, Student&gt;  // TKey=int, TValue=Student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IReadOnlyList&lt;Order&gt;      // T = Order</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T = "type parameter" — decided at the call site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One code → many types</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Example — generic method: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static T? FindFirst&lt;T&gt;(List&lt;T&gt; items, Func&lt;T, bool&gt; condition)</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return items.FirstOrDefault(condition);</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Usage: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s = FindFirst(students, s =&gt; s.Grade &gt;= 9);  // T = Student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var o = FindFirst(orders,   o =&gt; o.Total &gt; 100); // T = Order</a:t>
            </a:r>
            <a:endParaRPr lang="en-US" sz="1150" dirty="0"/>
          </a:p>
        </p:txBody>
      </p:sp>
      <p:sp>
        <p:nvSpPr>
          <p:cNvPr id="7" name="Text 5"/>
          <p:cNvSpPr/>
          <p:nvPr/>
        </p:nvSpPr>
        <p:spPr>
          <a:xfrm>
            <a:off x="274320" y="4754880"/>
            <a:ext cx="8595360" cy="347472"/>
          </a:xfrm>
          <a:prstGeom prst="rect">
            <a:avLst/>
          </a:prstGeom>
          <a:noFill/>
          <a:ln/>
        </p:spPr>
        <p:txBody>
          <a:bodyPr wrap="square" lIns="0" tIns="0" rIns="0" bIns="0" rtlCol="0" anchor="ctr"/>
          <a:lstStyle/>
          <a:p>
            <a:pPr marL="0" indent="0" algn="ctr">
              <a:buNone/>
            </a:pPr>
            <a:r>
              <a:rPr lang="en-US" sz="1300" b="1" dirty="0">
                <a:solidFill>
                  <a:srgbClr val="0097A7"/>
                </a:solidFill>
                <a:latin typeface="Calibri" pitchFamily="34" charset="0"/>
                <a:ea typeface="Calibri" pitchFamily="34" charset="-122"/>
                <a:cs typeface="Calibri" pitchFamily="34" charset="-120"/>
              </a:rPr>
              <a:t>Generics = DRY applied to types: write code once, use with any type.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IRepository&lt;T&gt; — Universal Repository Interface</a:t>
            </a:r>
            <a:endParaRPr lang="en-US" sz="2200" dirty="0"/>
          </a:p>
        </p:txBody>
      </p:sp>
      <p:sp>
        <p:nvSpPr>
          <p:cNvPr id="5" name="Shape 3"/>
          <p:cNvSpPr/>
          <p:nvPr/>
        </p:nvSpPr>
        <p:spPr>
          <a:xfrm>
            <a:off x="274320" y="914400"/>
            <a:ext cx="8595360" cy="365760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6" name="Text 4"/>
          <p:cNvSpPr/>
          <p:nvPr/>
        </p:nvSpPr>
        <p:spPr>
          <a:xfrm>
            <a:off x="438912" y="1024128"/>
            <a:ext cx="8266176" cy="343814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 First — a base interface for entities (needs 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public interface IEntity</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int Id { get; }</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Generic repository interface</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public interface IRepository&lt;T&gt; where T : IEntity</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void                  Add(T item);</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T?                    GetById(int 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IReadOnlyList&lt;T&gt;      GetAll();</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bool                  Remove(int 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One interface works for all entities:</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IRepository&lt;Student&gt;    // student repository</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IRepository&lt;Order&gt;      // order repository</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IRepository&lt;Course&gt;     // course repository</a:t>
            </a:r>
            <a:endParaRPr lang="en-US" sz="1150" dirty="0"/>
          </a:p>
        </p:txBody>
      </p:sp>
      <p:sp>
        <p:nvSpPr>
          <p:cNvPr id="7" name="Text 5"/>
          <p:cNvSpPr/>
          <p:nvPr/>
        </p:nvSpPr>
        <p:spPr>
          <a:xfrm>
            <a:off x="274320" y="4663440"/>
            <a:ext cx="8595360" cy="365760"/>
          </a:xfrm>
          <a:prstGeom prst="rect">
            <a:avLst/>
          </a:prstGeom>
          <a:noFill/>
          <a:ln/>
        </p:spPr>
        <p:txBody>
          <a:bodyPr wrap="square" lIns="0" tIns="0" rIns="0" bIns="0" rtlCol="0" anchor="ctr"/>
          <a:lstStyle/>
          <a:p>
            <a:pPr marL="0" indent="0">
              <a:buNone/>
            </a:pPr>
            <a:r>
              <a:rPr lang="en-US" sz="1250" dirty="0">
                <a:solidFill>
                  <a:srgbClr val="37474F"/>
                </a:solidFill>
                <a:latin typeface="Calibri" pitchFamily="34" charset="0"/>
                <a:ea typeface="Calibri" pitchFamily="34" charset="-122"/>
                <a:cs typeface="Calibri" pitchFamily="34" charset="-120"/>
              </a:rPr>
              <a:t>where T : IEntity — constraint. T must implement IEntity, so we know it has an Id.</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MemoryRepository&lt;T&gt; — One Implementation</a:t>
            </a:r>
            <a:endParaRPr lang="en-US" sz="2200" dirty="0"/>
          </a:p>
        </p:txBody>
      </p:sp>
      <p:sp>
        <p:nvSpPr>
          <p:cNvPr id="5" name="Shape 3"/>
          <p:cNvSpPr/>
          <p:nvPr/>
        </p:nvSpPr>
        <p:spPr>
          <a:xfrm>
            <a:off x="274320" y="914400"/>
            <a:ext cx="8595360" cy="3291840"/>
          </a:xfrm>
          <a:prstGeom prst="rect">
            <a:avLst/>
          </a:prstGeom>
          <a:solidFill>
            <a:srgbClr val="1E2A3A"/>
          </a:solidFill>
          <a:ln w="12700">
            <a:solidFill>
              <a:srgbClr val="1E2A3A"/>
            </a:solidFill>
            <a:prstDash val="solid"/>
          </a:ln>
          <a:effectLst>
            <a:outerShdw blurRad="101600" dist="38100" dir="8100000" algn="bl" rotWithShape="0">
              <a:srgbClr val="000000">
                <a:alpha val="20000"/>
              </a:srgbClr>
            </a:outerShdw>
          </a:effectLst>
        </p:spPr>
        <p:txBody>
          <a:bodyPr/>
          <a:lstStyle/>
          <a:p>
            <a:endParaRPr lang="en-US"/>
          </a:p>
        </p:txBody>
      </p:sp>
      <p:sp>
        <p:nvSpPr>
          <p:cNvPr id="6" name="Text 4"/>
          <p:cNvSpPr/>
          <p:nvPr/>
        </p:nvSpPr>
        <p:spPr>
          <a:xfrm>
            <a:off x="438912" y="1024128"/>
            <a:ext cx="8266176" cy="2935224"/>
          </a:xfrm>
          <a:prstGeom prst="rect">
            <a:avLst/>
          </a:prstGeom>
          <a:noFill/>
          <a:ln/>
        </p:spPr>
        <p:txBody>
          <a:bodyPr wrap="square" lIns="0" tIns="0" rIns="0" bIns="0" rtlCol="0" anchor="t"/>
          <a:lstStyle/>
          <a:p>
            <a:pPr marL="0" indent="0" algn="l">
              <a:buNone/>
            </a:pPr>
            <a:r>
              <a:rPr lang="en-US" sz="1150" dirty="0">
                <a:solidFill>
                  <a:srgbClr val="E8EAF6"/>
                </a:solidFill>
                <a:latin typeface="Courier New" pitchFamily="34" charset="0"/>
                <a:ea typeface="Courier New" pitchFamily="34" charset="-122"/>
                <a:cs typeface="Courier New" pitchFamily="34" charset="-120"/>
              </a:rPr>
              <a:t>public class MemoryRepository&lt;T&gt; : IRepository&lt;T&gt;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where T : IEntity</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private Dictionary&lt;int, T&gt; _items = new();</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public void Add(T item)</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=&gt; _items[item.Id] = item;</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public T? GetById(int 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=&gt; _items.TryGetValue(id, out var item) ? item : null;</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public IReadOnlyList&lt;T&gt; GetAll()</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=&gt; _items.Values.ToList();</a:t>
            </a:r>
            <a:endParaRPr lang="en-US" sz="1150" dirty="0"/>
          </a:p>
          <a:p>
            <a:pPr marL="0" indent="0" algn="l">
              <a:buNone/>
            </a:pP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public bool Remove(int 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=&gt; _items.Remove(id);</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a:t>
            </a:r>
            <a:endParaRPr lang="en-US" sz="1150" dirty="0"/>
          </a:p>
          <a:p>
            <a:pPr marL="0" indent="0" algn="l">
              <a:buNone/>
            </a:pPr>
            <a:r>
              <a:rPr lang="en-US" sz="1150" dirty="0">
                <a:solidFill>
                  <a:srgbClr val="E8EAF6"/>
                </a:solidFill>
                <a:latin typeface="Courier New" pitchFamily="34" charset="0"/>
                <a:ea typeface="Courier New" pitchFamily="34" charset="-122"/>
                <a:cs typeface="Courier New" pitchFamily="34" charset="-120"/>
              </a:rPr>
              <a:t>// MemoryRepository&lt;T&gt; code is written ONCE!</a:t>
            </a:r>
            <a:endParaRPr lang="en-US" sz="1150" dirty="0"/>
          </a:p>
        </p:txBody>
      </p:sp>
      <p:sp>
        <p:nvSpPr>
          <p:cNvPr id="7" name="Text 5"/>
          <p:cNvSpPr/>
          <p:nvPr/>
        </p:nvSpPr>
        <p:spPr>
          <a:xfrm>
            <a:off x="274320" y="4206240"/>
            <a:ext cx="2286000" cy="320040"/>
          </a:xfrm>
          <a:prstGeom prst="rect">
            <a:avLst/>
          </a:prstGeom>
          <a:noFill/>
          <a:ln/>
        </p:spPr>
        <p:txBody>
          <a:bodyPr wrap="square" lIns="0" tIns="0" rIns="0" bIns="0"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Usage:</a:t>
            </a:r>
            <a:endParaRPr lang="en-US" sz="1300" dirty="0"/>
          </a:p>
        </p:txBody>
      </p:sp>
      <p:sp>
        <p:nvSpPr>
          <p:cNvPr id="8" name="Shape 6"/>
          <p:cNvSpPr/>
          <p:nvPr/>
        </p:nvSpPr>
        <p:spPr>
          <a:xfrm>
            <a:off x="274320" y="4526280"/>
            <a:ext cx="8595360" cy="502920"/>
          </a:xfrm>
          <a:prstGeom prst="rect">
            <a:avLst/>
          </a:prstGeom>
          <a:solidFill>
            <a:srgbClr val="1E2A3A"/>
          </a:solidFill>
          <a:ln w="12700">
            <a:solidFill>
              <a:srgbClr val="1E2A3A"/>
            </a:solidFill>
            <a:prstDash val="solid"/>
          </a:ln>
        </p:spPr>
        <p:txBody>
          <a:bodyPr/>
          <a:lstStyle/>
          <a:p>
            <a:endParaRPr lang="en-US"/>
          </a:p>
        </p:txBody>
      </p:sp>
      <p:sp>
        <p:nvSpPr>
          <p:cNvPr id="9" name="Text 7"/>
          <p:cNvSpPr/>
          <p:nvPr/>
        </p:nvSpPr>
        <p:spPr>
          <a:xfrm>
            <a:off x="411480" y="4544568"/>
            <a:ext cx="8321040" cy="438912"/>
          </a:xfrm>
          <a:prstGeom prst="rect">
            <a:avLst/>
          </a:prstGeom>
          <a:noFill/>
          <a:ln/>
        </p:spPr>
        <p:txBody>
          <a:bodyPr wrap="square" lIns="0" tIns="0" rIns="0" bIns="0" rtlCol="0" anchor="ctr"/>
          <a:lstStyle/>
          <a:p>
            <a:pPr marL="0" indent="0">
              <a:buNone/>
            </a:pPr>
            <a:r>
              <a:rPr lang="en-US" sz="1100" dirty="0">
                <a:solidFill>
                  <a:srgbClr val="E8EAF6"/>
                </a:solidFill>
                <a:latin typeface="Courier New" pitchFamily="34" charset="0"/>
                <a:ea typeface="Courier New" pitchFamily="34" charset="-122"/>
                <a:cs typeface="Courier New" pitchFamily="34" charset="-120"/>
              </a:rPr>
              <a:t>IRepository&lt;Student&gt; studentRepo = new MemoryRepository&lt;Student&gt;();</a:t>
            </a:r>
            <a:endParaRPr lang="en-US" sz="1100" dirty="0"/>
          </a:p>
          <a:p>
            <a:pPr marL="0" indent="0">
              <a:buNone/>
            </a:pPr>
            <a:r>
              <a:rPr lang="en-US" sz="1100" dirty="0">
                <a:solidFill>
                  <a:srgbClr val="E8EAF6"/>
                </a:solidFill>
                <a:latin typeface="Courier New" pitchFamily="34" charset="0"/>
                <a:ea typeface="Courier New" pitchFamily="34" charset="-122"/>
                <a:cs typeface="Courier New" pitchFamily="34" charset="-120"/>
              </a:rPr>
              <a:t>IRepository&lt;Order&gt;   orderRepo   = new MemoryRepository&lt;Order&gt;();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237E"/>
          </a:solidFill>
          <a:ln w="12700">
            <a:solidFill>
              <a:srgbClr val="1A237E"/>
            </a:solidFill>
            <a:prstDash val="solid"/>
          </a:ln>
        </p:spPr>
        <p:txBody>
          <a:bodyPr/>
          <a:lstStyle/>
          <a:p>
            <a:endParaRPr lang="en-US"/>
          </a:p>
        </p:txBody>
      </p:sp>
      <p:sp>
        <p:nvSpPr>
          <p:cNvPr id="3" name="Shape 1"/>
          <p:cNvSpPr/>
          <p:nvPr/>
        </p:nvSpPr>
        <p:spPr>
          <a:xfrm>
            <a:off x="0" y="731520"/>
            <a:ext cx="9144000" cy="54864"/>
          </a:xfrm>
          <a:prstGeom prst="rect">
            <a:avLst/>
          </a:prstGeom>
          <a:solidFill>
            <a:srgbClr val="0097A7"/>
          </a:solidFill>
          <a:ln w="12700">
            <a:solidFill>
              <a:srgbClr val="0097A7"/>
            </a:solidFill>
            <a:prstDash val="solid"/>
          </a:ln>
        </p:spPr>
        <p:txBody>
          <a:bodyPr/>
          <a:lstStyle/>
          <a:p>
            <a:endParaRPr lang="en-US"/>
          </a:p>
        </p:txBody>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OOP Principles — What We Applied Today</a:t>
            </a:r>
            <a:endParaRPr lang="en-US" sz="2200" dirty="0"/>
          </a:p>
        </p:txBody>
      </p:sp>
      <p:sp>
        <p:nvSpPr>
          <p:cNvPr id="5" name="Shape 3"/>
          <p:cNvSpPr/>
          <p:nvPr/>
        </p:nvSpPr>
        <p:spPr>
          <a:xfrm>
            <a:off x="274320" y="914400"/>
            <a:ext cx="64008" cy="640080"/>
          </a:xfrm>
          <a:prstGeom prst="rect">
            <a:avLst/>
          </a:prstGeom>
          <a:solidFill>
            <a:srgbClr val="0097A7"/>
          </a:solidFill>
          <a:ln w="12700">
            <a:solidFill>
              <a:srgbClr val="0097A7"/>
            </a:solidFill>
            <a:prstDash val="solid"/>
          </a:ln>
        </p:spPr>
        <p:txBody>
          <a:bodyPr/>
          <a:lstStyle/>
          <a:p>
            <a:endParaRPr lang="en-US"/>
          </a:p>
        </p:txBody>
      </p:sp>
      <p:sp>
        <p:nvSpPr>
          <p:cNvPr id="6" name="Text 4"/>
          <p:cNvSpPr/>
          <p:nvPr/>
        </p:nvSpPr>
        <p:spPr>
          <a:xfrm>
            <a:off x="457200" y="941832"/>
            <a:ext cx="2560320" cy="274320"/>
          </a:xfrm>
          <a:prstGeom prst="rect">
            <a:avLst/>
          </a:prstGeom>
          <a:noFill/>
          <a:ln/>
        </p:spPr>
        <p:txBody>
          <a:bodyPr wrap="square" lIns="0" tIns="0" rIns="0" bIns="0"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Encapsulation</a:t>
            </a:r>
            <a:endParaRPr lang="en-US" sz="1300" dirty="0"/>
          </a:p>
        </p:txBody>
      </p:sp>
      <p:sp>
        <p:nvSpPr>
          <p:cNvPr id="7" name="Text 5"/>
          <p:cNvSpPr/>
          <p:nvPr/>
        </p:nvSpPr>
        <p:spPr>
          <a:xfrm>
            <a:off x="457200" y="1225296"/>
            <a:ext cx="2560320" cy="256032"/>
          </a:xfrm>
          <a:prstGeom prst="rect">
            <a:avLst/>
          </a:prstGeom>
          <a:noFill/>
          <a:ln/>
        </p:spPr>
        <p:txBody>
          <a:bodyPr wrap="square" lIns="0" tIns="0" rIns="0" bIns="0" rtlCol="0" anchor="ctr"/>
          <a:lstStyle/>
          <a:p>
            <a:pPr marL="0" indent="0">
              <a:buNone/>
            </a:pPr>
            <a:r>
              <a:rPr lang="en-US" sz="1000" dirty="0">
                <a:solidFill>
                  <a:srgbClr val="0097A7"/>
                </a:solidFill>
                <a:latin typeface="Courier New" pitchFamily="34" charset="0"/>
                <a:ea typeface="Courier New" pitchFamily="34" charset="-122"/>
                <a:cs typeface="Courier New" pitchFamily="34" charset="-120"/>
              </a:rPr>
              <a:t>private list/dictionary, IReadOnlyList externally</a:t>
            </a:r>
            <a:endParaRPr lang="en-US" sz="1000" dirty="0"/>
          </a:p>
        </p:txBody>
      </p:sp>
      <p:sp>
        <p:nvSpPr>
          <p:cNvPr id="8" name="Text 6"/>
          <p:cNvSpPr/>
          <p:nvPr/>
        </p:nvSpPr>
        <p:spPr>
          <a:xfrm>
            <a:off x="3200400" y="1042416"/>
            <a:ext cx="5577840" cy="402336"/>
          </a:xfrm>
          <a:prstGeom prst="rect">
            <a:avLst/>
          </a:prstGeom>
          <a:noFill/>
          <a:ln/>
        </p:spPr>
        <p:txBody>
          <a:bodyPr wrap="square" lIns="0" tIns="0" rIns="0" bIns="0" rtlCol="0" anchor="ctr"/>
          <a:lstStyle/>
          <a:p>
            <a:pPr marL="0" indent="0">
              <a:buNone/>
            </a:pPr>
            <a:r>
              <a:rPr lang="en-US" sz="1150" dirty="0">
                <a:solidFill>
                  <a:srgbClr val="37474F"/>
                </a:solidFill>
                <a:latin typeface="Calibri" pitchFamily="34" charset="0"/>
                <a:ea typeface="Calibri" pitchFamily="34" charset="-122"/>
                <a:cs typeface="Calibri" pitchFamily="34" charset="-120"/>
              </a:rPr>
              <a:t>Repository stores data, nobody outside can directly modify it</a:t>
            </a:r>
            <a:endParaRPr lang="en-US" sz="1150" dirty="0"/>
          </a:p>
        </p:txBody>
      </p:sp>
      <p:sp>
        <p:nvSpPr>
          <p:cNvPr id="9" name="Shape 7"/>
          <p:cNvSpPr/>
          <p:nvPr/>
        </p:nvSpPr>
        <p:spPr>
          <a:xfrm>
            <a:off x="274320" y="1719072"/>
            <a:ext cx="64008" cy="640080"/>
          </a:xfrm>
          <a:prstGeom prst="rect">
            <a:avLst/>
          </a:prstGeom>
          <a:solidFill>
            <a:srgbClr val="0097A7"/>
          </a:solidFill>
          <a:ln w="12700">
            <a:solidFill>
              <a:srgbClr val="0097A7"/>
            </a:solidFill>
            <a:prstDash val="solid"/>
          </a:ln>
        </p:spPr>
        <p:txBody>
          <a:bodyPr/>
          <a:lstStyle/>
          <a:p>
            <a:endParaRPr lang="en-US"/>
          </a:p>
        </p:txBody>
      </p:sp>
      <p:sp>
        <p:nvSpPr>
          <p:cNvPr id="10" name="Text 8"/>
          <p:cNvSpPr/>
          <p:nvPr/>
        </p:nvSpPr>
        <p:spPr>
          <a:xfrm>
            <a:off x="457200" y="1746504"/>
            <a:ext cx="2560320" cy="274320"/>
          </a:xfrm>
          <a:prstGeom prst="rect">
            <a:avLst/>
          </a:prstGeom>
          <a:noFill/>
          <a:ln/>
        </p:spPr>
        <p:txBody>
          <a:bodyPr wrap="square" lIns="0" tIns="0" rIns="0" bIns="0"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Single Responsibility</a:t>
            </a:r>
            <a:endParaRPr lang="en-US" sz="1300" dirty="0"/>
          </a:p>
        </p:txBody>
      </p:sp>
      <p:sp>
        <p:nvSpPr>
          <p:cNvPr id="11" name="Text 9"/>
          <p:cNvSpPr/>
          <p:nvPr/>
        </p:nvSpPr>
        <p:spPr>
          <a:xfrm>
            <a:off x="457200" y="2029968"/>
            <a:ext cx="2560320" cy="256032"/>
          </a:xfrm>
          <a:prstGeom prst="rect">
            <a:avLst/>
          </a:prstGeom>
          <a:noFill/>
          <a:ln/>
        </p:spPr>
        <p:txBody>
          <a:bodyPr wrap="square" lIns="0" tIns="0" rIns="0" bIns="0" rtlCol="0" anchor="ctr"/>
          <a:lstStyle/>
          <a:p>
            <a:pPr marL="0" indent="0">
              <a:buNone/>
            </a:pPr>
            <a:r>
              <a:rPr lang="en-US" sz="1000" dirty="0">
                <a:solidFill>
                  <a:srgbClr val="0097A7"/>
                </a:solidFill>
                <a:latin typeface="Courier New" pitchFamily="34" charset="0"/>
                <a:ea typeface="Courier New" pitchFamily="34" charset="-122"/>
                <a:cs typeface="Courier New" pitchFamily="34" charset="-120"/>
              </a:rPr>
              <a:t>Repository = storage, Service = logic</a:t>
            </a:r>
            <a:endParaRPr lang="en-US" sz="1000" dirty="0"/>
          </a:p>
        </p:txBody>
      </p:sp>
      <p:sp>
        <p:nvSpPr>
          <p:cNvPr id="12" name="Text 10"/>
          <p:cNvSpPr/>
          <p:nvPr/>
        </p:nvSpPr>
        <p:spPr>
          <a:xfrm>
            <a:off x="3200400" y="1847088"/>
            <a:ext cx="5577840" cy="402336"/>
          </a:xfrm>
          <a:prstGeom prst="rect">
            <a:avLst/>
          </a:prstGeom>
          <a:noFill/>
          <a:ln/>
        </p:spPr>
        <p:txBody>
          <a:bodyPr wrap="square" lIns="0" tIns="0" rIns="0" bIns="0" rtlCol="0" anchor="ctr"/>
          <a:lstStyle/>
          <a:p>
            <a:pPr marL="0" indent="0">
              <a:buNone/>
            </a:pPr>
            <a:r>
              <a:rPr lang="en-US" sz="1150" dirty="0">
                <a:solidFill>
                  <a:srgbClr val="37474F"/>
                </a:solidFill>
                <a:latin typeface="Calibri" pitchFamily="34" charset="0"/>
                <a:ea typeface="Calibri" pitchFamily="34" charset="-122"/>
                <a:cs typeface="Calibri" pitchFamily="34" charset="-120"/>
              </a:rPr>
              <a:t>Each class has one area of responsibility</a:t>
            </a:r>
            <a:endParaRPr lang="en-US" sz="1150" dirty="0"/>
          </a:p>
        </p:txBody>
      </p:sp>
      <p:sp>
        <p:nvSpPr>
          <p:cNvPr id="13" name="Shape 11"/>
          <p:cNvSpPr/>
          <p:nvPr/>
        </p:nvSpPr>
        <p:spPr>
          <a:xfrm>
            <a:off x="274320" y="2523744"/>
            <a:ext cx="64008" cy="640080"/>
          </a:xfrm>
          <a:prstGeom prst="rect">
            <a:avLst/>
          </a:prstGeom>
          <a:solidFill>
            <a:srgbClr val="0097A7"/>
          </a:solidFill>
          <a:ln w="12700">
            <a:solidFill>
              <a:srgbClr val="0097A7"/>
            </a:solidFill>
            <a:prstDash val="solid"/>
          </a:ln>
        </p:spPr>
        <p:txBody>
          <a:bodyPr/>
          <a:lstStyle/>
          <a:p>
            <a:endParaRPr lang="en-US"/>
          </a:p>
        </p:txBody>
      </p:sp>
      <p:sp>
        <p:nvSpPr>
          <p:cNvPr id="14" name="Text 12"/>
          <p:cNvSpPr/>
          <p:nvPr/>
        </p:nvSpPr>
        <p:spPr>
          <a:xfrm>
            <a:off x="457200" y="2551176"/>
            <a:ext cx="2560320" cy="274320"/>
          </a:xfrm>
          <a:prstGeom prst="rect">
            <a:avLst/>
          </a:prstGeom>
          <a:noFill/>
          <a:ln/>
        </p:spPr>
        <p:txBody>
          <a:bodyPr wrap="square" lIns="0" tIns="0" rIns="0" bIns="0"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Open/Closed Principle</a:t>
            </a:r>
            <a:endParaRPr lang="en-US" sz="1300" dirty="0"/>
          </a:p>
        </p:txBody>
      </p:sp>
      <p:sp>
        <p:nvSpPr>
          <p:cNvPr id="15" name="Text 13"/>
          <p:cNvSpPr/>
          <p:nvPr/>
        </p:nvSpPr>
        <p:spPr>
          <a:xfrm>
            <a:off x="457200" y="2834640"/>
            <a:ext cx="2560320" cy="256032"/>
          </a:xfrm>
          <a:prstGeom prst="rect">
            <a:avLst/>
          </a:prstGeom>
          <a:noFill/>
          <a:ln/>
        </p:spPr>
        <p:txBody>
          <a:bodyPr wrap="square" lIns="0" tIns="0" rIns="0" bIns="0" rtlCol="0" anchor="ctr"/>
          <a:lstStyle/>
          <a:p>
            <a:pPr marL="0" indent="0">
              <a:buNone/>
            </a:pPr>
            <a:r>
              <a:rPr lang="en-US" sz="1000" dirty="0">
                <a:solidFill>
                  <a:srgbClr val="0097A7"/>
                </a:solidFill>
                <a:latin typeface="Courier New" pitchFamily="34" charset="0"/>
                <a:ea typeface="Courier New" pitchFamily="34" charset="-122"/>
                <a:cs typeface="Courier New" pitchFamily="34" charset="-120"/>
              </a:rPr>
              <a:t>IRepository&lt;T&gt; — extend without modifying</a:t>
            </a:r>
            <a:endParaRPr lang="en-US" sz="1000" dirty="0"/>
          </a:p>
        </p:txBody>
      </p:sp>
      <p:sp>
        <p:nvSpPr>
          <p:cNvPr id="16" name="Text 14"/>
          <p:cNvSpPr/>
          <p:nvPr/>
        </p:nvSpPr>
        <p:spPr>
          <a:xfrm>
            <a:off x="3200400" y="2651760"/>
            <a:ext cx="5577840" cy="402336"/>
          </a:xfrm>
          <a:prstGeom prst="rect">
            <a:avLst/>
          </a:prstGeom>
          <a:noFill/>
          <a:ln/>
        </p:spPr>
        <p:txBody>
          <a:bodyPr wrap="square" lIns="0" tIns="0" rIns="0" bIns="0" rtlCol="0" anchor="ctr"/>
          <a:lstStyle/>
          <a:p>
            <a:pPr marL="0" indent="0">
              <a:buNone/>
            </a:pPr>
            <a:r>
              <a:rPr lang="en-US" sz="1150" dirty="0">
                <a:solidFill>
                  <a:srgbClr val="37474F"/>
                </a:solidFill>
                <a:latin typeface="Calibri" pitchFamily="34" charset="0"/>
                <a:ea typeface="Calibri" pitchFamily="34" charset="-122"/>
                <a:cs typeface="Calibri" pitchFamily="34" charset="-120"/>
              </a:rPr>
              <a:t>New entity = new type, same Repository code</a:t>
            </a:r>
            <a:endParaRPr lang="en-US" sz="1150" dirty="0"/>
          </a:p>
        </p:txBody>
      </p:sp>
      <p:sp>
        <p:nvSpPr>
          <p:cNvPr id="17" name="Shape 15"/>
          <p:cNvSpPr/>
          <p:nvPr/>
        </p:nvSpPr>
        <p:spPr>
          <a:xfrm>
            <a:off x="274320" y="3328416"/>
            <a:ext cx="64008" cy="640080"/>
          </a:xfrm>
          <a:prstGeom prst="rect">
            <a:avLst/>
          </a:prstGeom>
          <a:solidFill>
            <a:srgbClr val="0097A7"/>
          </a:solidFill>
          <a:ln w="12700">
            <a:solidFill>
              <a:srgbClr val="0097A7"/>
            </a:solidFill>
            <a:prstDash val="solid"/>
          </a:ln>
        </p:spPr>
        <p:txBody>
          <a:bodyPr/>
          <a:lstStyle/>
          <a:p>
            <a:endParaRPr lang="en-US"/>
          </a:p>
        </p:txBody>
      </p:sp>
      <p:sp>
        <p:nvSpPr>
          <p:cNvPr id="18" name="Text 16"/>
          <p:cNvSpPr/>
          <p:nvPr/>
        </p:nvSpPr>
        <p:spPr>
          <a:xfrm>
            <a:off x="457200" y="3355848"/>
            <a:ext cx="2560320" cy="274320"/>
          </a:xfrm>
          <a:prstGeom prst="rect">
            <a:avLst/>
          </a:prstGeom>
          <a:noFill/>
          <a:ln/>
        </p:spPr>
        <p:txBody>
          <a:bodyPr wrap="square" lIns="0" tIns="0" rIns="0" bIns="0"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DRY</a:t>
            </a:r>
            <a:endParaRPr lang="en-US" sz="1300" dirty="0"/>
          </a:p>
        </p:txBody>
      </p:sp>
      <p:sp>
        <p:nvSpPr>
          <p:cNvPr id="19" name="Text 17"/>
          <p:cNvSpPr/>
          <p:nvPr/>
        </p:nvSpPr>
        <p:spPr>
          <a:xfrm>
            <a:off x="457200" y="3639312"/>
            <a:ext cx="2560320" cy="256032"/>
          </a:xfrm>
          <a:prstGeom prst="rect">
            <a:avLst/>
          </a:prstGeom>
          <a:noFill/>
          <a:ln/>
        </p:spPr>
        <p:txBody>
          <a:bodyPr wrap="square" lIns="0" tIns="0" rIns="0" bIns="0" rtlCol="0" anchor="ctr"/>
          <a:lstStyle/>
          <a:p>
            <a:pPr marL="0" indent="0">
              <a:buNone/>
            </a:pPr>
            <a:r>
              <a:rPr lang="en-US" sz="1000" dirty="0">
                <a:solidFill>
                  <a:srgbClr val="0097A7"/>
                </a:solidFill>
                <a:latin typeface="Courier New" pitchFamily="34" charset="0"/>
                <a:ea typeface="Courier New" pitchFamily="34" charset="-122"/>
                <a:cs typeface="Courier New" pitchFamily="34" charset="-120"/>
              </a:rPr>
              <a:t>MemoryRepository&lt;T&gt; — one implementation</a:t>
            </a:r>
            <a:endParaRPr lang="en-US" sz="1000" dirty="0"/>
          </a:p>
        </p:txBody>
      </p:sp>
      <p:sp>
        <p:nvSpPr>
          <p:cNvPr id="20" name="Text 18"/>
          <p:cNvSpPr/>
          <p:nvPr/>
        </p:nvSpPr>
        <p:spPr>
          <a:xfrm>
            <a:off x="3200400" y="3456432"/>
            <a:ext cx="5577840" cy="402336"/>
          </a:xfrm>
          <a:prstGeom prst="rect">
            <a:avLst/>
          </a:prstGeom>
          <a:noFill/>
          <a:ln/>
        </p:spPr>
        <p:txBody>
          <a:bodyPr wrap="square" lIns="0" tIns="0" rIns="0" bIns="0" rtlCol="0" anchor="ctr"/>
          <a:lstStyle/>
          <a:p>
            <a:pPr marL="0" indent="0">
              <a:buNone/>
            </a:pPr>
            <a:r>
              <a:rPr lang="en-US" sz="1150" dirty="0">
                <a:solidFill>
                  <a:srgbClr val="37474F"/>
                </a:solidFill>
                <a:latin typeface="Calibri" pitchFamily="34" charset="0"/>
                <a:ea typeface="Calibri" pitchFamily="34" charset="-122"/>
                <a:cs typeface="Calibri" pitchFamily="34" charset="-120"/>
              </a:rPr>
              <a:t>No separate StudentRepository, OrderRepository, etc.</a:t>
            </a:r>
            <a:endParaRPr lang="en-US" sz="1150" dirty="0"/>
          </a:p>
        </p:txBody>
      </p:sp>
      <p:sp>
        <p:nvSpPr>
          <p:cNvPr id="21" name="Shape 19"/>
          <p:cNvSpPr/>
          <p:nvPr/>
        </p:nvSpPr>
        <p:spPr>
          <a:xfrm>
            <a:off x="274320" y="4133088"/>
            <a:ext cx="64008" cy="640080"/>
          </a:xfrm>
          <a:prstGeom prst="rect">
            <a:avLst/>
          </a:prstGeom>
          <a:solidFill>
            <a:srgbClr val="0097A7"/>
          </a:solidFill>
          <a:ln w="12700">
            <a:solidFill>
              <a:srgbClr val="0097A7"/>
            </a:solidFill>
            <a:prstDash val="solid"/>
          </a:ln>
        </p:spPr>
        <p:txBody>
          <a:bodyPr/>
          <a:lstStyle/>
          <a:p>
            <a:endParaRPr lang="en-US"/>
          </a:p>
        </p:txBody>
      </p:sp>
      <p:sp>
        <p:nvSpPr>
          <p:cNvPr id="22" name="Text 20"/>
          <p:cNvSpPr/>
          <p:nvPr/>
        </p:nvSpPr>
        <p:spPr>
          <a:xfrm>
            <a:off x="457200" y="4160520"/>
            <a:ext cx="2560320" cy="274320"/>
          </a:xfrm>
          <a:prstGeom prst="rect">
            <a:avLst/>
          </a:prstGeom>
          <a:noFill/>
          <a:ln/>
        </p:spPr>
        <p:txBody>
          <a:bodyPr wrap="square" lIns="0" tIns="0" rIns="0" bIns="0"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Dependency Injection</a:t>
            </a:r>
            <a:endParaRPr lang="en-US" sz="1300" dirty="0"/>
          </a:p>
        </p:txBody>
      </p:sp>
      <p:sp>
        <p:nvSpPr>
          <p:cNvPr id="23" name="Text 21"/>
          <p:cNvSpPr/>
          <p:nvPr/>
        </p:nvSpPr>
        <p:spPr>
          <a:xfrm>
            <a:off x="457200" y="4443984"/>
            <a:ext cx="2560320" cy="256032"/>
          </a:xfrm>
          <a:prstGeom prst="rect">
            <a:avLst/>
          </a:prstGeom>
          <a:noFill/>
          <a:ln/>
        </p:spPr>
        <p:txBody>
          <a:bodyPr wrap="square" lIns="0" tIns="0" rIns="0" bIns="0" rtlCol="0" anchor="ctr"/>
          <a:lstStyle/>
          <a:p>
            <a:pPr marL="0" indent="0">
              <a:buNone/>
            </a:pPr>
            <a:r>
              <a:rPr lang="en-US" sz="1000" dirty="0">
                <a:solidFill>
                  <a:srgbClr val="0097A7"/>
                </a:solidFill>
                <a:latin typeface="Courier New" pitchFamily="34" charset="0"/>
                <a:ea typeface="Courier New" pitchFamily="34" charset="-122"/>
                <a:cs typeface="Courier New" pitchFamily="34" charset="-120"/>
              </a:rPr>
              <a:t>Service gets IRepository&lt;T&gt; via constructor</a:t>
            </a:r>
            <a:endParaRPr lang="en-US" sz="1000" dirty="0"/>
          </a:p>
        </p:txBody>
      </p:sp>
      <p:sp>
        <p:nvSpPr>
          <p:cNvPr id="24" name="Text 22"/>
          <p:cNvSpPr/>
          <p:nvPr/>
        </p:nvSpPr>
        <p:spPr>
          <a:xfrm>
            <a:off x="3200400" y="4261104"/>
            <a:ext cx="5577840" cy="402336"/>
          </a:xfrm>
          <a:prstGeom prst="rect">
            <a:avLst/>
          </a:prstGeom>
          <a:noFill/>
          <a:ln/>
        </p:spPr>
        <p:txBody>
          <a:bodyPr wrap="square" lIns="0" tIns="0" rIns="0" bIns="0" rtlCol="0" anchor="ctr"/>
          <a:lstStyle/>
          <a:p>
            <a:pPr marL="0" indent="0">
              <a:buNone/>
            </a:pPr>
            <a:r>
              <a:rPr lang="en-US" sz="1150" dirty="0">
                <a:solidFill>
                  <a:srgbClr val="37474F"/>
                </a:solidFill>
                <a:latin typeface="Calibri" pitchFamily="34" charset="0"/>
                <a:ea typeface="Calibri" pitchFamily="34" charset="-122"/>
                <a:cs typeface="Calibri" pitchFamily="34" charset="-120"/>
              </a:rPr>
              <a:t>Easy to swap implementation without touching Service code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237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320040" y="73152"/>
            <a:ext cx="850392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We Covered Today</a:t>
            </a:r>
            <a:endParaRPr lang="en-US" sz="2200" dirty="0"/>
          </a:p>
        </p:txBody>
      </p:sp>
      <p:sp>
        <p:nvSpPr>
          <p:cNvPr id="4" name="Shape 2"/>
          <p:cNvSpPr/>
          <p:nvPr/>
        </p:nvSpPr>
        <p:spPr>
          <a:xfrm>
            <a:off x="320040" y="822960"/>
            <a:ext cx="457200" cy="457200"/>
          </a:xfrm>
          <a:prstGeom prst="rect">
            <a:avLst/>
          </a:prstGeom>
          <a:solidFill>
            <a:srgbClr val="0097A7"/>
          </a:solidFill>
          <a:ln w="12700">
            <a:solidFill>
              <a:srgbClr val="0097A7"/>
            </a:solidFill>
            <a:prstDash val="solid"/>
          </a:ln>
        </p:spPr>
        <p:txBody>
          <a:bodyPr/>
          <a:lstStyle/>
          <a:p>
            <a:endParaRPr lang="en-US"/>
          </a:p>
        </p:txBody>
      </p:sp>
      <p:sp>
        <p:nvSpPr>
          <p:cNvPr id="5" name="Text 3"/>
          <p:cNvSpPr/>
          <p:nvPr/>
        </p:nvSpPr>
        <p:spPr>
          <a:xfrm>
            <a:off x="320040" y="841248"/>
            <a:ext cx="457200"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p:nvPr/>
        </p:nvSpPr>
        <p:spPr>
          <a:xfrm>
            <a:off x="914400" y="832104"/>
            <a:ext cx="3200400" cy="256032"/>
          </a:xfrm>
          <a:prstGeom prst="rect">
            <a:avLst/>
          </a:prstGeom>
          <a:noFill/>
          <a:ln/>
        </p:spPr>
        <p:txBody>
          <a:bodyPr wrap="square" lIns="0" tIns="0" rIns="0" bIns="0" rtlCol="0" anchor="ctr"/>
          <a:lstStyle/>
          <a:p>
            <a:pPr marL="0" indent="0">
              <a:buNone/>
            </a:pPr>
            <a:r>
              <a:rPr lang="en-US" sz="1500" b="1" dirty="0">
                <a:solidFill>
                  <a:srgbClr val="B2EBF2"/>
                </a:solidFill>
                <a:latin typeface="Calibri" pitchFamily="34" charset="0"/>
                <a:ea typeface="Calibri" pitchFamily="34" charset="-122"/>
                <a:cs typeface="Calibri" pitchFamily="34" charset="-120"/>
              </a:rPr>
              <a:t>Container Recap</a:t>
            </a:r>
            <a:endParaRPr lang="en-US" sz="1500" dirty="0"/>
          </a:p>
        </p:txBody>
      </p:sp>
      <p:sp>
        <p:nvSpPr>
          <p:cNvPr id="7" name="Text 5"/>
          <p:cNvSpPr/>
          <p:nvPr/>
        </p:nvSpPr>
        <p:spPr>
          <a:xfrm>
            <a:off x="914400" y="1088136"/>
            <a:ext cx="7863840" cy="201168"/>
          </a:xfrm>
          <a:prstGeom prst="rect">
            <a:avLst/>
          </a:prstGeom>
          <a:noFill/>
          <a:ln/>
        </p:spPr>
        <p:txBody>
          <a:bodyPr wrap="square" lIns="0" tIns="0" rIns="0" bIns="0" rtlCol="0" anchor="ctr"/>
          <a:lstStyle/>
          <a:p>
            <a:pPr marL="0" indent="0">
              <a:buNone/>
            </a:pPr>
            <a:r>
              <a:rPr lang="en-US" sz="1100" dirty="0">
                <a:solidFill>
                  <a:srgbClr val="90A4AE"/>
                </a:solidFill>
                <a:latin typeface="Calibri" pitchFamily="34" charset="0"/>
                <a:ea typeface="Calibri" pitchFamily="34" charset="-122"/>
                <a:cs typeface="Calibri" pitchFamily="34" charset="-120"/>
              </a:rPr>
              <a:t>Ownership · IReadOnlyList · Pipeline · Lab-6 mistakes</a:t>
            </a:r>
            <a:endParaRPr lang="en-US" sz="1100" dirty="0"/>
          </a:p>
        </p:txBody>
      </p:sp>
      <p:sp>
        <p:nvSpPr>
          <p:cNvPr id="8" name="Shape 6"/>
          <p:cNvSpPr/>
          <p:nvPr/>
        </p:nvSpPr>
        <p:spPr>
          <a:xfrm>
            <a:off x="320040" y="1627632"/>
            <a:ext cx="457200" cy="457200"/>
          </a:xfrm>
          <a:prstGeom prst="rect">
            <a:avLst/>
          </a:prstGeom>
          <a:solidFill>
            <a:srgbClr val="0097A7"/>
          </a:solidFill>
          <a:ln w="12700">
            <a:solidFill>
              <a:srgbClr val="0097A7"/>
            </a:solidFill>
            <a:prstDash val="solid"/>
          </a:ln>
        </p:spPr>
        <p:txBody>
          <a:bodyPr/>
          <a:lstStyle/>
          <a:p>
            <a:endParaRPr lang="en-US"/>
          </a:p>
        </p:txBody>
      </p:sp>
      <p:sp>
        <p:nvSpPr>
          <p:cNvPr id="9" name="Text 7"/>
          <p:cNvSpPr/>
          <p:nvPr/>
        </p:nvSpPr>
        <p:spPr>
          <a:xfrm>
            <a:off x="320040" y="1645920"/>
            <a:ext cx="457200"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0" name="Text 8"/>
          <p:cNvSpPr/>
          <p:nvPr/>
        </p:nvSpPr>
        <p:spPr>
          <a:xfrm>
            <a:off x="914400" y="1636776"/>
            <a:ext cx="3200400" cy="256032"/>
          </a:xfrm>
          <a:prstGeom prst="rect">
            <a:avLst/>
          </a:prstGeom>
          <a:noFill/>
          <a:ln/>
        </p:spPr>
        <p:txBody>
          <a:bodyPr wrap="square" lIns="0" tIns="0" rIns="0" bIns="0" rtlCol="0" anchor="ctr"/>
          <a:lstStyle/>
          <a:p>
            <a:pPr marL="0" indent="0">
              <a:buNone/>
            </a:pPr>
            <a:r>
              <a:rPr lang="en-US" sz="1500" b="1" dirty="0">
                <a:solidFill>
                  <a:srgbClr val="B2EBF2"/>
                </a:solidFill>
                <a:latin typeface="Calibri" pitchFamily="34" charset="0"/>
                <a:ea typeface="Calibri" pitchFamily="34" charset="-122"/>
                <a:cs typeface="Calibri" pitchFamily="34" charset="-120"/>
              </a:rPr>
              <a:t>Dictionary&lt;K,V&gt;</a:t>
            </a:r>
            <a:endParaRPr lang="en-US" sz="1500" dirty="0"/>
          </a:p>
        </p:txBody>
      </p:sp>
      <p:sp>
        <p:nvSpPr>
          <p:cNvPr id="11" name="Text 9"/>
          <p:cNvSpPr/>
          <p:nvPr/>
        </p:nvSpPr>
        <p:spPr>
          <a:xfrm>
            <a:off x="914400" y="1892808"/>
            <a:ext cx="7863840" cy="201168"/>
          </a:xfrm>
          <a:prstGeom prst="rect">
            <a:avLst/>
          </a:prstGeom>
          <a:noFill/>
          <a:ln/>
        </p:spPr>
        <p:txBody>
          <a:bodyPr wrap="square" lIns="0" tIns="0" rIns="0" bIns="0" rtlCol="0" anchor="ctr"/>
          <a:lstStyle/>
          <a:p>
            <a:pPr marL="0" indent="0">
              <a:buNone/>
            </a:pPr>
            <a:r>
              <a:rPr lang="en-US" sz="1100" dirty="0">
                <a:solidFill>
                  <a:srgbClr val="90A4AE"/>
                </a:solidFill>
                <a:latin typeface="Calibri" pitchFamily="34" charset="0"/>
                <a:ea typeface="Calibri" pitchFamily="34" charset="-122"/>
                <a:cs typeface="Calibri" pitchFamily="34" charset="-120"/>
              </a:rPr>
              <a:t>O(1) lookup · private internals · IReadOnlyList externally</a:t>
            </a:r>
            <a:endParaRPr lang="en-US" sz="1100" dirty="0"/>
          </a:p>
        </p:txBody>
      </p:sp>
      <p:sp>
        <p:nvSpPr>
          <p:cNvPr id="12" name="Shape 10"/>
          <p:cNvSpPr/>
          <p:nvPr/>
        </p:nvSpPr>
        <p:spPr>
          <a:xfrm>
            <a:off x="320040" y="2432304"/>
            <a:ext cx="457200" cy="457200"/>
          </a:xfrm>
          <a:prstGeom prst="rect">
            <a:avLst/>
          </a:prstGeom>
          <a:solidFill>
            <a:srgbClr val="0097A7"/>
          </a:solidFill>
          <a:ln w="12700">
            <a:solidFill>
              <a:srgbClr val="0097A7"/>
            </a:solidFill>
            <a:prstDash val="solid"/>
          </a:ln>
        </p:spPr>
        <p:txBody>
          <a:bodyPr/>
          <a:lstStyle/>
          <a:p>
            <a:endParaRPr lang="en-US"/>
          </a:p>
        </p:txBody>
      </p:sp>
      <p:sp>
        <p:nvSpPr>
          <p:cNvPr id="13" name="Text 11"/>
          <p:cNvSpPr/>
          <p:nvPr/>
        </p:nvSpPr>
        <p:spPr>
          <a:xfrm>
            <a:off x="320040" y="2450592"/>
            <a:ext cx="457200"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914400" y="2441448"/>
            <a:ext cx="3200400" cy="256032"/>
          </a:xfrm>
          <a:prstGeom prst="rect">
            <a:avLst/>
          </a:prstGeom>
          <a:noFill/>
          <a:ln/>
        </p:spPr>
        <p:txBody>
          <a:bodyPr wrap="square" lIns="0" tIns="0" rIns="0" bIns="0" rtlCol="0" anchor="ctr"/>
          <a:lstStyle/>
          <a:p>
            <a:pPr marL="0" indent="0">
              <a:buNone/>
            </a:pPr>
            <a:r>
              <a:rPr lang="en-US" sz="1500" b="1" dirty="0">
                <a:solidFill>
                  <a:srgbClr val="B2EBF2"/>
                </a:solidFill>
                <a:latin typeface="Calibri" pitchFamily="34" charset="0"/>
                <a:ea typeface="Calibri" pitchFamily="34" charset="-122"/>
                <a:cs typeface="Calibri" pitchFamily="34" charset="-120"/>
              </a:rPr>
              <a:t>IEnumerable&lt;T&gt;</a:t>
            </a:r>
            <a:endParaRPr lang="en-US" sz="1500" dirty="0"/>
          </a:p>
        </p:txBody>
      </p:sp>
      <p:sp>
        <p:nvSpPr>
          <p:cNvPr id="15" name="Text 13"/>
          <p:cNvSpPr/>
          <p:nvPr/>
        </p:nvSpPr>
        <p:spPr>
          <a:xfrm>
            <a:off x="914400" y="2697480"/>
            <a:ext cx="7863840" cy="201168"/>
          </a:xfrm>
          <a:prstGeom prst="rect">
            <a:avLst/>
          </a:prstGeom>
          <a:noFill/>
          <a:ln/>
        </p:spPr>
        <p:txBody>
          <a:bodyPr wrap="square" lIns="0" tIns="0" rIns="0" bIns="0" rtlCol="0" anchor="ctr"/>
          <a:lstStyle/>
          <a:p>
            <a:pPr marL="0" indent="0">
              <a:buNone/>
            </a:pPr>
            <a:r>
              <a:rPr lang="en-US" sz="1100" dirty="0">
                <a:solidFill>
                  <a:srgbClr val="90A4AE"/>
                </a:solidFill>
                <a:latin typeface="Calibri" pitchFamily="34" charset="0"/>
                <a:ea typeface="Calibri" pitchFamily="34" charset="-122"/>
                <a:cs typeface="Calibri" pitchFamily="34" charset="-120"/>
              </a:rPr>
              <a:t>foreach mechanism · type hierarchy</a:t>
            </a:r>
            <a:endParaRPr lang="en-US" sz="1100" dirty="0"/>
          </a:p>
        </p:txBody>
      </p:sp>
      <p:sp>
        <p:nvSpPr>
          <p:cNvPr id="16" name="Shape 14"/>
          <p:cNvSpPr/>
          <p:nvPr/>
        </p:nvSpPr>
        <p:spPr>
          <a:xfrm>
            <a:off x="320040" y="3236976"/>
            <a:ext cx="457200" cy="457200"/>
          </a:xfrm>
          <a:prstGeom prst="rect">
            <a:avLst/>
          </a:prstGeom>
          <a:solidFill>
            <a:srgbClr val="0097A7"/>
          </a:solidFill>
          <a:ln w="12700">
            <a:solidFill>
              <a:srgbClr val="0097A7"/>
            </a:solidFill>
            <a:prstDash val="solid"/>
          </a:ln>
        </p:spPr>
        <p:txBody>
          <a:bodyPr/>
          <a:lstStyle/>
          <a:p>
            <a:endParaRPr lang="en-US"/>
          </a:p>
        </p:txBody>
      </p:sp>
      <p:sp>
        <p:nvSpPr>
          <p:cNvPr id="17" name="Text 15"/>
          <p:cNvSpPr/>
          <p:nvPr/>
        </p:nvSpPr>
        <p:spPr>
          <a:xfrm>
            <a:off x="320040" y="3255264"/>
            <a:ext cx="457200"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8" name="Text 16"/>
          <p:cNvSpPr/>
          <p:nvPr/>
        </p:nvSpPr>
        <p:spPr>
          <a:xfrm>
            <a:off x="914400" y="3246120"/>
            <a:ext cx="3200400" cy="256032"/>
          </a:xfrm>
          <a:prstGeom prst="rect">
            <a:avLst/>
          </a:prstGeom>
          <a:noFill/>
          <a:ln/>
        </p:spPr>
        <p:txBody>
          <a:bodyPr wrap="square" lIns="0" tIns="0" rIns="0" bIns="0" rtlCol="0" anchor="ctr"/>
          <a:lstStyle/>
          <a:p>
            <a:pPr marL="0" indent="0">
              <a:buNone/>
            </a:pPr>
            <a:r>
              <a:rPr lang="en-US" sz="1500" b="1" dirty="0">
                <a:solidFill>
                  <a:srgbClr val="B2EBF2"/>
                </a:solidFill>
                <a:latin typeface="Calibri" pitchFamily="34" charset="0"/>
                <a:ea typeface="Calibri" pitchFamily="34" charset="-122"/>
                <a:cs typeface="Calibri" pitchFamily="34" charset="-120"/>
              </a:rPr>
              <a:t>LINQ</a:t>
            </a:r>
            <a:endParaRPr lang="en-US" sz="1500" dirty="0"/>
          </a:p>
        </p:txBody>
      </p:sp>
      <p:sp>
        <p:nvSpPr>
          <p:cNvPr id="19" name="Text 17"/>
          <p:cNvSpPr/>
          <p:nvPr/>
        </p:nvSpPr>
        <p:spPr>
          <a:xfrm>
            <a:off x="914400" y="3502152"/>
            <a:ext cx="7863840" cy="201168"/>
          </a:xfrm>
          <a:prstGeom prst="rect">
            <a:avLst/>
          </a:prstGeom>
          <a:noFill/>
          <a:ln/>
        </p:spPr>
        <p:txBody>
          <a:bodyPr wrap="square" lIns="0" tIns="0" rIns="0" bIns="0" rtlCol="0" anchor="ctr"/>
          <a:lstStyle/>
          <a:p>
            <a:pPr marL="0" indent="0">
              <a:buNone/>
            </a:pPr>
            <a:r>
              <a:rPr lang="en-US" sz="1100" dirty="0">
                <a:solidFill>
                  <a:srgbClr val="90A4AE"/>
                </a:solidFill>
                <a:latin typeface="Calibri" pitchFamily="34" charset="0"/>
                <a:ea typeface="Calibri" pitchFamily="34" charset="-122"/>
                <a:cs typeface="Calibri" pitchFamily="34" charset="-120"/>
              </a:rPr>
              <a:t>Where · Select · OrderBy · First · Any · Count · GroupBy</a:t>
            </a:r>
            <a:endParaRPr lang="en-US" sz="1100" dirty="0"/>
          </a:p>
        </p:txBody>
      </p:sp>
      <p:sp>
        <p:nvSpPr>
          <p:cNvPr id="20" name="Shape 18"/>
          <p:cNvSpPr/>
          <p:nvPr/>
        </p:nvSpPr>
        <p:spPr>
          <a:xfrm>
            <a:off x="320040" y="4041648"/>
            <a:ext cx="457200" cy="457200"/>
          </a:xfrm>
          <a:prstGeom prst="rect">
            <a:avLst/>
          </a:prstGeom>
          <a:solidFill>
            <a:srgbClr val="0097A7"/>
          </a:solidFill>
          <a:ln w="12700">
            <a:solidFill>
              <a:srgbClr val="0097A7"/>
            </a:solidFill>
            <a:prstDash val="solid"/>
          </a:ln>
        </p:spPr>
        <p:txBody>
          <a:bodyPr/>
          <a:lstStyle/>
          <a:p>
            <a:endParaRPr lang="en-US"/>
          </a:p>
        </p:txBody>
      </p:sp>
      <p:sp>
        <p:nvSpPr>
          <p:cNvPr id="21" name="Text 19"/>
          <p:cNvSpPr/>
          <p:nvPr/>
        </p:nvSpPr>
        <p:spPr>
          <a:xfrm>
            <a:off x="320040" y="4059936"/>
            <a:ext cx="457200"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2" name="Text 20"/>
          <p:cNvSpPr/>
          <p:nvPr/>
        </p:nvSpPr>
        <p:spPr>
          <a:xfrm>
            <a:off x="914400" y="4050792"/>
            <a:ext cx="3200400" cy="256032"/>
          </a:xfrm>
          <a:prstGeom prst="rect">
            <a:avLst/>
          </a:prstGeom>
          <a:noFill/>
          <a:ln/>
        </p:spPr>
        <p:txBody>
          <a:bodyPr wrap="square" lIns="0" tIns="0" rIns="0" bIns="0" rtlCol="0" anchor="ctr"/>
          <a:lstStyle/>
          <a:p>
            <a:pPr marL="0" indent="0">
              <a:buNone/>
            </a:pPr>
            <a:r>
              <a:rPr lang="en-US" sz="1500" b="1" dirty="0">
                <a:solidFill>
                  <a:srgbClr val="B2EBF2"/>
                </a:solidFill>
                <a:latin typeface="Calibri" pitchFamily="34" charset="0"/>
                <a:ea typeface="Calibri" pitchFamily="34" charset="-122"/>
                <a:cs typeface="Calibri" pitchFamily="34" charset="-120"/>
              </a:rPr>
              <a:t>Generics</a:t>
            </a:r>
            <a:endParaRPr lang="en-US" sz="1500" dirty="0"/>
          </a:p>
        </p:txBody>
      </p:sp>
      <p:sp>
        <p:nvSpPr>
          <p:cNvPr id="23" name="Text 21"/>
          <p:cNvSpPr/>
          <p:nvPr/>
        </p:nvSpPr>
        <p:spPr>
          <a:xfrm>
            <a:off x="914400" y="4306824"/>
            <a:ext cx="7863840" cy="201168"/>
          </a:xfrm>
          <a:prstGeom prst="rect">
            <a:avLst/>
          </a:prstGeom>
          <a:noFill/>
          <a:ln/>
        </p:spPr>
        <p:txBody>
          <a:bodyPr wrap="square" lIns="0" tIns="0" rIns="0" bIns="0" rtlCol="0" anchor="ctr"/>
          <a:lstStyle/>
          <a:p>
            <a:pPr marL="0" indent="0">
              <a:buNone/>
            </a:pPr>
            <a:r>
              <a:rPr lang="en-US" sz="1100" dirty="0">
                <a:solidFill>
                  <a:srgbClr val="90A4AE"/>
                </a:solidFill>
                <a:latin typeface="Calibri" pitchFamily="34" charset="0"/>
                <a:ea typeface="Calibri" pitchFamily="34" charset="-122"/>
                <a:cs typeface="Calibri" pitchFamily="34" charset="-120"/>
              </a:rPr>
              <a:t>IRepository&lt;T&gt; · MemoryRepository&lt;T&gt; · where T : IEntity</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237E"/>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457200" y="457200"/>
            <a:ext cx="8229600" cy="109728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Next Steps</a:t>
            </a:r>
            <a:endParaRPr lang="en-US" sz="4400" dirty="0"/>
          </a:p>
        </p:txBody>
      </p:sp>
      <p:sp>
        <p:nvSpPr>
          <p:cNvPr id="4" name="Text 2"/>
          <p:cNvSpPr/>
          <p:nvPr/>
        </p:nvSpPr>
        <p:spPr>
          <a:xfrm>
            <a:off x="1097280" y="1828800"/>
            <a:ext cx="6949440" cy="411480"/>
          </a:xfrm>
          <a:prstGeom prst="rect">
            <a:avLst/>
          </a:prstGeom>
          <a:noFill/>
          <a:ln/>
        </p:spPr>
        <p:txBody>
          <a:bodyPr wrap="square" lIns="0" tIns="0" rIns="0" bIns="0" rtlCol="0" anchor="ctr"/>
          <a:lstStyle/>
          <a:p>
            <a:pPr marL="0" indent="0">
              <a:buNone/>
            </a:pPr>
            <a:r>
              <a:rPr lang="en-US" sz="1400" dirty="0">
                <a:solidFill>
                  <a:srgbClr val="B2EBF2"/>
                </a:solidFill>
                <a:latin typeface="Calibri" pitchFamily="34" charset="0"/>
                <a:ea typeface="Calibri" pitchFamily="34" charset="-122"/>
                <a:cs typeface="Calibri" pitchFamily="34" charset="-120"/>
              </a:rPr>
              <a:t>→  Lab-7: Implement IRepository&lt;T&gt; in your project</a:t>
            </a:r>
            <a:endParaRPr lang="en-US" sz="1400" dirty="0"/>
          </a:p>
        </p:txBody>
      </p:sp>
      <p:sp>
        <p:nvSpPr>
          <p:cNvPr id="5" name="Text 3"/>
          <p:cNvSpPr/>
          <p:nvPr/>
        </p:nvSpPr>
        <p:spPr>
          <a:xfrm>
            <a:off x="1097280" y="2331720"/>
            <a:ext cx="6949440" cy="411480"/>
          </a:xfrm>
          <a:prstGeom prst="rect">
            <a:avLst/>
          </a:prstGeom>
          <a:noFill/>
          <a:ln/>
        </p:spPr>
        <p:txBody>
          <a:bodyPr wrap="square" lIns="0" tIns="0" rIns="0" bIns="0" rtlCol="0" anchor="ctr"/>
          <a:lstStyle/>
          <a:p>
            <a:pPr marL="0" indent="0">
              <a:buNone/>
            </a:pPr>
            <a:r>
              <a:rPr lang="en-US" sz="1400" dirty="0">
                <a:solidFill>
                  <a:srgbClr val="B2EBF2"/>
                </a:solidFill>
                <a:latin typeface="Calibri" pitchFamily="34" charset="0"/>
                <a:ea typeface="Calibri" pitchFamily="34" charset="-122"/>
                <a:cs typeface="Calibri" pitchFamily="34" charset="-120"/>
              </a:rPr>
              <a:t>→  Add IEntity interface to Student, Order, and other models</a:t>
            </a:r>
            <a:endParaRPr lang="en-US" sz="1400" dirty="0"/>
          </a:p>
        </p:txBody>
      </p:sp>
      <p:sp>
        <p:nvSpPr>
          <p:cNvPr id="6" name="Text 4"/>
          <p:cNvSpPr/>
          <p:nvPr/>
        </p:nvSpPr>
        <p:spPr>
          <a:xfrm>
            <a:off x="1097280" y="2834640"/>
            <a:ext cx="6949440" cy="411480"/>
          </a:xfrm>
          <a:prstGeom prst="rect">
            <a:avLst/>
          </a:prstGeom>
          <a:noFill/>
          <a:ln/>
        </p:spPr>
        <p:txBody>
          <a:bodyPr wrap="square" lIns="0" tIns="0" rIns="0" bIns="0" rtlCol="0" anchor="ctr"/>
          <a:lstStyle/>
          <a:p>
            <a:pPr marL="0" indent="0">
              <a:buNone/>
            </a:pPr>
            <a:r>
              <a:rPr lang="en-US" sz="1400" dirty="0">
                <a:solidFill>
                  <a:srgbClr val="B2EBF2"/>
                </a:solidFill>
                <a:latin typeface="Calibri" pitchFamily="34" charset="0"/>
                <a:ea typeface="Calibri" pitchFamily="34" charset="-122"/>
                <a:cs typeface="Calibri" pitchFamily="34" charset="-120"/>
              </a:rPr>
              <a:t>→  Replace old repositories with MemoryRepository&lt;T&gt;</a:t>
            </a:r>
            <a:endParaRPr lang="en-US" sz="1400" dirty="0"/>
          </a:p>
        </p:txBody>
      </p:sp>
      <p:sp>
        <p:nvSpPr>
          <p:cNvPr id="7" name="Text 5"/>
          <p:cNvSpPr/>
          <p:nvPr/>
        </p:nvSpPr>
        <p:spPr>
          <a:xfrm>
            <a:off x="1097280" y="3337560"/>
            <a:ext cx="6949440" cy="411480"/>
          </a:xfrm>
          <a:prstGeom prst="rect">
            <a:avLst/>
          </a:prstGeom>
          <a:noFill/>
          <a:ln/>
        </p:spPr>
        <p:txBody>
          <a:bodyPr wrap="square" lIns="0" tIns="0" rIns="0" bIns="0" rtlCol="0" anchor="ctr"/>
          <a:lstStyle/>
          <a:p>
            <a:pPr marL="0" indent="0">
              <a:buNone/>
            </a:pPr>
            <a:r>
              <a:rPr lang="en-US" sz="1400" dirty="0">
                <a:solidFill>
                  <a:srgbClr val="B2EBF2"/>
                </a:solidFill>
                <a:latin typeface="Calibri" pitchFamily="34" charset="0"/>
                <a:ea typeface="Calibri" pitchFamily="34" charset="-122"/>
                <a:cs typeface="Calibri" pitchFamily="34" charset="-120"/>
              </a:rPr>
              <a:t>→  Use LINQ instead of foreach where applicable</a:t>
            </a:r>
            <a:endParaRPr lang="en-US" sz="1400" dirty="0"/>
          </a:p>
        </p:txBody>
      </p:sp>
      <p:sp>
        <p:nvSpPr>
          <p:cNvPr id="8" name="Text 6"/>
          <p:cNvSpPr/>
          <p:nvPr/>
        </p:nvSpPr>
        <p:spPr>
          <a:xfrm>
            <a:off x="457200" y="4462272"/>
            <a:ext cx="8229600"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PS OOP C#  |  Kaunas College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0"/>
            <a:ext cx="914400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8595360" cy="594360"/>
          </a:xfrm>
          <a:prstGeom prst="rect">
            <a:avLst/>
          </a:prstGeom>
          <a:noFill/>
        </p:spPr>
        <p:txBody>
          <a:bodyPr wrap="none">
            <a:spAutoFit/>
          </a:bodyPr>
          <a:lstStyle/>
          <a:p>
            <a:r>
              <a:rPr sz="2600" b="1">
                <a:solidFill>
                  <a:srgbClr val="FFFFFF"/>
                </a:solidFill>
                <a:latin typeface="Calibri"/>
              </a:rPr>
              <a:t>Architecture BEFORE: Lab-6 flat List&lt;Student&gt; repository</a:t>
            </a:r>
          </a:p>
        </p:txBody>
      </p:sp>
      <p:sp>
        <p:nvSpPr>
          <p:cNvPr id="5" name="Rectangle 4"/>
          <p:cNvSpPr/>
          <p:nvPr/>
        </p:nvSpPr>
        <p:spPr>
          <a:xfrm>
            <a:off x="7223760" y="118872"/>
            <a:ext cx="1645920" cy="3657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23760" y="118872"/>
            <a:ext cx="1645920" cy="365760"/>
          </a:xfrm>
          <a:prstGeom prst="rect">
            <a:avLst/>
          </a:prstGeom>
          <a:noFill/>
        </p:spPr>
        <p:txBody>
          <a:bodyPr wrap="square">
            <a:spAutoFit/>
          </a:bodyPr>
          <a:lstStyle/>
          <a:p>
            <a:pPr algn="ctr"/>
            <a:r>
              <a:rPr sz="1100" b="1" i="0">
                <a:solidFill>
                  <a:srgbClr val="FFFFFF"/>
                </a:solidFill>
                <a:latin typeface="Calibri"/>
              </a:rPr>
              <a:t>BEFORE (Lab-6)</a:t>
            </a:r>
          </a:p>
        </p:txBody>
      </p:sp>
      <p:sp>
        <p:nvSpPr>
          <p:cNvPr id="7" name="Rectangle 6"/>
          <p:cNvSpPr/>
          <p:nvPr/>
        </p:nvSpPr>
        <p:spPr>
          <a:xfrm>
            <a:off x="228600" y="960120"/>
            <a:ext cx="2331720" cy="5029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960120"/>
            <a:ext cx="2331720" cy="502920"/>
          </a:xfrm>
          <a:prstGeom prst="rect">
            <a:avLst/>
          </a:prstGeom>
          <a:noFill/>
        </p:spPr>
        <p:txBody>
          <a:bodyPr wrap="square">
            <a:spAutoFit/>
          </a:bodyPr>
          <a:lstStyle/>
          <a:p>
            <a:pPr algn="ctr"/>
            <a:r>
              <a:rPr sz="1300" b="1" i="0">
                <a:solidFill>
                  <a:srgbClr val="FFFFFF"/>
                </a:solidFill>
                <a:latin typeface="Calibri"/>
              </a:rPr>
              <a:t>Program.cs</a:t>
            </a:r>
          </a:p>
        </p:txBody>
      </p:sp>
      <p:cxnSp>
        <p:nvCxnSpPr>
          <p:cNvPr id="9" name="Connector 8"/>
          <p:cNvCxnSpPr/>
          <p:nvPr/>
        </p:nvCxnSpPr>
        <p:spPr>
          <a:xfrm>
            <a:off x="2560320" y="1207008"/>
            <a:ext cx="54864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108960" y="804672"/>
            <a:ext cx="2468880" cy="80467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08960" y="804672"/>
            <a:ext cx="2468880" cy="804672"/>
          </a:xfrm>
          <a:prstGeom prst="rect">
            <a:avLst/>
          </a:prstGeom>
          <a:noFill/>
        </p:spPr>
        <p:txBody>
          <a:bodyPr wrap="square">
            <a:spAutoFit/>
          </a:bodyPr>
          <a:lstStyle/>
          <a:p>
            <a:pPr algn="ctr"/>
            <a:r>
              <a:rPr sz="1300" b="1" i="0">
                <a:solidFill>
                  <a:srgbClr val="FFFFFF"/>
                </a:solidFill>
                <a:latin typeface="Calibri"/>
              </a:rPr>
              <a:t>StudentService</a:t>
            </a:r>
          </a:p>
        </p:txBody>
      </p:sp>
      <p:cxnSp>
        <p:nvCxnSpPr>
          <p:cNvPr id="12" name="Connector 11"/>
          <p:cNvCxnSpPr/>
          <p:nvPr/>
        </p:nvCxnSpPr>
        <p:spPr>
          <a:xfrm flipH="1">
            <a:off x="3291840" y="1207008"/>
            <a:ext cx="228600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291840" y="1005840"/>
            <a:ext cx="1920240" cy="411480"/>
          </a:xfrm>
          <a:prstGeom prst="rect">
            <a:avLst/>
          </a:prstGeom>
          <a:solidFill>
            <a:srgbClr val="FFFFFF"/>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91840" y="1005840"/>
            <a:ext cx="1920240" cy="411480"/>
          </a:xfrm>
          <a:prstGeom prst="rect">
            <a:avLst/>
          </a:prstGeom>
          <a:noFill/>
        </p:spPr>
        <p:txBody>
          <a:bodyPr wrap="square">
            <a:spAutoFit/>
          </a:bodyPr>
          <a:lstStyle/>
          <a:p>
            <a:pPr algn="ctr"/>
            <a:r>
              <a:rPr sz="1000" b="1" i="0">
                <a:solidFill>
                  <a:srgbClr val="1A237E"/>
                </a:solidFill>
                <a:latin typeface="Calibri"/>
              </a:rPr>
              <a:t>IStudentPrinter</a:t>
            </a:r>
          </a:p>
        </p:txBody>
      </p:sp>
      <p:cxnSp>
        <p:nvCxnSpPr>
          <p:cNvPr id="15" name="Connector 14"/>
          <p:cNvCxnSpPr/>
          <p:nvPr/>
        </p:nvCxnSpPr>
        <p:spPr>
          <a:xfrm>
            <a:off x="5212080" y="1207008"/>
            <a:ext cx="128016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492240" y="1005840"/>
            <a:ext cx="2331720" cy="411480"/>
          </a:xfrm>
          <a:prstGeom prst="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1005840"/>
            <a:ext cx="2331720" cy="411480"/>
          </a:xfrm>
          <a:prstGeom prst="rect">
            <a:avLst/>
          </a:prstGeom>
          <a:noFill/>
        </p:spPr>
        <p:txBody>
          <a:bodyPr wrap="square">
            <a:spAutoFit/>
          </a:bodyPr>
          <a:lstStyle/>
          <a:p>
            <a:pPr algn="ctr"/>
            <a:r>
              <a:rPr sz="950" b="0" i="0">
                <a:solidFill>
                  <a:srgbClr val="1B5E20"/>
                </a:solidFill>
                <a:latin typeface="Calibri"/>
              </a:rPr>
              <a:t>ConsoleStudentPrinter</a:t>
            </a:r>
          </a:p>
        </p:txBody>
      </p:sp>
      <p:cxnSp>
        <p:nvCxnSpPr>
          <p:cNvPr id="18" name="Connector 17"/>
          <p:cNvCxnSpPr/>
          <p:nvPr/>
        </p:nvCxnSpPr>
        <p:spPr>
          <a:xfrm flipH="1">
            <a:off x="3291840" y="2212848"/>
            <a:ext cx="228600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291840" y="2011680"/>
            <a:ext cx="1920240" cy="411480"/>
          </a:xfrm>
          <a:prstGeom prst="rect">
            <a:avLst/>
          </a:prstGeom>
          <a:solidFill>
            <a:srgbClr val="FFFFFF"/>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91840" y="2011680"/>
            <a:ext cx="1920240" cy="411480"/>
          </a:xfrm>
          <a:prstGeom prst="rect">
            <a:avLst/>
          </a:prstGeom>
          <a:noFill/>
        </p:spPr>
        <p:txBody>
          <a:bodyPr wrap="square">
            <a:spAutoFit/>
          </a:bodyPr>
          <a:lstStyle/>
          <a:p>
            <a:pPr algn="ctr"/>
            <a:r>
              <a:rPr sz="1000" b="1" i="0">
                <a:solidFill>
                  <a:srgbClr val="1A237E"/>
                </a:solidFill>
                <a:latin typeface="Calibri"/>
              </a:rPr>
              <a:t>IAverageStrategy</a:t>
            </a:r>
          </a:p>
        </p:txBody>
      </p:sp>
      <p:cxnSp>
        <p:nvCxnSpPr>
          <p:cNvPr id="21" name="Connector 20"/>
          <p:cNvCxnSpPr/>
          <p:nvPr/>
        </p:nvCxnSpPr>
        <p:spPr>
          <a:xfrm>
            <a:off x="5212080" y="2212848"/>
            <a:ext cx="128016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492240" y="2011680"/>
            <a:ext cx="2331720" cy="411480"/>
          </a:xfrm>
          <a:prstGeom prst="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2011680"/>
            <a:ext cx="2331720" cy="411480"/>
          </a:xfrm>
          <a:prstGeom prst="rect">
            <a:avLst/>
          </a:prstGeom>
          <a:noFill/>
        </p:spPr>
        <p:txBody>
          <a:bodyPr wrap="square">
            <a:spAutoFit/>
          </a:bodyPr>
          <a:lstStyle/>
          <a:p>
            <a:pPr algn="ctr"/>
            <a:r>
              <a:rPr sz="950" b="0" i="0">
                <a:solidFill>
                  <a:srgbClr val="1B5E20"/>
                </a:solidFill>
                <a:latin typeface="Calibri"/>
              </a:rPr>
              <a:t>SimpleAverageStrategy</a:t>
            </a:r>
          </a:p>
        </p:txBody>
      </p:sp>
      <p:cxnSp>
        <p:nvCxnSpPr>
          <p:cNvPr id="24" name="Connector 23"/>
          <p:cNvCxnSpPr/>
          <p:nvPr/>
        </p:nvCxnSpPr>
        <p:spPr>
          <a:xfrm flipH="1">
            <a:off x="3291840" y="3218688"/>
            <a:ext cx="228600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291840" y="3017520"/>
            <a:ext cx="1920240" cy="411480"/>
          </a:xfrm>
          <a:prstGeom prst="rect">
            <a:avLst/>
          </a:prstGeom>
          <a:solidFill>
            <a:srgbClr val="FFFFFF"/>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91840" y="3017520"/>
            <a:ext cx="1920240" cy="411480"/>
          </a:xfrm>
          <a:prstGeom prst="rect">
            <a:avLst/>
          </a:prstGeom>
          <a:noFill/>
        </p:spPr>
        <p:txBody>
          <a:bodyPr wrap="square">
            <a:spAutoFit/>
          </a:bodyPr>
          <a:lstStyle/>
          <a:p>
            <a:pPr algn="ctr"/>
            <a:r>
              <a:rPr sz="1000" b="1" i="0">
                <a:solidFill>
                  <a:srgbClr val="1A237E"/>
                </a:solidFill>
                <a:latin typeface="Calibri"/>
              </a:rPr>
              <a:t>IStudentValidator</a:t>
            </a:r>
          </a:p>
        </p:txBody>
      </p:sp>
      <p:cxnSp>
        <p:nvCxnSpPr>
          <p:cNvPr id="27" name="Connector 26"/>
          <p:cNvCxnSpPr/>
          <p:nvPr/>
        </p:nvCxnSpPr>
        <p:spPr>
          <a:xfrm>
            <a:off x="5212080" y="3218688"/>
            <a:ext cx="128016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6492240" y="3017520"/>
            <a:ext cx="2331720" cy="411480"/>
          </a:xfrm>
          <a:prstGeom prst="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3017520"/>
            <a:ext cx="2331720" cy="411480"/>
          </a:xfrm>
          <a:prstGeom prst="rect">
            <a:avLst/>
          </a:prstGeom>
          <a:noFill/>
        </p:spPr>
        <p:txBody>
          <a:bodyPr wrap="square">
            <a:spAutoFit/>
          </a:bodyPr>
          <a:lstStyle/>
          <a:p>
            <a:pPr algn="ctr"/>
            <a:r>
              <a:rPr sz="950" b="0" i="0">
                <a:solidFill>
                  <a:srgbClr val="1B5E20"/>
                </a:solidFill>
                <a:latin typeface="Calibri"/>
              </a:rPr>
              <a:t>StudentValidator</a:t>
            </a:r>
          </a:p>
        </p:txBody>
      </p:sp>
      <p:sp>
        <p:nvSpPr>
          <p:cNvPr id="30" name="Rectangle 29"/>
          <p:cNvSpPr/>
          <p:nvPr/>
        </p:nvSpPr>
        <p:spPr>
          <a:xfrm>
            <a:off x="2834640" y="804672"/>
            <a:ext cx="2377440" cy="804672"/>
          </a:xfrm>
          <a:prstGeom prst="rect">
            <a:avLst/>
          </a:prstGeom>
          <a:solidFill>
            <a:srgbClr val="FFEBEE"/>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834640" y="804672"/>
            <a:ext cx="2377440" cy="411480"/>
          </a:xfrm>
          <a:prstGeom prst="rect">
            <a:avLst/>
          </a:prstGeom>
          <a:noFill/>
        </p:spPr>
        <p:txBody>
          <a:bodyPr wrap="square">
            <a:spAutoFit/>
          </a:bodyPr>
          <a:lstStyle/>
          <a:p>
            <a:pPr algn="ctr"/>
            <a:r>
              <a:rPr sz="1100" b="1" i="0">
                <a:solidFill>
                  <a:srgbClr val="C62828"/>
                </a:solidFill>
                <a:latin typeface="Calibri"/>
              </a:rPr>
              <a:t>MemoryStudentRepository</a:t>
            </a:r>
          </a:p>
        </p:txBody>
      </p:sp>
      <p:sp>
        <p:nvSpPr>
          <p:cNvPr id="32" name="TextBox 31"/>
          <p:cNvSpPr txBox="1"/>
          <p:nvPr/>
        </p:nvSpPr>
        <p:spPr>
          <a:xfrm>
            <a:off x="2834640" y="1143000"/>
            <a:ext cx="2377440" cy="320040"/>
          </a:xfrm>
          <a:prstGeom prst="rect">
            <a:avLst/>
          </a:prstGeom>
          <a:noFill/>
        </p:spPr>
        <p:txBody>
          <a:bodyPr wrap="square">
            <a:spAutoFit/>
          </a:bodyPr>
          <a:lstStyle/>
          <a:p>
            <a:pPr algn="ctr"/>
            <a:r>
              <a:rPr sz="900" b="0" i="1">
                <a:solidFill>
                  <a:srgbClr val="C62828"/>
                </a:solidFill>
                <a:latin typeface="Calibri"/>
              </a:rPr>
              <a:t>List&lt;Student&gt;  —  O(n) search</a:t>
            </a:r>
          </a:p>
        </p:txBody>
      </p:sp>
      <p:cxnSp>
        <p:nvCxnSpPr>
          <p:cNvPr id="33" name="Connector 32"/>
          <p:cNvCxnSpPr/>
          <p:nvPr/>
        </p:nvCxnSpPr>
        <p:spPr>
          <a:xfrm flipH="1">
            <a:off x="4023360" y="1609344"/>
            <a:ext cx="32004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0" y="4462272"/>
            <a:ext cx="9144000" cy="530352"/>
          </a:xfrm>
          <a:prstGeom prst="rect">
            <a:avLst/>
          </a:prstGeom>
          <a:solidFill>
            <a:srgbClr val="FFEBEE"/>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2880" y="4498848"/>
            <a:ext cx="8778240" cy="438912"/>
          </a:xfrm>
          <a:prstGeom prst="rect">
            <a:avLst/>
          </a:prstGeom>
          <a:noFill/>
        </p:spPr>
        <p:txBody>
          <a:bodyPr wrap="square">
            <a:spAutoFit/>
          </a:bodyPr>
          <a:lstStyle/>
          <a:p>
            <a:pPr algn="l"/>
            <a:r>
              <a:rPr sz="1100" b="0" i="0">
                <a:solidFill>
                  <a:srgbClr val="C62828"/>
                </a:solidFill>
                <a:latin typeface="Calibri"/>
              </a:rPr>
              <a:t>Problem: FindById() loops through the whole list — O(n). No Group or Faculty concepts.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0"/>
            <a:ext cx="914400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8595360" cy="594360"/>
          </a:xfrm>
          <a:prstGeom prst="rect">
            <a:avLst/>
          </a:prstGeom>
          <a:noFill/>
        </p:spPr>
        <p:txBody>
          <a:bodyPr wrap="none">
            <a:spAutoFit/>
          </a:bodyPr>
          <a:lstStyle/>
          <a:p>
            <a:r>
              <a:rPr sz="2600" b="1">
                <a:solidFill>
                  <a:srgbClr val="FFFFFF"/>
                </a:solidFill>
                <a:latin typeface="Calibri"/>
              </a:rPr>
              <a:t>Repository as an architectural boundary</a:t>
            </a:r>
          </a:p>
        </p:txBody>
      </p:sp>
      <p:sp>
        <p:nvSpPr>
          <p:cNvPr id="5" name="TextBox 4"/>
          <p:cNvSpPr txBox="1"/>
          <p:nvPr/>
        </p:nvSpPr>
        <p:spPr>
          <a:xfrm>
            <a:off x="274320" y="804672"/>
            <a:ext cx="8595360" cy="320040"/>
          </a:xfrm>
          <a:prstGeom prst="rect">
            <a:avLst/>
          </a:prstGeom>
          <a:noFill/>
        </p:spPr>
        <p:txBody>
          <a:bodyPr wrap="square">
            <a:spAutoFit/>
          </a:bodyPr>
          <a:lstStyle/>
          <a:p>
            <a:pPr algn="ctr"/>
            <a:r>
              <a:rPr sz="1300" b="1" i="0">
                <a:solidFill>
                  <a:srgbClr val="0097A7"/>
                </a:solidFill>
                <a:latin typeface="Calibri"/>
              </a:rPr>
              <a:t>Complexity inside → simplicity outside</a:t>
            </a:r>
          </a:p>
        </p:txBody>
      </p:sp>
      <p:sp>
        <p:nvSpPr>
          <p:cNvPr id="6" name="Rectangle 5"/>
          <p:cNvSpPr/>
          <p:nvPr/>
        </p:nvSpPr>
        <p:spPr>
          <a:xfrm>
            <a:off x="3767329" y="1170432"/>
            <a:ext cx="1353311" cy="27432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794760" y="1170432"/>
            <a:ext cx="1325880" cy="238527"/>
          </a:xfrm>
          <a:prstGeom prst="rect">
            <a:avLst/>
          </a:prstGeom>
          <a:noFill/>
        </p:spPr>
        <p:txBody>
          <a:bodyPr wrap="square">
            <a:spAutoFit/>
          </a:bodyPr>
          <a:lstStyle/>
          <a:p>
            <a:pPr algn="ctr"/>
            <a:r>
              <a:rPr sz="950" b="1" i="0">
                <a:solidFill>
                  <a:srgbClr val="FFFFFF"/>
                </a:solidFill>
                <a:latin typeface="Calibri"/>
              </a:rPr>
              <a:t>ApiStudentRepository</a:t>
            </a:r>
          </a:p>
        </p:txBody>
      </p:sp>
      <p:sp>
        <p:nvSpPr>
          <p:cNvPr id="8" name="Rectangle 7"/>
          <p:cNvSpPr/>
          <p:nvPr/>
        </p:nvSpPr>
        <p:spPr>
          <a:xfrm>
            <a:off x="182881" y="1170432"/>
            <a:ext cx="3474720" cy="2743200"/>
          </a:xfrm>
          <a:prstGeom prst="rect">
            <a:avLst/>
          </a:prstGeom>
          <a:solidFill>
            <a:srgbClr val="FFEBEE"/>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2880" y="1170432"/>
            <a:ext cx="3749039" cy="347472"/>
          </a:xfrm>
          <a:prstGeom prst="rect">
            <a:avLst/>
          </a:prstGeom>
          <a:noFill/>
        </p:spPr>
        <p:txBody>
          <a:bodyPr wrap="square">
            <a:spAutoFit/>
          </a:bodyPr>
          <a:lstStyle/>
          <a:p>
            <a:pPr algn="ctr"/>
            <a:r>
              <a:rPr sz="1200" b="1" i="0">
                <a:solidFill>
                  <a:srgbClr val="C62828"/>
                </a:solidFill>
                <a:latin typeface="Calibri"/>
              </a:rPr>
              <a:t>INSIDE (private)</a:t>
            </a:r>
          </a:p>
        </p:txBody>
      </p:sp>
      <p:sp>
        <p:nvSpPr>
          <p:cNvPr id="10" name="TextBox 9"/>
          <p:cNvSpPr txBox="1"/>
          <p:nvPr/>
        </p:nvSpPr>
        <p:spPr>
          <a:xfrm>
            <a:off x="320040" y="1554480"/>
            <a:ext cx="3566160" cy="384048"/>
          </a:xfrm>
          <a:prstGeom prst="rect">
            <a:avLst/>
          </a:prstGeom>
          <a:noFill/>
        </p:spPr>
        <p:txBody>
          <a:bodyPr wrap="square">
            <a:spAutoFit/>
          </a:bodyPr>
          <a:lstStyle/>
          <a:p>
            <a:pPr algn="l"/>
            <a:r>
              <a:rPr sz="1050" b="0" i="0">
                <a:solidFill>
                  <a:srgbClr val="4E342E"/>
                </a:solidFill>
                <a:latin typeface="Calibri"/>
              </a:rPr>
              <a:t>▸  HttpClient  (HTTP connection)</a:t>
            </a:r>
          </a:p>
        </p:txBody>
      </p:sp>
      <p:sp>
        <p:nvSpPr>
          <p:cNvPr id="11" name="TextBox 10"/>
          <p:cNvSpPr txBox="1"/>
          <p:nvPr/>
        </p:nvSpPr>
        <p:spPr>
          <a:xfrm>
            <a:off x="320040" y="1965960"/>
            <a:ext cx="3566160" cy="384048"/>
          </a:xfrm>
          <a:prstGeom prst="rect">
            <a:avLst/>
          </a:prstGeom>
          <a:noFill/>
        </p:spPr>
        <p:txBody>
          <a:bodyPr wrap="square">
            <a:spAutoFit/>
          </a:bodyPr>
          <a:lstStyle/>
          <a:p>
            <a:pPr algn="l"/>
            <a:r>
              <a:rPr sz="1050" b="0" i="0">
                <a:solidFill>
                  <a:srgbClr val="4E342E"/>
                </a:solidFill>
                <a:latin typeface="Calibri"/>
              </a:rPr>
              <a:t>▸  Dictionary&lt;int, Student&gt;  — O(1) lookup</a:t>
            </a:r>
          </a:p>
        </p:txBody>
      </p:sp>
      <p:sp>
        <p:nvSpPr>
          <p:cNvPr id="12" name="TextBox 11"/>
          <p:cNvSpPr txBox="1"/>
          <p:nvPr/>
        </p:nvSpPr>
        <p:spPr>
          <a:xfrm>
            <a:off x="320040" y="2377440"/>
            <a:ext cx="3566160" cy="384048"/>
          </a:xfrm>
          <a:prstGeom prst="rect">
            <a:avLst/>
          </a:prstGeom>
          <a:noFill/>
        </p:spPr>
        <p:txBody>
          <a:bodyPr wrap="square">
            <a:spAutoFit/>
          </a:bodyPr>
          <a:lstStyle/>
          <a:p>
            <a:pPr algn="l"/>
            <a:r>
              <a:rPr sz="1050" b="0" i="0">
                <a:solidFill>
                  <a:srgbClr val="4E342E"/>
                </a:solidFill>
                <a:latin typeface="Calibri"/>
              </a:rPr>
              <a:t>▸  Dictionary&lt;string, Group&gt;  — O(1) group</a:t>
            </a:r>
          </a:p>
        </p:txBody>
      </p:sp>
      <p:sp>
        <p:nvSpPr>
          <p:cNvPr id="13" name="TextBox 12"/>
          <p:cNvSpPr txBox="1"/>
          <p:nvPr/>
        </p:nvSpPr>
        <p:spPr>
          <a:xfrm>
            <a:off x="320040" y="2788920"/>
            <a:ext cx="3566160" cy="384048"/>
          </a:xfrm>
          <a:prstGeom prst="rect">
            <a:avLst/>
          </a:prstGeom>
          <a:noFill/>
        </p:spPr>
        <p:txBody>
          <a:bodyPr wrap="square">
            <a:spAutoFit/>
          </a:bodyPr>
          <a:lstStyle/>
          <a:p>
            <a:pPr algn="l"/>
            <a:r>
              <a:rPr sz="1050" b="0" i="0">
                <a:solidFill>
                  <a:srgbClr val="4E342E"/>
                </a:solidFill>
                <a:latin typeface="Calibri"/>
              </a:rPr>
              <a:t>▸  ApiFacultyDto, ApiGroupDto, ApiStudentDto</a:t>
            </a:r>
          </a:p>
        </p:txBody>
      </p:sp>
      <p:sp>
        <p:nvSpPr>
          <p:cNvPr id="14" name="TextBox 13"/>
          <p:cNvSpPr txBox="1"/>
          <p:nvPr/>
        </p:nvSpPr>
        <p:spPr>
          <a:xfrm>
            <a:off x="320040" y="3200400"/>
            <a:ext cx="3566160" cy="384048"/>
          </a:xfrm>
          <a:prstGeom prst="rect">
            <a:avLst/>
          </a:prstGeom>
          <a:noFill/>
        </p:spPr>
        <p:txBody>
          <a:bodyPr wrap="square">
            <a:spAutoFit/>
          </a:bodyPr>
          <a:lstStyle/>
          <a:p>
            <a:pPr algn="l"/>
            <a:r>
              <a:rPr sz="1050" b="0" i="0">
                <a:solidFill>
                  <a:srgbClr val="4E342E"/>
                </a:solidFill>
                <a:latin typeface="Calibri"/>
              </a:rPr>
              <a:t>▸  LoadFromApi()  —  JSON fetch &amp; mapping</a:t>
            </a:r>
          </a:p>
        </p:txBody>
      </p:sp>
      <p:sp>
        <p:nvSpPr>
          <p:cNvPr id="15" name="Rectangle 14"/>
          <p:cNvSpPr/>
          <p:nvPr/>
        </p:nvSpPr>
        <p:spPr>
          <a:xfrm>
            <a:off x="5212080" y="1170432"/>
            <a:ext cx="3749039" cy="2743200"/>
          </a:xfrm>
          <a:prstGeom prst="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1170432"/>
            <a:ext cx="3749039" cy="347472"/>
          </a:xfrm>
          <a:prstGeom prst="rect">
            <a:avLst/>
          </a:prstGeom>
          <a:noFill/>
        </p:spPr>
        <p:txBody>
          <a:bodyPr wrap="square">
            <a:spAutoFit/>
          </a:bodyPr>
          <a:lstStyle/>
          <a:p>
            <a:pPr algn="ctr"/>
            <a:r>
              <a:rPr sz="1200" b="1" i="0">
                <a:solidFill>
                  <a:srgbClr val="2E7D32"/>
                </a:solidFill>
                <a:latin typeface="Calibri"/>
              </a:rPr>
              <a:t>OUTSIDE (public interface)</a:t>
            </a:r>
          </a:p>
        </p:txBody>
      </p:sp>
      <p:sp>
        <p:nvSpPr>
          <p:cNvPr id="17" name="TextBox 16"/>
          <p:cNvSpPr txBox="1"/>
          <p:nvPr/>
        </p:nvSpPr>
        <p:spPr>
          <a:xfrm>
            <a:off x="5321808" y="1554480"/>
            <a:ext cx="3566160" cy="384048"/>
          </a:xfrm>
          <a:prstGeom prst="rect">
            <a:avLst/>
          </a:prstGeom>
          <a:noFill/>
        </p:spPr>
        <p:txBody>
          <a:bodyPr wrap="square">
            <a:spAutoFit/>
          </a:bodyPr>
          <a:lstStyle/>
          <a:p>
            <a:pPr algn="l"/>
            <a:r>
              <a:rPr sz="1050" b="0" i="0">
                <a:solidFill>
                  <a:srgbClr val="1B5E20"/>
                </a:solidFill>
                <a:latin typeface="Calibri"/>
              </a:rPr>
              <a:t>✓  GetAll()  →  IReadOnlyList&lt;Student&gt;</a:t>
            </a:r>
          </a:p>
        </p:txBody>
      </p:sp>
      <p:sp>
        <p:nvSpPr>
          <p:cNvPr id="18" name="TextBox 17"/>
          <p:cNvSpPr txBox="1"/>
          <p:nvPr/>
        </p:nvSpPr>
        <p:spPr>
          <a:xfrm>
            <a:off x="5321808" y="1965960"/>
            <a:ext cx="3566160" cy="384048"/>
          </a:xfrm>
          <a:prstGeom prst="rect">
            <a:avLst/>
          </a:prstGeom>
          <a:noFill/>
        </p:spPr>
        <p:txBody>
          <a:bodyPr wrap="square">
            <a:spAutoFit/>
          </a:bodyPr>
          <a:lstStyle/>
          <a:p>
            <a:pPr algn="l"/>
            <a:r>
              <a:rPr sz="1050" b="0" i="0">
                <a:solidFill>
                  <a:srgbClr val="1B5E20"/>
                </a:solidFill>
                <a:latin typeface="Calibri"/>
              </a:rPr>
              <a:t>✓  GetById(int id)  →  Student?</a:t>
            </a:r>
          </a:p>
        </p:txBody>
      </p:sp>
      <p:sp>
        <p:nvSpPr>
          <p:cNvPr id="19" name="TextBox 18"/>
          <p:cNvSpPr txBox="1"/>
          <p:nvPr/>
        </p:nvSpPr>
        <p:spPr>
          <a:xfrm>
            <a:off x="5321808" y="2377440"/>
            <a:ext cx="3566160" cy="384048"/>
          </a:xfrm>
          <a:prstGeom prst="rect">
            <a:avLst/>
          </a:prstGeom>
          <a:noFill/>
        </p:spPr>
        <p:txBody>
          <a:bodyPr wrap="square">
            <a:spAutoFit/>
          </a:bodyPr>
          <a:lstStyle/>
          <a:p>
            <a:pPr algn="l"/>
            <a:r>
              <a:rPr sz="1050" b="0" i="0">
                <a:solidFill>
                  <a:srgbClr val="1B5E20"/>
                </a:solidFill>
                <a:latin typeface="Calibri"/>
              </a:rPr>
              <a:t>✓  GetGroupByCode(string code)  →  Group?</a:t>
            </a:r>
          </a:p>
        </p:txBody>
      </p:sp>
      <p:sp>
        <p:nvSpPr>
          <p:cNvPr id="20" name="TextBox 19"/>
          <p:cNvSpPr txBox="1"/>
          <p:nvPr/>
        </p:nvSpPr>
        <p:spPr>
          <a:xfrm>
            <a:off x="5321808" y="2788920"/>
            <a:ext cx="3566160" cy="384048"/>
          </a:xfrm>
          <a:prstGeom prst="rect">
            <a:avLst/>
          </a:prstGeom>
          <a:noFill/>
        </p:spPr>
        <p:txBody>
          <a:bodyPr wrap="square">
            <a:spAutoFit/>
          </a:bodyPr>
          <a:lstStyle/>
          <a:p>
            <a:pPr algn="l"/>
            <a:r>
              <a:rPr sz="1050" b="0" i="0">
                <a:solidFill>
                  <a:srgbClr val="1B5E20"/>
                </a:solidFill>
                <a:latin typeface="Calibri"/>
              </a:rPr>
              <a:t>✓  GetAllGroups()  →  IReadOnlyList&lt;Group&gt;</a:t>
            </a:r>
          </a:p>
        </p:txBody>
      </p:sp>
      <p:sp>
        <p:nvSpPr>
          <p:cNvPr id="21" name="TextBox 20"/>
          <p:cNvSpPr txBox="1"/>
          <p:nvPr/>
        </p:nvSpPr>
        <p:spPr>
          <a:xfrm>
            <a:off x="5321808" y="3200400"/>
            <a:ext cx="3566160" cy="384048"/>
          </a:xfrm>
          <a:prstGeom prst="rect">
            <a:avLst/>
          </a:prstGeom>
          <a:noFill/>
        </p:spPr>
        <p:txBody>
          <a:bodyPr wrap="square">
            <a:spAutoFit/>
          </a:bodyPr>
          <a:lstStyle/>
          <a:p>
            <a:pPr algn="l"/>
            <a:r>
              <a:rPr sz="1050" b="0" i="0">
                <a:solidFill>
                  <a:srgbClr val="1B5E20"/>
                </a:solidFill>
                <a:latin typeface="Calibri"/>
              </a:rPr>
              <a:t>✓  GetFaculty()  →  Faculty</a:t>
            </a:r>
          </a:p>
        </p:txBody>
      </p:sp>
      <p:cxnSp>
        <p:nvCxnSpPr>
          <p:cNvPr id="22" name="Connector 21"/>
          <p:cNvCxnSpPr/>
          <p:nvPr/>
        </p:nvCxnSpPr>
        <p:spPr>
          <a:xfrm>
            <a:off x="5120640" y="1828800"/>
            <a:ext cx="91440" cy="0"/>
          </a:xfrm>
          <a:prstGeom prst="line">
            <a:avLst/>
          </a:prstGeom>
          <a:ln w="25400">
            <a:solidFill>
              <a:srgbClr val="0097A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20640" y="2240280"/>
            <a:ext cx="91440" cy="0"/>
          </a:xfrm>
          <a:prstGeom prst="line">
            <a:avLst/>
          </a:prstGeom>
          <a:ln w="25400">
            <a:solidFill>
              <a:srgbClr val="0097A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20640" y="2651760"/>
            <a:ext cx="91440" cy="0"/>
          </a:xfrm>
          <a:prstGeom prst="line">
            <a:avLst/>
          </a:prstGeom>
          <a:ln w="25400">
            <a:solidFill>
              <a:srgbClr val="0097A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20640" y="3063240"/>
            <a:ext cx="91440" cy="0"/>
          </a:xfrm>
          <a:prstGeom prst="line">
            <a:avLst/>
          </a:prstGeom>
          <a:ln w="25400">
            <a:solidFill>
              <a:srgbClr val="0097A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0640" y="3474720"/>
            <a:ext cx="91440" cy="0"/>
          </a:xfrm>
          <a:prstGeom prst="line">
            <a:avLst/>
          </a:prstGeom>
          <a:ln w="25400">
            <a:solidFill>
              <a:srgbClr val="0097A7"/>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943600" y="118872"/>
            <a:ext cx="3017520" cy="34747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0" y="118872"/>
            <a:ext cx="3017520" cy="347472"/>
          </a:xfrm>
          <a:prstGeom prst="rect">
            <a:avLst/>
          </a:prstGeom>
          <a:noFill/>
        </p:spPr>
        <p:txBody>
          <a:bodyPr wrap="square">
            <a:spAutoFit/>
          </a:bodyPr>
          <a:lstStyle/>
          <a:p>
            <a:pPr algn="ctr"/>
            <a:r>
              <a:rPr sz="900" b="1" i="0">
                <a:solidFill>
                  <a:srgbClr val="FFFFFF"/>
                </a:solidFill>
                <a:latin typeface="Calibri"/>
              </a:rPr>
              <a:t>Open/Closed: swap the repository → Service stays unchanged!</a:t>
            </a:r>
          </a:p>
        </p:txBody>
      </p:sp>
      <p:sp>
        <p:nvSpPr>
          <p:cNvPr id="29" name="Rectangle 28"/>
          <p:cNvSpPr/>
          <p:nvPr/>
        </p:nvSpPr>
        <p:spPr>
          <a:xfrm>
            <a:off x="0" y="4005072"/>
            <a:ext cx="9144000" cy="548640"/>
          </a:xfrm>
          <a:prstGeom prst="rect">
            <a:avLst/>
          </a:prstGeom>
          <a:solidFill>
            <a:srgbClr val="FFF3E0"/>
          </a:solidFill>
          <a:ln w="1270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82880" y="4041648"/>
            <a:ext cx="8778240" cy="475488"/>
          </a:xfrm>
          <a:prstGeom prst="rect">
            <a:avLst/>
          </a:prstGeom>
          <a:noFill/>
        </p:spPr>
        <p:txBody>
          <a:bodyPr wrap="square">
            <a:spAutoFit/>
          </a:bodyPr>
          <a:lstStyle/>
          <a:p>
            <a:pPr algn="l"/>
            <a:r>
              <a:rPr sz="1100" b="0" i="0">
                <a:solidFill>
                  <a:srgbClr val="4E342E"/>
                </a:solidFill>
                <a:latin typeface="Calibri"/>
              </a:rPr>
              <a:t>StudentService knows nothing about dictionaries, DTOs or HTTP — it only calls methods through the interface.</a:t>
            </a:r>
          </a:p>
        </p:txBody>
      </p:sp>
      <p:sp>
        <p:nvSpPr>
          <p:cNvPr id="31" name="Rectangle 30"/>
          <p:cNvSpPr/>
          <p:nvPr/>
        </p:nvSpPr>
        <p:spPr>
          <a:xfrm>
            <a:off x="0" y="4590288"/>
            <a:ext cx="9144000" cy="384048"/>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82880" y="4608576"/>
            <a:ext cx="8778240" cy="347472"/>
          </a:xfrm>
          <a:prstGeom prst="rect">
            <a:avLst/>
          </a:prstGeom>
          <a:noFill/>
        </p:spPr>
        <p:txBody>
          <a:bodyPr wrap="square">
            <a:spAutoFit/>
          </a:bodyPr>
          <a:lstStyle/>
          <a:p>
            <a:pPr algn="ctr"/>
            <a:r>
              <a:rPr sz="1050" b="1" i="0">
                <a:solidFill>
                  <a:srgbClr val="B2EBF2"/>
                </a:solidFill>
                <a:latin typeface="Calibri"/>
              </a:rPr>
              <a:t>Program.cs  →  new ApiStudentRepository(url)  OR  new MemoryStudentRepository()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0"/>
            <a:ext cx="914400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8595360" cy="594360"/>
          </a:xfrm>
          <a:prstGeom prst="rect">
            <a:avLst/>
          </a:prstGeom>
          <a:noFill/>
        </p:spPr>
        <p:txBody>
          <a:bodyPr wrap="none">
            <a:spAutoFit/>
          </a:bodyPr>
          <a:lstStyle/>
          <a:p>
            <a:r>
              <a:rPr sz="2600" b="1">
                <a:solidFill>
                  <a:srgbClr val="FFFFFF"/>
                </a:solidFill>
                <a:latin typeface="Calibri"/>
              </a:rPr>
              <a:t>Architecture AFTER: Lab-7 with hierarchy &amp; API</a:t>
            </a:r>
          </a:p>
        </p:txBody>
      </p:sp>
      <p:sp>
        <p:nvSpPr>
          <p:cNvPr id="5" name="Rectangle 4"/>
          <p:cNvSpPr/>
          <p:nvPr/>
        </p:nvSpPr>
        <p:spPr>
          <a:xfrm>
            <a:off x="7223760" y="118872"/>
            <a:ext cx="1645920" cy="3657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23760" y="118872"/>
            <a:ext cx="1645920" cy="365760"/>
          </a:xfrm>
          <a:prstGeom prst="rect">
            <a:avLst/>
          </a:prstGeom>
          <a:noFill/>
        </p:spPr>
        <p:txBody>
          <a:bodyPr wrap="square">
            <a:spAutoFit/>
          </a:bodyPr>
          <a:lstStyle/>
          <a:p>
            <a:pPr algn="ctr"/>
            <a:r>
              <a:rPr sz="1100" b="1" i="0">
                <a:solidFill>
                  <a:srgbClr val="FFFFFF"/>
                </a:solidFill>
                <a:latin typeface="Calibri"/>
              </a:rPr>
              <a:t>AFTER (Lab-7)</a:t>
            </a:r>
          </a:p>
        </p:txBody>
      </p:sp>
      <p:sp>
        <p:nvSpPr>
          <p:cNvPr id="7" name="Rectangle 6"/>
          <p:cNvSpPr/>
          <p:nvPr/>
        </p:nvSpPr>
        <p:spPr>
          <a:xfrm>
            <a:off x="137160" y="960120"/>
            <a:ext cx="2011680" cy="6858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 y="960120"/>
            <a:ext cx="2011680" cy="685800"/>
          </a:xfrm>
          <a:prstGeom prst="rect">
            <a:avLst/>
          </a:prstGeom>
          <a:noFill/>
        </p:spPr>
        <p:txBody>
          <a:bodyPr wrap="square">
            <a:spAutoFit/>
          </a:bodyPr>
          <a:lstStyle/>
          <a:p>
            <a:pPr algn="ctr"/>
            <a:r>
              <a:rPr sz="1000" b="1" i="0">
                <a:solidFill>
                  <a:srgbClr val="FFFFFF"/>
                </a:solidFill>
                <a:latin typeface="Calibri"/>
              </a:rPr>
              <a:t>Program.cs
(Composition Root)</a:t>
            </a:r>
          </a:p>
        </p:txBody>
      </p:sp>
      <p:cxnSp>
        <p:nvCxnSpPr>
          <p:cNvPr id="9" name="Connector 8"/>
          <p:cNvCxnSpPr/>
          <p:nvPr/>
        </p:nvCxnSpPr>
        <p:spPr>
          <a:xfrm>
            <a:off x="2148840" y="1298448"/>
            <a:ext cx="64008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788920" y="822960"/>
            <a:ext cx="2057400" cy="9144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88920" y="822960"/>
            <a:ext cx="2057400" cy="914400"/>
          </a:xfrm>
          <a:prstGeom prst="rect">
            <a:avLst/>
          </a:prstGeom>
          <a:noFill/>
        </p:spPr>
        <p:txBody>
          <a:bodyPr wrap="square">
            <a:spAutoFit/>
          </a:bodyPr>
          <a:lstStyle/>
          <a:p>
            <a:pPr algn="ctr"/>
            <a:r>
              <a:rPr sz="1200" b="1" i="0">
                <a:solidFill>
                  <a:srgbClr val="FFFFFF"/>
                </a:solidFill>
                <a:latin typeface="Calibri"/>
              </a:rPr>
              <a:t>StudentService</a:t>
            </a:r>
          </a:p>
        </p:txBody>
      </p:sp>
      <p:cxnSp>
        <p:nvCxnSpPr>
          <p:cNvPr id="12" name="Connector 11"/>
          <p:cNvCxnSpPr/>
          <p:nvPr/>
        </p:nvCxnSpPr>
        <p:spPr>
          <a:xfrm>
            <a:off x="4846320" y="1298448"/>
            <a:ext cx="548640" cy="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394960" y="1005840"/>
            <a:ext cx="2148840" cy="548640"/>
          </a:xfrm>
          <a:prstGeom prst="rect">
            <a:avLst/>
          </a:prstGeom>
          <a:solidFill>
            <a:srgbClr val="FFFFFF"/>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94960" y="1005840"/>
            <a:ext cx="2148840" cy="548640"/>
          </a:xfrm>
          <a:prstGeom prst="rect">
            <a:avLst/>
          </a:prstGeom>
          <a:noFill/>
        </p:spPr>
        <p:txBody>
          <a:bodyPr wrap="square">
            <a:spAutoFit/>
          </a:bodyPr>
          <a:lstStyle/>
          <a:p>
            <a:pPr algn="ctr"/>
            <a:r>
              <a:rPr sz="1000" b="1" i="0">
                <a:solidFill>
                  <a:srgbClr val="1A237E"/>
                </a:solidFill>
                <a:latin typeface="Calibri"/>
              </a:rPr>
              <a:t>IStudentRepository</a:t>
            </a:r>
          </a:p>
        </p:txBody>
      </p:sp>
      <p:cxnSp>
        <p:nvCxnSpPr>
          <p:cNvPr id="15" name="Connector 14"/>
          <p:cNvCxnSpPr/>
          <p:nvPr/>
        </p:nvCxnSpPr>
        <p:spPr>
          <a:xfrm>
            <a:off x="6446520" y="1554480"/>
            <a:ext cx="0" cy="41148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446520" y="1554480"/>
            <a:ext cx="0" cy="123444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394960" y="1965960"/>
            <a:ext cx="2148840" cy="685800"/>
          </a:xfrm>
          <a:prstGeom prst="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94960" y="1965960"/>
            <a:ext cx="2148840" cy="685800"/>
          </a:xfrm>
          <a:prstGeom prst="rect">
            <a:avLst/>
          </a:prstGeom>
          <a:noFill/>
        </p:spPr>
        <p:txBody>
          <a:bodyPr wrap="square">
            <a:spAutoFit/>
          </a:bodyPr>
          <a:lstStyle/>
          <a:p>
            <a:pPr algn="ctr"/>
            <a:r>
              <a:rPr sz="900" b="0" i="0">
                <a:solidFill>
                  <a:srgbClr val="1B5E20"/>
                </a:solidFill>
                <a:latin typeface="Calibri"/>
              </a:rPr>
              <a:t>ApiStudentRepository
(Docker REST API)</a:t>
            </a:r>
          </a:p>
        </p:txBody>
      </p:sp>
      <p:sp>
        <p:nvSpPr>
          <p:cNvPr id="19" name="Rectangle 18"/>
          <p:cNvSpPr/>
          <p:nvPr/>
        </p:nvSpPr>
        <p:spPr>
          <a:xfrm>
            <a:off x="5394960" y="2743200"/>
            <a:ext cx="2148840" cy="685800"/>
          </a:xfrm>
          <a:prstGeom prst="rect">
            <a:avLst/>
          </a:prstGeom>
          <a:solidFill>
            <a:srgbClr val="FFFFFF"/>
          </a:solidFill>
          <a:ln w="19050">
            <a:solidFill>
              <a:srgbClr val="789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94960" y="2743200"/>
            <a:ext cx="2148840" cy="685800"/>
          </a:xfrm>
          <a:prstGeom prst="rect">
            <a:avLst/>
          </a:prstGeom>
          <a:noFill/>
        </p:spPr>
        <p:txBody>
          <a:bodyPr wrap="square">
            <a:spAutoFit/>
          </a:bodyPr>
          <a:lstStyle/>
          <a:p>
            <a:pPr algn="ctr"/>
            <a:r>
              <a:rPr sz="900" b="0" i="0">
                <a:solidFill>
                  <a:srgbClr val="37474F"/>
                </a:solidFill>
                <a:latin typeface="Calibri"/>
              </a:rPr>
              <a:t>MemoryStudentRepository
(fallback)</a:t>
            </a:r>
          </a:p>
        </p:txBody>
      </p:sp>
      <p:sp>
        <p:nvSpPr>
          <p:cNvPr id="21" name="Rectangle 20"/>
          <p:cNvSpPr/>
          <p:nvPr/>
        </p:nvSpPr>
        <p:spPr>
          <a:xfrm>
            <a:off x="7680960" y="1005840"/>
            <a:ext cx="1353312" cy="2560320"/>
          </a:xfrm>
          <a:prstGeom prst="rect">
            <a:avLst/>
          </a:prstGeom>
          <a:solidFill>
            <a:srgbClr val="B2EBF2"/>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0" y="1005840"/>
            <a:ext cx="1353312" cy="2560320"/>
          </a:xfrm>
          <a:prstGeom prst="rect">
            <a:avLst/>
          </a:prstGeom>
          <a:noFill/>
        </p:spPr>
        <p:txBody>
          <a:bodyPr wrap="square">
            <a:spAutoFit/>
          </a:bodyPr>
          <a:lstStyle/>
          <a:p>
            <a:pPr algn="ctr"/>
            <a:r>
              <a:rPr sz="950" b="1" i="0">
                <a:solidFill>
                  <a:srgbClr val="1A237E"/>
                </a:solidFill>
                <a:latin typeface="Calibri"/>
              </a:rPr>
              <a:t>Domain objects
(Student, Group, Faculty)</a:t>
            </a:r>
          </a:p>
        </p:txBody>
      </p:sp>
      <p:cxnSp>
        <p:nvCxnSpPr>
          <p:cNvPr id="23" name="Connector 22"/>
          <p:cNvCxnSpPr/>
          <p:nvPr/>
        </p:nvCxnSpPr>
        <p:spPr>
          <a:xfrm>
            <a:off x="7571231" y="2331720"/>
            <a:ext cx="109729" cy="0"/>
          </a:xfrm>
          <a:prstGeom prst="line">
            <a:avLst/>
          </a:prstGeom>
          <a:ln w="19050">
            <a:solidFill>
              <a:srgbClr val="0097A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813048" y="1737360"/>
            <a:ext cx="0" cy="32004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788920" y="2057400"/>
            <a:ext cx="2057400" cy="411480"/>
          </a:xfrm>
          <a:prstGeom prst="rect">
            <a:avLst/>
          </a:prstGeom>
          <a:solidFill>
            <a:srgbClr val="FFFFFF"/>
          </a:solidFill>
          <a:ln w="1524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88920" y="2057400"/>
            <a:ext cx="2057400" cy="411480"/>
          </a:xfrm>
          <a:prstGeom prst="rect">
            <a:avLst/>
          </a:prstGeom>
          <a:noFill/>
        </p:spPr>
        <p:txBody>
          <a:bodyPr wrap="square">
            <a:spAutoFit/>
          </a:bodyPr>
          <a:lstStyle/>
          <a:p>
            <a:pPr algn="ctr"/>
            <a:r>
              <a:rPr sz="950" b="1" i="0">
                <a:solidFill>
                  <a:srgbClr val="1A237E"/>
                </a:solidFill>
                <a:latin typeface="Calibri"/>
              </a:rPr>
              <a:t>IStudentPrinter</a:t>
            </a:r>
          </a:p>
        </p:txBody>
      </p:sp>
      <p:cxnSp>
        <p:nvCxnSpPr>
          <p:cNvPr id="27" name="Connector 26"/>
          <p:cNvCxnSpPr/>
          <p:nvPr/>
        </p:nvCxnSpPr>
        <p:spPr>
          <a:xfrm>
            <a:off x="4846320" y="2258568"/>
            <a:ext cx="548640" cy="0"/>
          </a:xfrm>
          <a:prstGeom prst="line">
            <a:avLst/>
          </a:prstGeom>
          <a:ln w="15240">
            <a:solidFill>
              <a:srgbClr val="0097A7"/>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4846320" y="2057400"/>
            <a:ext cx="548640" cy="411480"/>
          </a:xfrm>
          <a:prstGeom prst="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46320" y="2057400"/>
            <a:ext cx="548640" cy="411480"/>
          </a:xfrm>
          <a:prstGeom prst="rect">
            <a:avLst/>
          </a:prstGeom>
          <a:noFill/>
        </p:spPr>
        <p:txBody>
          <a:bodyPr wrap="square">
            <a:spAutoFit/>
          </a:bodyPr>
          <a:lstStyle/>
          <a:p>
            <a:pPr algn="ctr"/>
            <a:r>
              <a:rPr sz="1400" b="1" i="0">
                <a:solidFill>
                  <a:srgbClr val="2E7D32"/>
                </a:solidFill>
                <a:latin typeface="Calibri"/>
              </a:rPr>
              <a:t>↑</a:t>
            </a:r>
          </a:p>
        </p:txBody>
      </p:sp>
      <p:cxnSp>
        <p:nvCxnSpPr>
          <p:cNvPr id="30" name="Connector 29"/>
          <p:cNvCxnSpPr/>
          <p:nvPr/>
        </p:nvCxnSpPr>
        <p:spPr>
          <a:xfrm>
            <a:off x="3813048" y="2468880"/>
            <a:ext cx="0" cy="274320"/>
          </a:xfrm>
          <a:prstGeom prst="line">
            <a:avLst/>
          </a:prstGeom>
          <a:ln w="31750">
            <a:solidFill>
              <a:srgbClr val="0097A7"/>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2788920" y="2743200"/>
            <a:ext cx="2057400" cy="411480"/>
          </a:xfrm>
          <a:prstGeom prst="rect">
            <a:avLst/>
          </a:prstGeom>
          <a:solidFill>
            <a:srgbClr val="FFFFFF"/>
          </a:solidFill>
          <a:ln w="1524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88920" y="2743200"/>
            <a:ext cx="2057400" cy="411480"/>
          </a:xfrm>
          <a:prstGeom prst="rect">
            <a:avLst/>
          </a:prstGeom>
          <a:noFill/>
        </p:spPr>
        <p:txBody>
          <a:bodyPr wrap="square">
            <a:spAutoFit/>
          </a:bodyPr>
          <a:lstStyle/>
          <a:p>
            <a:pPr algn="ctr"/>
            <a:r>
              <a:rPr sz="950" b="1" i="0">
                <a:solidFill>
                  <a:srgbClr val="1A237E"/>
                </a:solidFill>
                <a:latin typeface="Calibri"/>
              </a:rPr>
              <a:t>IAverageStrategy</a:t>
            </a:r>
          </a:p>
        </p:txBody>
      </p:sp>
      <p:sp>
        <p:nvSpPr>
          <p:cNvPr id="33" name="Rectangle 32"/>
          <p:cNvSpPr/>
          <p:nvPr/>
        </p:nvSpPr>
        <p:spPr>
          <a:xfrm>
            <a:off x="0" y="3913632"/>
            <a:ext cx="9144000" cy="475488"/>
          </a:xfrm>
          <a:prstGeom prst="rect">
            <a:avLst/>
          </a:prstGeom>
          <a:solidFill>
            <a:srgbClr val="1E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74320" y="3931920"/>
            <a:ext cx="8595360" cy="438912"/>
          </a:xfrm>
          <a:prstGeom prst="rect">
            <a:avLst/>
          </a:prstGeom>
          <a:noFill/>
        </p:spPr>
        <p:txBody>
          <a:bodyPr wrap="square">
            <a:spAutoFit/>
          </a:bodyPr>
          <a:lstStyle/>
          <a:p>
            <a:pPr algn="ctr"/>
            <a:r>
              <a:rPr sz="1050" b="0" i="0">
                <a:solidFill>
                  <a:srgbClr val="E8EAF6"/>
                </a:solidFill>
                <a:latin typeface="Courier New"/>
              </a:rPr>
              <a:t>useApi ? new ApiStudentRepository() : new MemoryStudentRepository()</a:t>
            </a:r>
          </a:p>
        </p:txBody>
      </p:sp>
      <p:sp>
        <p:nvSpPr>
          <p:cNvPr id="35" name="Rectangle 34"/>
          <p:cNvSpPr/>
          <p:nvPr/>
        </p:nvSpPr>
        <p:spPr>
          <a:xfrm>
            <a:off x="0" y="4434840"/>
            <a:ext cx="9144000" cy="530352"/>
          </a:xfrm>
          <a:prstGeom prst="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82880" y="4462272"/>
            <a:ext cx="8778240" cy="457200"/>
          </a:xfrm>
          <a:prstGeom prst="rect">
            <a:avLst/>
          </a:prstGeom>
          <a:noFill/>
        </p:spPr>
        <p:txBody>
          <a:bodyPr wrap="square">
            <a:spAutoFit/>
          </a:bodyPr>
          <a:lstStyle/>
          <a:p>
            <a:pPr algn="l"/>
            <a:r>
              <a:rPr sz="1100" b="0" i="0">
                <a:solidFill>
                  <a:srgbClr val="1B5E20"/>
                </a:solidFill>
                <a:latin typeface="Calibri"/>
              </a:rPr>
              <a:t>Student can run without Docker (MemoryRepo) → flip the flag → Service unchanged!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12381</Words>
  <Application>Microsoft Macintosh PowerPoint</Application>
  <PresentationFormat>On-screen Show (16:9)</PresentationFormat>
  <Paragraphs>474</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Containers OOP – Week 7 EN</dc:title>
  <dc:subject>PptxGenJS Presentation</dc:subject>
  <dc:creator>OOP C# Paskaita</dc:creator>
  <cp:lastModifiedBy>Tadas Bulis</cp:lastModifiedBy>
  <cp:revision>3</cp:revision>
  <dcterms:created xsi:type="dcterms:W3CDTF">2026-04-11T11:51:49Z</dcterms:created>
  <dcterms:modified xsi:type="dcterms:W3CDTF">2026-04-14T17:38:21Z</dcterms:modified>
</cp:coreProperties>
</file>