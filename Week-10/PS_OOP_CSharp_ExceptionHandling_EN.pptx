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7177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 min — run through the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3 min
📢 Open Lab-8, set useApi=true, stop Docker. Run it —see the crash. Then: "How do we fix this?"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3 min
📢 Null as error signal is a well-known anti-pattern. Tony Hoare (null's inventor) called it the "billion-dollar mistake".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3 min
📢 An exception is like a "help call" — the program says "I don't know how to handle this, maybe someone above does?"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4 min — type live
Visually: draw an arrow from the throw point straight to the catch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4 min
"What happens if Exception catch comes first?" — it catches everything, specific ones never reached. The compiler detects this!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the hierarchy determines which exceptions to catch. FileNotFoundException IS an IOException, so catch (IOException) catches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4 min
📢 finally always runs — even if catch has return or throw. This guarantees resource cleanup. using is syntactic sugar around try/finally + Dispose.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3 min
📢 Message and InnerException are used most in debugging. StackTrace shows exactly where the error occurred. Show using them in the VS Debug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4 min
📢 throw; vs throw ex; — one of the most common mistakes even experienced devs make. throw; preserves the original stack trace. throw ex; creates a new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4 min
📢 A custom exception lets callers catch ONLY repository errors — not all possible exceptions. Program.cs can catch (RepositoryException) and handle cleanly.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4 min
📢 Swallowing is one of the most harmful practices. Data will silently corrupt and no one will understand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4 min
📢 General rule: lower in the hierarchy → more specific exception. Higher → broader catch. Program.cs is the "safety net".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coding
📢 Type this live. Stop Docker and run — now you see RepositoryException, not a raw System.Net crash.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4 min
📢 "Fail fast" principle: better to throw immediately than let an invalid object exist in the system. ArgumentException vs ArgumentNullException: null vs empty 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4 min
📢 Program.cs as "safety net" — this is the last chance to show a friendly message. Users should never see a System.Net.Http. stack trace.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3 min
📢 The base() constructor already validates firstName, lastName, email. GraduateStudent only validates its own field — ThesisTitle. Clear separation of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 min — overview
📢 Test: new Student(-1, ...) must throw. new Student(1, "", ...) must throw. new Student(1, "Alice", "Smith", ...) must succeed.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 min — overview
📢 Test Task 2: stop Docker, set useApi=true — must see RepositoryException message, no crash, program switches to demo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 min — overview
📢 AFTER version — the program never stops. Users always see a clear message. This is professional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 min — summary
📢 Lab-9 result: program never crashes again. Next — file I/O so data persists between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514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C#  ·  Week 9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· catch · finally · throw · custom exceptions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45720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C#  ·  Kaunas College  ·  Tadas Bulis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845820"/>
            <a:ext cx="83210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The Problem: what happens when the API is down or data is invalid?
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What is an exception? try / catch / finally syntax
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Exception hierarchy and specific exception types
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throw — throwing and re-throwing exceptions
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Custom exceptions: class RepositoryException : Exception
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Best practices: what to do and what to avoid
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 In their project: ApiStudentRepository and constructor validation
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LAB-9 task overview
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4630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" y="205740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Unhandled Errors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the API Is Down?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845820"/>
            <a:ext cx="8503920" cy="27432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8915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Now — Lab-8 ApiStudentRepository with no protection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47572"/>
            <a:ext cx="8503920" cy="320040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220724"/>
            <a:ext cx="832104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ApiStudentRepository(string baseUrl)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_http = new HttpClient { BaseAddress = new Uri(baseUrl) 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LoadFromApi().GetAwaiter().GetResult();  // ← CRASH jei API neveikia!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Rezultatas vartotojui / Result the user sees: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Unhandled exception. System.Net.Http.HttpRequestException: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 connection could be made because the target machine actively refused it.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at System.Net.Http.HttpConnectionPool.ConnectAsync(...)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at ApiStudentRepository..ctor(...)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at Program.Main(...)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Programa GRIŪNA. Studentas mato techninius crash duomenis.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Program CRASHES. Student sees raw technical crash output.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4411980"/>
            <a:ext cx="8503920" cy="658368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" y="4503420"/>
            <a:ext cx="828446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unacceptable. A well-written program should NEVER crash. It must handle errors gracefully and show a helpful message.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Solution: null as an Error Signal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7086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could return null or false — but that creates new problems: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037844"/>
            <a:ext cx="8503920" cy="3396996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110996"/>
            <a:ext cx="832104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BLOGAI — null kaip klaidos signalas / RETURNING null as error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IReadOnlyList&lt;Student&gt; GetAll()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 return _studentsById.Values.ToList();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 { return null!; }  // ← skambinantiems nėra žinomos priežasties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Tada KIEKVIENAME skambinime / Then at EVERY call site: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students = repo.GetAll();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(students == null)           // kas nutiko? kodėl? nėra info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Console.WriteLine("Error"); // ką daryti?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BLOGAI — bool grąžinimas / RETURNING bool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bool TryLoadFromApi(out IReadOnlyList&lt;Student&gt;? students)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 students = ...; return true;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 { students = null; return false; }  // ← prarandame klaidos detalę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4471416"/>
            <a:ext cx="8503920" cy="50749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9768" y="4485132"/>
            <a:ext cx="828446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 solution: let the exception propagate or convert it to a more meaningful exception. Error information must not be lost.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Exception?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845820"/>
            <a:ext cx="4160520" cy="1638300"/>
          </a:xfrm>
          <a:prstGeom prst="rect">
            <a:avLst/>
          </a:prstGeom>
          <a:solidFill>
            <a:srgbClr val="E3F2FD"/>
          </a:solidFill>
          <a:ln w="2286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9372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= Error Signal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" y="134874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representing an error. When "thrown" — the program stops normal execution and searches for a catch block.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845820"/>
            <a:ext cx="4160520" cy="1638300"/>
          </a:xfrm>
          <a:prstGeom prst="rect">
            <a:avLst/>
          </a:prstGeom>
          <a:solidFill>
            <a:srgbClr val="FFF8E1"/>
          </a:solidFill>
          <a:ln w="2286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81728" y="9372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≠ Bug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81728" y="134874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exception is an EXPECTED situation: file not found, API down, invalid data. A bug is an UNEXPECTED error (e.g., null reference) that needs to be fixed in code.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571750"/>
            <a:ext cx="8503920" cy="244983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644902"/>
            <a:ext cx="8321040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Kai išimtis metama — vykdymas nutraukiamas toje vietoje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When exception is thrown — execution stops at that point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ProcessStudent(Student 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 is null) throw new ArgumentNullException(nameof(s));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← šios eilutės vykdomos TIK jei s != null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Console.WriteLine(s.FullName);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Jei nėra catch — programa griūna su klaidos žinute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If no catch — program crashes with error message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ProcessStudent(null!);  // ← mets ArgumentNullException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4630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" y="205740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· catch · finally</a:t>
            </a:r>
            <a:endParaRPr lang="en-US" sz="3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catch — Basics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845820"/>
            <a:ext cx="8503920" cy="34366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18972"/>
            <a:ext cx="8321040" cy="4050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=== Struktūra / Structure ===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Blokas kuris GALI mesti išimtį / Block that MAY throw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dto = await _http.GetFromJsonAsync&lt;ApiFacultyDto&gt;("/api/faculty");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_faculty = new Faculty(dto!.Name);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 duomenų apdorojimas / data processing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(HttpRequestException ex)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Vykdoma TIK jei mesta HttpRequestException / Runs ONLY if HttpRequestException thrown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Console.WriteLine($"[Repository] API not available: {ex.Message}");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LoadDemoData();  // atsarginė logika / fallback logic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 catch — programa TĘSIA darbą (nesugriūna)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After catch — program CONTINUES (does not crash)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Console.WriteLine("Ready.");  // ← vykdoma nepriklausomai / always runs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402836"/>
            <a:ext cx="8503920" cy="566928"/>
          </a:xfrm>
          <a:prstGeom prst="rect">
            <a:avLst/>
          </a:prstGeom>
          <a:solidFill>
            <a:srgbClr val="F5F7FF"/>
          </a:solidFill>
          <a:ln w="190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" y="4494276"/>
            <a:ext cx="828446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in try → execution jumps directly to catch. Lines between the error and catch end ARE skipped. After catch — continues normally.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catch Blocks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845820"/>
            <a:ext cx="8503920" cy="371094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18972"/>
            <a:ext cx="8321040" cy="4325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json  = File.ReadAllText("students.json");  // gali mesti IOException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list  = JsonSerializer.Deserialize&lt;List&lt;StudentDto&gt;&gt;(json);  // gali mesti JsonException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(FileNotFoundException ex)   // ← konkretesnė PIRMIAU / more specific FIRST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Console.WriteLine($"File not found: {ex.FileName}");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(IOException ex)             // ← platesnis po konkretesnio / broader after specific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Console.WriteLine($"File read error: {ex.Message}");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(JsonException ex)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Console.WriteLine($"Invalid JSON format: {ex.Message}");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(Exception ex)               // ← PASKUTINIS — pačiame gale / LAST — at the end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Console.WriteLine($"Unexpected: {ex.Message}");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4629912"/>
            <a:ext cx="8503920" cy="292608"/>
          </a:xfrm>
          <a:prstGeom prst="rect">
            <a:avLst/>
          </a:prstGeom>
          <a:solidFill>
            <a:srgbClr val="FFF8E1"/>
          </a:solidFill>
          <a:ln w="1524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466648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Specific exceptions ALWAYS come before broader ones. C# checks catch blocks top-down — the first match wins.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Hierarchy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7086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exceptions inherit from System.Exception — so catch (Exception ex) catches EVERYTHING: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120140"/>
            <a:ext cx="2560320" cy="457200"/>
          </a:xfrm>
          <a:prstGeom prst="rect">
            <a:avLst/>
          </a:prstGeom>
          <a:solidFill>
            <a:srgbClr val="E3F2FD"/>
          </a:solidFill>
          <a:ln w="1905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64992" y="1184148"/>
            <a:ext cx="2432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System.Exception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88820"/>
            <a:ext cx="2743200" cy="457200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3192" y="2052828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1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System.IO.IOException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988820"/>
            <a:ext cx="3108960" cy="457200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64992" y="2052828"/>
            <a:ext cx="29809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1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System.Text.Json.JsonException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988820"/>
            <a:ext cx="2743200" cy="457200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53912" y="2052828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1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Net.Http.HttpRequestException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519172"/>
            <a:ext cx="2286000" cy="4572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3192" y="2583180"/>
            <a:ext cx="21579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FileNotFoundException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2519172"/>
            <a:ext cx="2651760" cy="4572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816352" y="2583180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DirectoryNotFoundException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1595628"/>
            <a:ext cx="0" cy="393192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0" y="1595628"/>
            <a:ext cx="274320" cy="393192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0" y="1595628"/>
            <a:ext cx="2880360" cy="393192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113532"/>
            <a:ext cx="8503920" cy="1874520"/>
          </a:xfrm>
          <a:prstGeom prst="rect">
            <a:avLst/>
          </a:prstGeom>
          <a:solidFill>
            <a:srgbClr val="F5F7FF"/>
          </a:solidFill>
          <a:ln w="1524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15925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their project: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50672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HttpRequestException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0" y="3506724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API unavailable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387248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ArgumentException / ArgumentNullException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89120" y="3872484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Invalid constructor arguments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23824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ArgumentOutOfRangeException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89120" y="4238244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Id ≤ 0 or grade out of range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460400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InvalidOperationException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89120" y="4604004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Operation not valid in current state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— Always Runs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762000"/>
            <a:ext cx="8503920" cy="426262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762000"/>
            <a:ext cx="8321040" cy="4718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StreamReader? reader = null;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reader = new StreamReader("students.json");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content = reader.ReadToEnd();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apdoroti... / process...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(IOException ex)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Console.WriteLine($"Read error: {ex.Message}");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reader?.Dispose();  // VISADA uždaromas, net jei klaida / ALWAYS closed, even on error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Geriau naudoti using — automatinis Dispose / Better: using — automatic Dispose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(var reader = new StreamReader("students.json"))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content = reader.ReadToEnd();  // reader.Dispose() garantuotas / guaranteed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Arba moderniau / Or more modern: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var reader2 = new StreamReader("students.json");  // C# 8+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content2 = reader2.ReadToEnd();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Properties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769620"/>
            <a:ext cx="8503920" cy="371551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763524"/>
            <a:ext cx="8321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dto = await _http.GetFromJsonAsync&lt;ApiFacultyDto&gt;("/api/faculty");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(HttpRequestException ex)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Pagrindinės savybės / Key properties: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Console.WriteLine($"Message:        {ex.Message}");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 → "No connection could be made..."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Console.WriteLine($"Type:           {ex.GetType().Name}");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 → "HttpRequestException"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Console.WriteLine($"StatusCode:     {ex.StatusCode}");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 → 503, 404, null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Console.WriteLine($"StackTrace:\n{ex.StackTrace}");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 → eilutės kur klaida įvyko / lines where error occurred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Console.WriteLine($"InnerException: {ex.InnerException?.Message}");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 → pirminė priežastis / root cause (e.g., "Connection refused")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Patogiausia studentams prisiminti: Message ir InnerException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567428"/>
            <a:ext cx="8503920" cy="457200"/>
          </a:xfrm>
          <a:prstGeom prst="rect">
            <a:avLst/>
          </a:prstGeom>
          <a:solidFill>
            <a:srgbClr val="F5F7FF"/>
          </a:solidFill>
          <a:ln w="190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" y="4558284"/>
            <a:ext cx="82844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InnerException — the original root cause from the inner layer. When we wrap: new RepositoryException("...", ex) — ex becomes the InnerException.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4630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" y="205740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and Custom Exceptions</a:t>
            </a:r>
            <a:endParaRPr lang="en-US" sz="3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— Throwing and Re-Throwing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745236"/>
            <a:ext cx="8503920" cy="25603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790956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 usage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037844"/>
            <a:ext cx="8503920" cy="277063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046988"/>
            <a:ext cx="832104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Mesti naują išimtį / Throw a new exception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(string.IsNullOrWhiteSpace(firstName))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ArgumentException("First name cannot be empty.", nameof(firstName));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Apgaubti su kontekstu / Wrap with context (preserves inner)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(HttpRequestException ex)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RepositoryException("Cannot reach API.", ex);  // ex → InnerException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Perduoti TEISINGAI / Re-throw CORRECTLY (preserves stack trace)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(HttpRequestException)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DoCleanup();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throw;  // ← paprastas "throw;" — IŠSAUGO stack trace!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3881628"/>
            <a:ext cx="8503920" cy="256032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392734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Bad — loses stack trace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4210812"/>
            <a:ext cx="8503920" cy="8488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4283964"/>
            <a:ext cx="832104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(HttpRequestException ex)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ex;  // ← BLOGAI! Naujas stack trace — prarandame kur klaida iš tikro įvyko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 Class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769620"/>
            <a:ext cx="8503920" cy="419100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769620"/>
            <a:ext cx="8321040" cy="4718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Exceptions/ arba Models/ aplanke / In Exceptions/ or Models/ folder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 Lab9.Exceptions;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RepositoryException : Exception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RepositoryException(string message)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base(message) { 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RepositoryException(string message, Exception innerException)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base(message, innerException) {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Panaudojimas / Usage: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async Task LoadFromApi()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 dto = await _http.GetFromJsonAsync&lt;ApiFacultyDto&gt;("/api/faculty");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 (HttpRequestException ex)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RepositoryException("Cannot connect to student API.", ex);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 (JsonException ex)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RepositoryException("Received invalid data from API.", ex);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4630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" y="205740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3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Specific, Not Generic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809244"/>
            <a:ext cx="4160520" cy="256032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854964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Bad — too broad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083564"/>
            <a:ext cx="4160520" cy="146304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156716"/>
            <a:ext cx="397764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 LoadFromApi().GetAwaiter().GetResult();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(Exception ex)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Console.WriteLine("Error");  // prarandam informaciją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809244"/>
            <a:ext cx="4160520" cy="25603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854964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Good — specific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083564"/>
            <a:ext cx="4160520" cy="2055876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1091184"/>
            <a:ext cx="3977640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 LoadFromApi().GetAwaiter().GetResult();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(HttpRequestException ex)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RepositoryException("API down.", ex);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(JsonException ex)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RepositoryException("Bad data.", ex);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212592"/>
            <a:ext cx="8503920" cy="621792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2336" y="3267456"/>
            <a:ext cx="82844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Never write an empty catch {} — this is "exception swallowing". The error disappears silently, the program appears to work but data may be corrupted.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3924300"/>
            <a:ext cx="8503920" cy="679704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980688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NIEKADA / NEVER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 DoSomething();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{ }  // ← klaida dingsta / error disappears silently!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4739640"/>
            <a:ext cx="8503920" cy="310896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2336" y="4739640"/>
            <a:ext cx="82844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catch an exception when you know how to handle it properly. Otherwise — let it propagate up.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Catch Exceptions?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7086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layer should catch exceptions. Architecture determines this: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056132"/>
            <a:ext cx="2560320" cy="656844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129284"/>
            <a:ext cx="2377440" cy="5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71800" y="1056132"/>
            <a:ext cx="5852160" cy="656844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90672" y="1129284"/>
            <a:ext cx="5623560" cy="5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here — this is the final boundary. Show user a friendly message.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915668"/>
            <a:ext cx="2560320" cy="656844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988820"/>
            <a:ext cx="2377440" cy="5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ApiStudentRepository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71800" y="1915668"/>
            <a:ext cx="5852160" cy="656844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90672" y="1988820"/>
            <a:ext cx="5623560" cy="5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HttpRequestException — convert to RepositoryException.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775204"/>
            <a:ext cx="2560320" cy="656844"/>
          </a:xfrm>
          <a:prstGeom prst="rect">
            <a:avLst/>
          </a:prstGeom>
          <a:solidFill>
            <a:srgbClr val="FFF8E1"/>
          </a:solidFill>
          <a:ln w="1524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848356"/>
            <a:ext cx="2377440" cy="5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constructor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71800" y="2775204"/>
            <a:ext cx="5852160" cy="656844"/>
          </a:xfrm>
          <a:prstGeom prst="rect">
            <a:avLst/>
          </a:prstGeom>
          <a:solidFill>
            <a:srgbClr val="FFF8E1"/>
          </a:solidFill>
          <a:ln w="1524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090672" y="2848356"/>
            <a:ext cx="5623560" cy="5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ArgumentException — cannot create an invalid student.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634740"/>
            <a:ext cx="2560320" cy="656844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707892"/>
            <a:ext cx="2377440" cy="5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StudentService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71800" y="3634740"/>
            <a:ext cx="5852160" cy="656844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090672" y="3707892"/>
            <a:ext cx="5623560" cy="5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service handles logic, not errors. Let exceptions propagate.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4428744"/>
            <a:ext cx="2560320" cy="534640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4364736"/>
            <a:ext cx="2377440" cy="5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ConsoleStudentPrinter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971800" y="4428744"/>
            <a:ext cx="5852160" cy="534640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090672" y="4364736"/>
            <a:ext cx="5623560" cy="5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printer prints, does not handle errors.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4630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" y="205740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Their Project</a:t>
            </a:r>
            <a:endParaRPr lang="en-US" sz="3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ApiStudentRepository — With Error Handling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Lab-9 version — proper error handling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069848"/>
            <a:ext cx="8503920" cy="397459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051560"/>
            <a:ext cx="8321040" cy="441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async Task LoadFromApi()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Console.WriteLine("  [Repository] Connecting ...");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 dto = await _http.GetFromJsonAsync&lt;ApiFacultyDto&gt;("/api/faculty");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(dto is null) throw new RepositoryException("API returned null.");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_faculty = new Faculty(dto.Name);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foreach (var gDto in dto.Groups)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foreach (var sDto in gDto.Students)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RegisterStudent(MapStudent(sDto));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Console.WriteLine($"  [Repository] Loaded {_studentsById.Count} students.");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 (HttpRequestException ex)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Konvertuojame į mūsų išimtį su kontekstu / wrap with context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RepositoryException("Cannot connect to student API.", ex);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 (JsonException ex)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RepositoryException("Received invalid data from API.", ex);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RepositoryException nekauname — leidžiame kilti aukštyn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RepositoryException not caught — let it propagate to Program.cs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Constructor Validation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762000"/>
            <a:ext cx="8503920" cy="425500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762000"/>
            <a:ext cx="8321040" cy="4718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Models/Student.cs — konstruktorius su validacija / with validation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Student(int id, string firstName, string lastName,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string email, string studyProgram, int enrollmentYear)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Validuojame prieš priskiriant / Validate BEFORE assigning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(id &lt;= 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ArgumentOutOfRangeException(nameof(id), "Id must be positive.");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(string.IsNullOrWhiteSpace(firstName))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ArgumentException("First name cannot be empty.", nameof(firstName));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(string.IsNullOrWhiteSpace(lastName))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ArgumentException("Last name cannot be empty.", nameof(lastName));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(string.IsNullOrWhiteSpace(email))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ArgumentException("Email cannot be empty.", nameof(email));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Tik čia, kai viskas taisyklinga / Only here, when all is correct: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            = id;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FirstName      = firstName;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LastName       = lastName;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         = email;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StudyProgram   = studyProgram;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EnrollmentYear = enrollmentYear;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Panaudojimas / Usage — gaudome kur kuriamas: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 var s = new Student(-1, "", "Smith", ...);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(ArgumentOutOfRangeException ex) { Console.WriteLine(ex.Message); }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 — The Final Boundary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769620"/>
            <a:ext cx="8503920" cy="424738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769620"/>
            <a:ext cx="8321040" cy="4718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Program.cs — vieta kur negalima daugiau kilti / top-level boundary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IStudentRepository repository = useApi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? new ApiStudentRepository(apiUrl)    // ← gali mesti RepositoryException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new MemoryStudentRepository();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 kita konfigūracija / other config 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menu.Run();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(RepositoryException ex)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Console.ForegroundColor = ConsoleColor.Red;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Console.WriteLine($"[ERROR] Repository failed: {ex.Message}");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(ex.InnerException is not null)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Console.WriteLine($"  Caused by: {ex.InnerException.Message}");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Console.ResetColor();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Console.WriteLine("Starting in demo mode with in-memory data...");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Atsarginė logika / Fallback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fallback = new MemoryStudentRepository();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 paleisti iš naujo su fallback / restart with fallback 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(Exception ex)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Console.WriteLine($"[FATAL] Unexpected error: {ex.Message}");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Console.WriteLine("Please restart the application.");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GraduateStudent Validation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7086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validation to the Lab-8 GraduateStudent: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037844"/>
            <a:ext cx="8503920" cy="3991356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110996"/>
            <a:ext cx="8321040" cy="437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GraduateStudent : Student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ThesisTitle { get;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GraduateStudent(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id, string firstName, string lastName,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email, string studyProgram, int year,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thesisTitle)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base(id, firstName, lastName, email, studyProgram, year)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(string.IsNullOrWhiteSpace(thesisTitle))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new ArgumentException(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"Thesis title cannot be empty for graduate students.",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nameof(thesisTitle));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ThesisTitle = thesisTitle;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Testas / Test: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g = new GraduateStudent(1, "Alice", "Smith", "a@uni.lt", "CS", 2023, "");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↑ Mets ArgumentException: "Thesis title cannot be empty for graduate students."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4630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Task — Extending Lab-8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" y="205740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LAB-9</a:t>
            </a:r>
            <a:endParaRPr lang="en-US" sz="3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LAB-9 Task 1 — Constructor Validation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769620"/>
            <a:ext cx="8503920" cy="34747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80619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Add validation: Student.cs, GraduateStudent.cs and Exceptions/RepositoryException.cs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171956"/>
            <a:ext cx="8503920" cy="1136904"/>
          </a:xfrm>
          <a:prstGeom prst="rect">
            <a:avLst/>
          </a:prstGeom>
          <a:solidFill>
            <a:srgbClr val="E3F2FD"/>
          </a:solidFill>
          <a:ln w="1905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226820"/>
            <a:ext cx="502920" cy="10370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1272540"/>
            <a:ext cx="7589520" cy="3072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Student.cs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674876"/>
            <a:ext cx="7589520" cy="652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ArgumentException when id ≤ 0, firstName empty, lastName empty, email empty.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476233"/>
            <a:ext cx="8503920" cy="1136904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531097"/>
            <a:ext cx="502920" cy="10370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2576817"/>
            <a:ext cx="7589520" cy="3072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GraduateStudent.cs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979153"/>
            <a:ext cx="7589520" cy="652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ArgumentException when thesisTitle is empty.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3780510"/>
            <a:ext cx="8503920" cy="1136904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835374"/>
            <a:ext cx="502920" cy="10370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3881094"/>
            <a:ext cx="7589520" cy="3072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Exceptions/RepositoryException.cs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283430"/>
            <a:ext cx="7589520" cy="652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file with RepositoryException : Exception (two constructors: string, string+Exception).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LAB-9 Task 2 + BONUS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762000"/>
            <a:ext cx="850392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7985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Error handling in ApiStudentRepository and Program.cs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164336"/>
            <a:ext cx="8503920" cy="1144524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219200"/>
            <a:ext cx="502920" cy="1043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1264920"/>
            <a:ext cx="7589520" cy="309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ApiStudentRepository.cs — LoadFromApi()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667256"/>
            <a:ext cx="7589520" cy="65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API call in try/catch. HttpRequestException → throw RepositoryException("...", ex). JsonException → throw RepositoryException("...", ex).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482596"/>
            <a:ext cx="8503920" cy="1144524"/>
          </a:xfrm>
          <a:prstGeom prst="rect">
            <a:avLst/>
          </a:prstGeom>
          <a:solidFill>
            <a:srgbClr val="FFF8E1"/>
          </a:solidFill>
          <a:ln w="190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537460"/>
            <a:ext cx="502920" cy="1043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2583180"/>
            <a:ext cx="7589520" cy="309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 — error catching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985516"/>
            <a:ext cx="7589520" cy="65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repository creation in try/catch. If RepositoryException — display error and fall back to MemoryStudentRepository.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3800856"/>
            <a:ext cx="8503920" cy="1144524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855720"/>
            <a:ext cx="502920" cy="1043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901440"/>
            <a:ext cx="7589520" cy="309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— GraduateStudent seed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303776"/>
            <a:ext cx="7589520" cy="65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MemoryStudentRepository seed, add 1-2 GraduateStudent with thesisTitle. Try creating one with empty thesisTitle — must throw.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BEFORE and AFTER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845820"/>
            <a:ext cx="3977640" cy="4087368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0068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(Lab-8)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26644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ApiStudentRepository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2364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crashes with stack trace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18084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Stack trace visible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63804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No recovery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09524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258693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715893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no catching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173093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Program stops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845820"/>
            <a:ext cx="4251960" cy="4087368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81728" y="90068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(Lab-9)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126644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ApiStudentRepository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09160" y="165963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try/catch HttpRequestException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09160" y="20528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throw RepositoryException(...)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09160" y="24460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09160" y="238887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Exceptions/RepositoryException.cs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09160" y="278206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custom exception class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09160" y="317525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81728" y="3258693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681728" y="3651885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catch (RepositoryException)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681728" y="4045077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Shows friendly message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681728" y="4438269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Falls back to demo mode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What's Next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84582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learned: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175004"/>
            <a:ext cx="8503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try/catch/finally — the core error handling mechanism
✅  Specific exceptions BEFORE generic — order matters in catch
✅  throw vs throw; — preserving the stack trace
✅  Custom exception class — RepositoryException : Exception
✅  Constructor validation — the "fail fast" principle
✅  Program.cs as the final boundary — user-friendly message
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3749040"/>
            <a:ext cx="8503920" cy="109728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80390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Week 10: File I/O and JSON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1696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learn to write / read student data from JSON files — data persists between runs!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3763</Words>
  <Application>Microsoft Macintosh PowerPoint</Application>
  <PresentationFormat>On-screen Show (16:9)</PresentationFormat>
  <Paragraphs>505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Tadas Bulis</cp:lastModifiedBy>
  <cp:revision>6</cp:revision>
  <dcterms:created xsi:type="dcterms:W3CDTF">2026-04-14T21:57:06Z</dcterms:created>
  <dcterms:modified xsi:type="dcterms:W3CDTF">2026-04-29T19:51:28Z</dcterms:modified>
</cp:coreProperties>
</file>