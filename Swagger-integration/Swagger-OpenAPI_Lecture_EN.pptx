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f31bef8-bcb7-f775-0314-b00b3cb6efc6}">
          <p14:sldIdLst>
            <p14:sldId id="256"/>
            <p14:sldId id="257"/>
            <p14:sldId id="258"/>
            <p14:sldId id="259"/>
            <p14:sldId id="260"/>
          </p14:sldIdLst>
        </p14:section>
        <p14:section name="API" id="{5b696701-c767-bf90-d747-699f768e5e09}">
          <p14:sldIdLst>
            <p14:sldId id="261"/>
            <p14:sldId id="262"/>
            <p14:sldId id="263"/>
          </p14:sldIdLst>
        </p14:section>
        <p14:section name="Swagger UI" id="{3d43c46e-153d-85fd-0623-a147e4e84d03}">
          <p14:sldIdLst>
            <p14:sldId id="264"/>
            <p14:sldId id="265"/>
            <p14:sldId id="266"/>
            <p14:sldId id="267"/>
          </p14:sldIdLst>
        </p14:section>
        <p14:section name="Frontend" id="{de5c0d35-34ca-839a-9673-5d6659867d48}">
          <p14:sldIdLst>
            <p14:sldId id="268"/>
            <p14:sldId id="269"/>
            <p14:sldId id="270"/>
            <p14:sldId id="271"/>
            <p14:sldId id="272"/>
          </p14:sldIdLst>
        </p14:section>
        <p14:section name="Practice" id="{41dbcbb1-b611-fdb8-facb-077d40118a04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leave able to add Swagger to a .NET Minimal API, use Swagger UI to test it, and call the API from the frontend through a client generated from the OpenAPI contract. Both lab projects in code-examples are already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Blocks 1–4 are the tools; block 5 is what they do in the lab and what goes into their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heterogeneous system the parts are written by different teams in different languages. The API contract is what lets them agree without reading each other's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confusion: 'Swagger' is not a .NET thing. The same swagger.json could come from a Java, Python or Node backend — the frontend would not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new paths: (1) the browser can open Swagger UI on the API directly through the host port; (2) at design time NSwag reads swagger.json and writes the client class that is compiled into the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Program.cs in the lab, show the four lines, run, open /swagger. AddEndpointsApiExplorer is needed for Minimal APIs (controllers get it automatically).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WithName: the operationId becomes the method name in every generated client, so name it like a C#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GenerateDocumentationFile the XML file does not exist and IncludeXmlComments fails at startup — a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it live. Click the swagger.json link to show it is just JSON — this file is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send valid data and show 201 Created with the new id. Copy the curl command into a terminal to show it is the same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would have saved you time in a previous project?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Docker networking lesson as before, now with a visible consequence: a Swagger link pointing to simplestudentapi:8080 would not open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C is what most modern frontends do. The idea is identical: the OpenAPI file drives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generated file is committed to the repository, so the frontend builds without the API running. Regenerate only when the API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BaseAddress decides which API the client talks to: simplestudentapi:8080 in Docker, localhost:6001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form with year 1990 (browser validation switched off): the message comes from the API, not from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live if time allows: rename a property, regenerate, show the compile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hint: students.MapGet("/search", (string program, AppDbContext db) =&gt; …).WithName("SearchStudents"). The query parameter appears in Swagger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standards lecture. The OpenAPI file is concrete evidence for the interoperability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 Point to the guide in 02-Dalomoji-medziaga and the READMEs in both lab folders.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640080" y="2011680"/>
            <a:ext cx="8412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solidFill>
          <a:srgbClr val="12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1554480"/>
            <a:ext cx="9692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D2C5"/>
                </a:solidFill>
              </a:rPr>
              <a:t>kauno kolegija   |   Heterogeneous systems  ·  PSe-5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D2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C"/>
                </a:solidFill>
              </a:rPr>
              <a:t>kauno kolegija   |   Heterogeneous systems  ·  PSe-5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D2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kauno kolegija | Faculty of Technologies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64008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Swagger / OpenAPI in a .NET API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Documenting, testing and consuming SimpleStudentApi</a:t>
            </a:r>
            <a:endParaRPr lang="en-US" sz="1600" dirty="0"/>
          </a:p>
        </p:txBody>
      </p:sp>
      <p:sp>
        <p:nvSpPr>
          <p:cNvPr id="5" name="chip-0"/>
          <p:cNvSpPr/>
          <p:nvPr/>
        </p:nvSpPr>
        <p:spPr>
          <a:xfrm>
            <a:off x="640080" y="4005072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005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Group PSe-5</a:t>
            </a:r>
            <a:endParaRPr lang="en-US" sz="1100" dirty="0"/>
          </a:p>
        </p:txBody>
      </p:sp>
      <p:sp>
        <p:nvSpPr>
          <p:cNvPr id="7" name="chip-1"/>
          <p:cNvSpPr/>
          <p:nvPr/>
        </p:nvSpPr>
        <p:spPr>
          <a:xfrm>
            <a:off x="2057400" y="4005072"/>
            <a:ext cx="123444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57400" y="4005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Autumn 2026</a:t>
            </a:r>
            <a:endParaRPr lang="en-US" sz="1100" dirty="0"/>
          </a:p>
        </p:txBody>
      </p:sp>
      <p:sp>
        <p:nvSpPr>
          <p:cNvPr id="9" name="chip-2"/>
          <p:cNvSpPr/>
          <p:nvPr/>
        </p:nvSpPr>
        <p:spPr>
          <a:xfrm>
            <a:off x="3474720" y="4005072"/>
            <a:ext cx="187452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40050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Lecture + practice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Lecturer: Tadas Bulis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cover today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Five blocks — the last one is your practice</a:t>
            </a:r>
            <a:endParaRPr lang="en-US" sz="1300" dirty="0"/>
          </a:p>
        </p:txBody>
      </p:sp>
      <p:sp>
        <p:nvSpPr>
          <p:cNvPr id="5" name="row-1"/>
          <p:cNvSpPr/>
          <p:nvPr/>
        </p:nvSpPr>
        <p:spPr>
          <a:xfrm>
            <a:off x="640080" y="1810512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41248" y="1993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83664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What Swagger and OpenAPI are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Terms, and why an API needs a contract</a:t>
            </a:r>
            <a:endParaRPr lang="en-US" sz="1500" dirty="0"/>
          </a:p>
        </p:txBody>
      </p:sp>
      <p:sp>
        <p:nvSpPr>
          <p:cNvPr id="9" name="row-2"/>
          <p:cNvSpPr/>
          <p:nvPr/>
        </p:nvSpPr>
        <p:spPr>
          <a:xfrm>
            <a:off x="640080" y="2706624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841248" y="28895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79776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Adding Swagger to the API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One package, four lines of setup, then describing endpoints</a:t>
            </a:r>
            <a:endParaRPr lang="en-US" sz="1500" dirty="0"/>
          </a:p>
        </p:txBody>
      </p:sp>
      <p:sp>
        <p:nvSpPr>
          <p:cNvPr id="13" name="row-3"/>
          <p:cNvSpPr/>
          <p:nvPr/>
        </p:nvSpPr>
        <p:spPr>
          <a:xfrm>
            <a:off x="640080" y="3602736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-3"/>
          <p:cNvSpPr/>
          <p:nvPr/>
        </p:nvSpPr>
        <p:spPr>
          <a:xfrm>
            <a:off x="841248" y="3785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75888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Working in Swagger UI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Read, try out, see errors, copy curl</a:t>
            </a:r>
            <a:endParaRPr lang="en-US" sz="1500" dirty="0"/>
          </a:p>
        </p:txBody>
      </p:sp>
      <p:sp>
        <p:nvSpPr>
          <p:cNvPr id="17" name="row-4"/>
          <p:cNvSpPr/>
          <p:nvPr/>
        </p:nvSpPr>
        <p:spPr>
          <a:xfrm>
            <a:off x="640080" y="4498848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-4"/>
          <p:cNvSpPr/>
          <p:nvPr/>
        </p:nvSpPr>
        <p:spPr>
          <a:xfrm>
            <a:off x="841248" y="46817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72000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Using the contract in the frontend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A generated typed client instead of hand-written HTTP calls</a:t>
            </a:r>
            <a:endParaRPr lang="en-US" sz="1500" dirty="0"/>
          </a:p>
        </p:txBody>
      </p:sp>
      <p:sp>
        <p:nvSpPr>
          <p:cNvPr id="21" name="row-5"/>
          <p:cNvSpPr/>
          <p:nvPr/>
        </p:nvSpPr>
        <p:spPr>
          <a:xfrm>
            <a:off x="640080" y="5394960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badge-5"/>
          <p:cNvSpPr/>
          <p:nvPr/>
        </p:nvSpPr>
        <p:spPr>
          <a:xfrm>
            <a:off x="841248" y="5577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468112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Practice and your documentation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Lab tasks, and where OpenAPI fits in the project documentation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THE IDEA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155448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OpenAPI is the contract between the backend and everyone who calls it: one machine-readable file that people read, tools test, and generators turn into client code.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LT: OpenAPI – API kontraktas  ·  Swagger UI – interaktyvi jo peržiūra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D2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TERMS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names you will hear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They are often mixed up — here is who is who</a:t>
            </a:r>
            <a:endParaRPr lang="en-US" sz="1300" dirty="0"/>
          </a:p>
        </p:txBody>
      </p:sp>
      <p:sp>
        <p:nvSpPr>
          <p:cNvPr id="5" name="card-0"/>
          <p:cNvSpPr/>
          <p:nvPr/>
        </p:nvSpPr>
        <p:spPr>
          <a:xfrm>
            <a:off x="640080" y="1828800"/>
            <a:ext cx="5295748" cy="19202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badge-1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029968"/>
            <a:ext cx="43813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OpenAPI Specification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standard (OAS 3.x) for describing HTTP APIs in JSON or YAML: paths, parameters, request bodies, responses, schemas. Vendor-neutral, maintained under the Linux Foundation.</a:t>
            </a:r>
            <a:endParaRPr lang="en-US" sz="1300" dirty="0"/>
          </a:p>
        </p:txBody>
      </p:sp>
      <p:sp>
        <p:nvSpPr>
          <p:cNvPr id="10" name="card-1"/>
          <p:cNvSpPr/>
          <p:nvPr/>
        </p:nvSpPr>
        <p:spPr>
          <a:xfrm>
            <a:off x="6255868" y="1828800"/>
            <a:ext cx="5295748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adge-2"/>
          <p:cNvSpPr/>
          <p:nvPr/>
        </p:nvSpPr>
        <p:spPr>
          <a:xfrm>
            <a:off x="6484468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8446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05676" y="2029968"/>
            <a:ext cx="43813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Swagger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2606040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original name of the specification (until 2015) and today SmartBear's family of tools around it. Swagger UI is the web page that renders an OpenAPI file.</a:t>
            </a:r>
            <a:endParaRPr lang="en-US" sz="1300" dirty="0"/>
          </a:p>
        </p:txBody>
      </p:sp>
      <p:sp>
        <p:nvSpPr>
          <p:cNvPr id="15" name="card-2"/>
          <p:cNvSpPr/>
          <p:nvPr/>
        </p:nvSpPr>
        <p:spPr>
          <a:xfrm>
            <a:off x="640080" y="4023360"/>
            <a:ext cx="5295748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badge-3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224528"/>
            <a:ext cx="43813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Swashbuckle.AspNetCore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00600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NuGet package we use in the API: it reads our .NET endpoints, generates swagger.json and hosts Swagger UI at /swagger.</a:t>
            </a:r>
            <a:endParaRPr lang="en-US" sz="1300" dirty="0"/>
          </a:p>
        </p:txBody>
      </p:sp>
      <p:sp>
        <p:nvSpPr>
          <p:cNvPr id="20" name="card-3"/>
          <p:cNvSpPr/>
          <p:nvPr/>
        </p:nvSpPr>
        <p:spPr>
          <a:xfrm>
            <a:off x="6255868" y="4023360"/>
            <a:ext cx="5295748" cy="19202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badge-4"/>
          <p:cNvSpPr/>
          <p:nvPr/>
        </p:nvSpPr>
        <p:spPr>
          <a:xfrm>
            <a:off x="6484468" y="4251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8446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05676" y="4224528"/>
            <a:ext cx="43813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NSwag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84468" y="4800600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generator that reads swagger.json and writes a typed C# (or TypeScript) client. We use it in the frontend.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WHERE IT FITS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Swagger in our Docker lab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Same containers as before — two new paths</a:t>
            </a:r>
            <a:endParaRPr lang="en-US" sz="1300" dirty="0"/>
          </a:p>
        </p:txBody>
      </p:sp>
      <p:sp>
        <p:nvSpPr>
          <p:cNvPr id="5" name="browser"/>
          <p:cNvSpPr/>
          <p:nvPr/>
        </p:nvSpPr>
        <p:spPr>
          <a:xfrm>
            <a:off x="640080" y="210312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8F4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you, a student</a:t>
            </a:r>
            <a:endParaRPr lang="en-US" sz="1500" dirty="0"/>
          </a:p>
        </p:txBody>
      </p:sp>
      <p:sp>
        <p:nvSpPr>
          <p:cNvPr id="7" name="frontend"/>
          <p:cNvSpPr/>
          <p:nvPr/>
        </p:nvSpPr>
        <p:spPr>
          <a:xfrm>
            <a:off x="347472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6E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  :6011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Razor Pages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uses IStudentApiClient</a:t>
            </a:r>
            <a:endParaRPr lang="en-US" sz="1500" dirty="0"/>
          </a:p>
        </p:txBody>
      </p:sp>
      <p:sp>
        <p:nvSpPr>
          <p:cNvPr id="9" name="api"/>
          <p:cNvSpPr/>
          <p:nvPr/>
        </p:nvSpPr>
        <p:spPr>
          <a:xfrm>
            <a:off x="685800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43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API  :6001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Minimal API + EF Core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Swashbuckle → /swagger</a:t>
            </a:r>
            <a:endParaRPr lang="en-US" sz="1500" dirty="0"/>
          </a:p>
        </p:txBody>
      </p:sp>
      <p:sp>
        <p:nvSpPr>
          <p:cNvPr id="11" name="sql"/>
          <p:cNvSpPr/>
          <p:nvPr/>
        </p:nvSpPr>
        <p:spPr>
          <a:xfrm>
            <a:off x="10241280" y="2103120"/>
            <a:ext cx="1307592" cy="1371600"/>
          </a:xfrm>
          <a:prstGeom prst="roundRect">
            <a:avLst>
              <a:gd name="adj" fmla="val 5594"/>
            </a:avLst>
          </a:prstGeom>
          <a:solidFill>
            <a:srgbClr val="E8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378440" y="2194560"/>
            <a:ext cx="1033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SQL Server  :1433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StudentDb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0" y="2834640"/>
            <a:ext cx="731520" cy="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14600" y="1792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HTML pages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731520" cy="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897880" y="1792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HTTP + 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834640"/>
            <a:ext cx="731520" cy="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9281160" y="1792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EF 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3474720"/>
            <a:ext cx="0" cy="59436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4069080"/>
            <a:ext cx="5897880" cy="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589520" y="3474720"/>
            <a:ext cx="0" cy="594360"/>
          </a:xfrm>
          <a:prstGeom prst="line">
            <a:avLst/>
          </a:prstGeom>
          <a:noFill/>
          <a:ln w="22225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920240" y="3776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your browser → localhost:6001/swagger  (try the API directly)</a:t>
            </a:r>
            <a:endParaRPr lang="en-US" sz="1100" dirty="0"/>
          </a:p>
        </p:txBody>
      </p:sp>
      <p:sp>
        <p:nvSpPr>
          <p:cNvPr id="23" name="swagger-json"/>
          <p:cNvSpPr/>
          <p:nvPr/>
        </p:nvSpPr>
        <p:spPr>
          <a:xfrm>
            <a:off x="6858000" y="4800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349C8D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85800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swagger.json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contract</a:t>
            </a:r>
            <a:endParaRPr lang="en-US" sz="1300" dirty="0"/>
          </a:p>
        </p:txBody>
      </p:sp>
      <p:sp>
        <p:nvSpPr>
          <p:cNvPr id="25" name="generated-client"/>
          <p:cNvSpPr/>
          <p:nvPr/>
        </p:nvSpPr>
        <p:spPr>
          <a:xfrm>
            <a:off x="3474720" y="4800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349C8D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474720" y="4800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StudentApiClient.g.cs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generated C# client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3474720"/>
            <a:ext cx="0" cy="1325880"/>
          </a:xfrm>
          <a:prstGeom prst="line">
            <a:avLst/>
          </a:prstGeom>
          <a:noFill/>
          <a:ln w="22225">
            <a:solidFill>
              <a:srgbClr val="349C8D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86968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/swagger/v1/swagger.json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6126480" y="5189220"/>
            <a:ext cx="731520" cy="0"/>
          </a:xfrm>
          <a:prstGeom prst="line">
            <a:avLst/>
          </a:prstGeom>
          <a:noFill/>
          <a:ln w="22225">
            <a:solidFill>
              <a:srgbClr val="349C8D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474720" y="56509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NSwag generates (design time)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V="1">
            <a:off x="4800600" y="4178808"/>
            <a:ext cx="0" cy="621792"/>
          </a:xfrm>
          <a:prstGeom prst="line">
            <a:avLst/>
          </a:prstGeom>
          <a:noFill/>
          <a:ln w="22225">
            <a:solidFill>
              <a:srgbClr val="349C8D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89204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compiled into the frontend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STEP BY STEP — API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Adding Swagger: 1 package, 4 lines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SimpleStudentApi/Program.cs</a:t>
            </a:r>
            <a:endParaRPr lang="en-US" sz="1300" dirty="0"/>
          </a:p>
        </p:txBody>
      </p:sp>
      <p:sp>
        <p:nvSpPr>
          <p:cNvPr id="5" name="row-1"/>
          <p:cNvSpPr/>
          <p:nvPr/>
        </p:nvSpPr>
        <p:spPr>
          <a:xfrm>
            <a:off x="640080" y="1828800"/>
            <a:ext cx="457200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0195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Install the package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Swashbuckle.AspNetCore from NuGet</a:t>
            </a:r>
            <a:endParaRPr lang="en-US" sz="1400" dirty="0"/>
          </a:p>
        </p:txBody>
      </p:sp>
      <p:sp>
        <p:nvSpPr>
          <p:cNvPr id="9" name="row-2"/>
          <p:cNvSpPr/>
          <p:nvPr/>
        </p:nvSpPr>
        <p:spPr>
          <a:xfrm>
            <a:off x="640080" y="2724912"/>
            <a:ext cx="457200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841248" y="29077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980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Register the generator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AddEndpointsApiExplorer + AddSwaggerGen</a:t>
            </a:r>
            <a:endParaRPr lang="en-US" sz="1400" dirty="0"/>
          </a:p>
        </p:txBody>
      </p:sp>
      <p:sp>
        <p:nvSpPr>
          <p:cNvPr id="13" name="row-3"/>
          <p:cNvSpPr/>
          <p:nvPr/>
        </p:nvSpPr>
        <p:spPr>
          <a:xfrm>
            <a:off x="640080" y="3621024"/>
            <a:ext cx="457200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-3"/>
          <p:cNvSpPr/>
          <p:nvPr/>
        </p:nvSpPr>
        <p:spPr>
          <a:xfrm>
            <a:off x="841248" y="38039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9417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Serve the JSON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app.UseSwagger() → /swagger/v1/swagger.json</a:t>
            </a:r>
            <a:endParaRPr lang="en-US" sz="1400" dirty="0"/>
          </a:p>
        </p:txBody>
      </p:sp>
      <p:sp>
        <p:nvSpPr>
          <p:cNvPr id="17" name="row-4"/>
          <p:cNvSpPr/>
          <p:nvPr/>
        </p:nvSpPr>
        <p:spPr>
          <a:xfrm>
            <a:off x="640080" y="4517136"/>
            <a:ext cx="457200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-4"/>
          <p:cNvSpPr/>
          <p:nvPr/>
        </p:nvSpPr>
        <p:spPr>
          <a:xfrm>
            <a:off x="841248" y="47000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902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Serve the UI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app.UseSwaggerUI() → /swagger</a:t>
            </a:r>
            <a:endParaRPr lang="en-US" sz="1400" dirty="0"/>
          </a:p>
        </p:txBody>
      </p:sp>
      <p:sp>
        <p:nvSpPr>
          <p:cNvPr id="21" name="cmd"/>
          <p:cNvSpPr/>
          <p:nvPr/>
        </p:nvSpPr>
        <p:spPr>
          <a:xfrm>
            <a:off x="640080" y="548640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0F2F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86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Swashbuckle.AspNetCore</a:t>
            </a:r>
            <a:endParaRPr lang="en-US" sz="1100" dirty="0"/>
          </a:p>
        </p:txBody>
      </p:sp>
      <p:sp>
        <p:nvSpPr>
          <p:cNvPr id="23" name="code"/>
          <p:cNvSpPr/>
          <p:nvPr/>
        </p:nvSpPr>
        <p:spPr>
          <a:xfrm>
            <a:off x="5532120" y="1828800"/>
            <a:ext cx="6016752" cy="4041648"/>
          </a:xfrm>
          <a:prstGeom prst="roundRect">
            <a:avLst>
              <a:gd name="adj" fmla="val 1810"/>
            </a:avLst>
          </a:prstGeom>
          <a:solidFill>
            <a:srgbClr val="0F2F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60720" y="1993392"/>
            <a:ext cx="5559552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SimpleStudentApi.csproj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&lt;PackageReference Include="Swashbuckle.AspNetCore"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Version="10.2.3"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builder.Services.AddEndpointsApiExplorer();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builder.Services.AddSwaggerGen(o =&gt;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o.SwaggerDoc("v1", new OpenApiInfo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Title = "SimpleStudentApi", Version = "v1"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app.UseSwagger();     </a:t>
            </a:r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/swagger/v1/swagger.json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app.UseSwaggerUI();   </a:t>
            </a:r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/swagger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DESCRIBING ENDPOINTS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Metadata turns code into documentation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Each call only adds information to swagger.json — runtime behaviour does not change</a:t>
            </a:r>
            <a:endParaRPr lang="en-US" sz="1300" dirty="0"/>
          </a:p>
        </p:txBody>
      </p:sp>
      <p:sp>
        <p:nvSpPr>
          <p:cNvPr id="5" name="code"/>
          <p:cNvSpPr/>
          <p:nvPr/>
        </p:nvSpPr>
        <p:spPr>
          <a:xfrm>
            <a:off x="640080" y="182880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0F2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493776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handler: validate → save → 201 Created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students.MapPost("/", CreateStudent)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.WithName("CreateStudent")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.WithTags("Students")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.WithSummary("Create a new student")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.WithDescription("The id is ignored 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.Produces&lt;Student&gt;(201)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.ProducesValidationProblem();   </a:t>
            </a:r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students.MapGet("/{id:int}", GetStudent)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.WithName("GetStudent")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.Produces&lt;Student&gt;(200)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.Produces(404);</a:t>
            </a:r>
            <a:endParaRPr lang="en-US" sz="1200" dirty="0"/>
          </a:p>
        </p:txBody>
      </p:sp>
      <p:graphicFrame>
        <p:nvGraphicFramePr>
          <p:cNvPr id="8" name="meta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23951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5420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Code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Appears in Swagger as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.WithName("CreateStudent")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operationId → method CreateStudentAsync() in the generated client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.WithTags("Students")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group heading "Students"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.WithSummary / .WithDescription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text next to and under the endpoint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.Produces&lt;Student&gt;(201)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response code + JSON schema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.ProducesValidationProblem()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400 response with field errors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.ExcludeFromDescription()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hides an endpoint (our "/" redirect)</a:t>
                      </a:r>
                      <a:endParaRPr lang="en-US" sz="11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MODELS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Comments become examples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/// &lt;summary&gt; and &lt;example&gt; on the model → schema and example value in Swagger UI</a:t>
            </a:r>
            <a:endParaRPr lang="en-US" sz="1300" dirty="0"/>
          </a:p>
        </p:txBody>
      </p:sp>
      <p:sp>
        <p:nvSpPr>
          <p:cNvPr id="5" name="code"/>
          <p:cNvSpPr/>
          <p:nvPr/>
        </p:nvSpPr>
        <p:spPr>
          <a:xfrm>
            <a:off x="640080" y="182880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0F2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480060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SimpleStudentApi.csproj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&lt;GenerateDocumentationFile&gt;true&lt;/GenerateDocumentationFile&gt;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→ inside AddSwaggerGen(o =&gt;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o.IncludeXmlComments(xmlFile);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Models/Student.cs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&lt;summary&gt;A student (table Students)&lt;/summary&gt;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&lt;example&gt;Jonas&lt;/example&gt;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FirstName { get; set; } = "";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&lt;example&gt;2024&lt;/example&gt;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EnrollmentYear { get; set;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wagger-post-example-frame"/>
          <p:cNvSpPr/>
          <p:nvPr/>
        </p:nvSpPr>
        <p:spPr>
          <a:xfrm>
            <a:off x="6144768" y="1828800"/>
            <a:ext cx="5404104" cy="2028753"/>
          </a:xfrm>
          <a:prstGeom prst="rect">
            <a:avLst/>
          </a:prstGeom>
          <a:solidFill>
            <a:schemeClr val="bg1"/>
          </a:solidFill>
          <a:ln w="12700">
            <a:solidFill>
              <a:srgbClr val="D5E6E1"/>
            </a:solidFill>
            <a:prstDash val="solid"/>
          </a:ln>
        </p:spPr>
      </p:sp>
      <p:pic>
        <p:nvPicPr>
          <p:cNvPr id="8" name="swagger-post-example" descr="swagger-post-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56232"/>
            <a:ext cx="5349240" cy="197388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72200" y="3939849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Result: description and an example request body in Swagger UI</a:t>
            </a:r>
            <a:endParaRPr lang="en-US" sz="1100" dirty="0"/>
          </a:p>
        </p:txBody>
      </p:sp>
      <p:sp>
        <p:nvSpPr>
          <p:cNvPr id="10" name="tip"/>
          <p:cNvSpPr/>
          <p:nvPr/>
        </p:nvSpPr>
        <p:spPr>
          <a:xfrm>
            <a:off x="6172200" y="4617720"/>
            <a:ext cx="5349240" cy="9601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tip-badge"/>
          <p:cNvSpPr/>
          <p:nvPr/>
        </p:nvSpPr>
        <p:spPr>
          <a:xfrm>
            <a:off x="6373368" y="4901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73368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46177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Common mistake: IncludeXmlComments without GenerateDocumentationFile — the XML file does not exist and the API fails at startup.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SWAGGER UI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http://localhost:6001/swagger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endpoint, grouped by tag, colour-coded by HTTP method</a:t>
            </a:r>
            <a:endParaRPr lang="en-US" sz="1300" dirty="0"/>
          </a:p>
        </p:txBody>
      </p:sp>
      <p:sp>
        <p:nvSpPr>
          <p:cNvPr id="5" name="swagger-ui-overview-frame"/>
          <p:cNvSpPr/>
          <p:nvPr/>
        </p:nvSpPr>
        <p:spPr>
          <a:xfrm>
            <a:off x="612648" y="1801368"/>
            <a:ext cx="6741414" cy="4169664"/>
          </a:xfrm>
          <a:prstGeom prst="rect">
            <a:avLst/>
          </a:prstGeom>
          <a:solidFill>
            <a:schemeClr val="bg1"/>
          </a:solidFill>
          <a:ln w="12700">
            <a:solidFill>
              <a:srgbClr val="D5E6E1"/>
            </a:solidFill>
            <a:prstDash val="solid"/>
          </a:ln>
        </p:spPr>
      </p:sp>
      <p:pic>
        <p:nvPicPr>
          <p:cNvPr id="6" name="swagger-ui-overview" descr="swagger-ui-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686550" cy="4114800"/>
          </a:xfrm>
          <a:prstGeom prst="rect">
            <a:avLst/>
          </a:prstGeom>
        </p:spPr>
      </p:pic>
      <p:sp>
        <p:nvSpPr>
          <p:cNvPr id="7" name="callout-0"/>
          <p:cNvSpPr/>
          <p:nvPr/>
        </p:nvSpPr>
        <p:spPr>
          <a:xfrm>
            <a:off x="7692390" y="1828800"/>
            <a:ext cx="3859225" cy="9144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75270" y="1828800"/>
            <a:ext cx="3493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Tags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group endpoints (WithTags)</a:t>
            </a:r>
            <a:endParaRPr lang="en-US" sz="1400" dirty="0"/>
          </a:p>
        </p:txBody>
      </p:sp>
      <p:sp>
        <p:nvSpPr>
          <p:cNvPr id="9" name="callout-1"/>
          <p:cNvSpPr/>
          <p:nvPr/>
        </p:nvSpPr>
        <p:spPr>
          <a:xfrm>
            <a:off x="7692390" y="2880360"/>
            <a:ext cx="385922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75270" y="2880360"/>
            <a:ext cx="3493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Colours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GET blue · POST green · PUT orange · DELETE red</a:t>
            </a:r>
            <a:endParaRPr lang="en-US" sz="1400" dirty="0"/>
          </a:p>
        </p:txBody>
      </p:sp>
      <p:sp>
        <p:nvSpPr>
          <p:cNvPr id="11" name="callout-2"/>
          <p:cNvSpPr/>
          <p:nvPr/>
        </p:nvSpPr>
        <p:spPr>
          <a:xfrm>
            <a:off x="7692390" y="3931920"/>
            <a:ext cx="3859225" cy="9144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75270" y="3931920"/>
            <a:ext cx="3493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Contract link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/swagger/v1/swagger.json — the raw OpenAPI file</a:t>
            </a:r>
            <a:endParaRPr lang="en-US" sz="1400" dirty="0"/>
          </a:p>
        </p:txBody>
      </p:sp>
      <p:sp>
        <p:nvSpPr>
          <p:cNvPr id="13" name="callout-3"/>
          <p:cNvSpPr/>
          <p:nvPr/>
        </p:nvSpPr>
        <p:spPr>
          <a:xfrm>
            <a:off x="7692390" y="4983480"/>
            <a:ext cx="3859225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75270" y="4983480"/>
            <a:ext cx="3493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Schemas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every request and response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TRY IT 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 the API without writing a client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Expand → Try it out → edit the body → Execute</a:t>
            </a:r>
            <a:endParaRPr lang="en-US" sz="1300" dirty="0"/>
          </a:p>
        </p:txBody>
      </p:sp>
      <p:sp>
        <p:nvSpPr>
          <p:cNvPr id="5" name="row-1"/>
          <p:cNvSpPr/>
          <p:nvPr/>
        </p:nvSpPr>
        <p:spPr>
          <a:xfrm>
            <a:off x="640080" y="1828800"/>
            <a:ext cx="420624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41248" y="20025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01952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Expand POST /api/students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description, body schema and responses appear</a:t>
            </a:r>
            <a:endParaRPr lang="en-US" sz="1300" dirty="0"/>
          </a:p>
        </p:txBody>
      </p:sp>
      <p:sp>
        <p:nvSpPr>
          <p:cNvPr id="9" name="row-2"/>
          <p:cNvSpPr/>
          <p:nvPr/>
        </p:nvSpPr>
        <p:spPr>
          <a:xfrm>
            <a:off x="640080" y="2670048"/>
            <a:ext cx="420624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841248" y="2843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4320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Click "Try it out"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the example body becomes editable</a:t>
            </a:r>
            <a:endParaRPr lang="en-US" sz="1300" dirty="0"/>
          </a:p>
        </p:txBody>
      </p:sp>
      <p:sp>
        <p:nvSpPr>
          <p:cNvPr id="13" name="row-3"/>
          <p:cNvSpPr/>
          <p:nvPr/>
        </p:nvSpPr>
        <p:spPr>
          <a:xfrm>
            <a:off x="640080" y="3511296"/>
            <a:ext cx="420624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-3"/>
          <p:cNvSpPr/>
          <p:nvPr/>
        </p:nvSpPr>
        <p:spPr>
          <a:xfrm>
            <a:off x="841248" y="36850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8444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Send invalid data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empty first name, year 1990 → Execute</a:t>
            </a:r>
            <a:endParaRPr lang="en-US" sz="1300" dirty="0"/>
          </a:p>
        </p:txBody>
      </p:sp>
      <p:sp>
        <p:nvSpPr>
          <p:cNvPr id="17" name="row-4"/>
          <p:cNvSpPr/>
          <p:nvPr/>
        </p:nvSpPr>
        <p:spPr>
          <a:xfrm>
            <a:off x="640080" y="4352544"/>
            <a:ext cx="420624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-4"/>
          <p:cNvSpPr/>
          <p:nvPr/>
        </p:nvSpPr>
        <p:spPr>
          <a:xfrm>
            <a:off x="841248" y="4526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425696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Read the result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400, field errors, headers and a ready curl command</a:t>
            </a:r>
            <a:endParaRPr lang="en-US" sz="1300" dirty="0"/>
          </a:p>
        </p:txBody>
      </p:sp>
      <p:sp>
        <p:nvSpPr>
          <p:cNvPr id="21" name="swagger-try-it-out-400-frame"/>
          <p:cNvSpPr/>
          <p:nvPr/>
        </p:nvSpPr>
        <p:spPr>
          <a:xfrm>
            <a:off x="4757623" y="1828800"/>
            <a:ext cx="6821424" cy="3854168"/>
          </a:xfrm>
          <a:prstGeom prst="rect">
            <a:avLst/>
          </a:prstGeom>
          <a:solidFill>
            <a:schemeClr val="bg1"/>
          </a:solidFill>
          <a:ln w="12700">
            <a:solidFill>
              <a:srgbClr val="D5E6E1"/>
            </a:solidFill>
            <a:prstDash val="solid"/>
          </a:ln>
        </p:spPr>
      </p:sp>
      <p:pic>
        <p:nvPicPr>
          <p:cNvPr id="22" name="swagger-try-it-out-400" descr="swagger-try-it-out-4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5055" y="1856232"/>
            <a:ext cx="6766560" cy="3799304"/>
          </a:xfrm>
          <a:prstGeom prst="rect">
            <a:avLst/>
          </a:prstGeom>
        </p:spPr>
      </p:pic>
      <p:sp>
        <p:nvSpPr>
          <p:cNvPr id="23" name="note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57150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Swagger UI sends real requests — what you POST is really saved in SQL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WHAT YOU GET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document, six uses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Why the ten minutes of setup pay off</a:t>
            </a:r>
            <a:endParaRPr lang="en-US" sz="1300" dirty="0"/>
          </a:p>
        </p:txBody>
      </p:sp>
      <p:sp>
        <p:nvSpPr>
          <p:cNvPr id="5" name="use-0"/>
          <p:cNvSpPr/>
          <p:nvPr/>
        </p:nvSpPr>
        <p:spPr>
          <a:xfrm>
            <a:off x="640080" y="1828800"/>
            <a:ext cx="3423818" cy="1874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badge-1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02996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Living documentation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3347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Generated from code, so it is never out of date</a:t>
            </a:r>
            <a:endParaRPr lang="en-US" sz="1300" dirty="0"/>
          </a:p>
        </p:txBody>
      </p:sp>
      <p:sp>
        <p:nvSpPr>
          <p:cNvPr id="10" name="use-1"/>
          <p:cNvSpPr/>
          <p:nvPr/>
        </p:nvSpPr>
        <p:spPr>
          <a:xfrm>
            <a:off x="4383938" y="1828800"/>
            <a:ext cx="3423818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adge-2"/>
          <p:cNvSpPr/>
          <p:nvPr/>
        </p:nvSpPr>
        <p:spPr>
          <a:xfrm>
            <a:off x="4612538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253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33746" y="202996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Manual testing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63347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Try every endpoint in the browser — no Postman needed for the basics</a:t>
            </a:r>
            <a:endParaRPr lang="en-US" sz="1300" dirty="0"/>
          </a:p>
        </p:txBody>
      </p:sp>
      <p:sp>
        <p:nvSpPr>
          <p:cNvPr id="15" name="use-2"/>
          <p:cNvSpPr/>
          <p:nvPr/>
        </p:nvSpPr>
        <p:spPr>
          <a:xfrm>
            <a:off x="8127797" y="1828800"/>
            <a:ext cx="3423818" cy="1874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badge-3"/>
          <p:cNvSpPr/>
          <p:nvPr/>
        </p:nvSpPr>
        <p:spPr>
          <a:xfrm>
            <a:off x="8356397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639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77605" y="202996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Error contract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56397" y="263347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201 / 400 / 404 responses are documented and visible</a:t>
            </a:r>
            <a:endParaRPr lang="en-US" sz="1300" dirty="0"/>
          </a:p>
        </p:txBody>
      </p:sp>
      <p:sp>
        <p:nvSpPr>
          <p:cNvPr id="20" name="use-3"/>
          <p:cNvSpPr/>
          <p:nvPr/>
        </p:nvSpPr>
        <p:spPr>
          <a:xfrm>
            <a:off x="640080" y="3977640"/>
            <a:ext cx="3423818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badge-4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417880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curl and request URL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78231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Copy the exact request into a terminal, a script or a bug report</a:t>
            </a:r>
            <a:endParaRPr lang="en-US" sz="1300" dirty="0"/>
          </a:p>
        </p:txBody>
      </p:sp>
      <p:sp>
        <p:nvSpPr>
          <p:cNvPr id="25" name="use-4"/>
          <p:cNvSpPr/>
          <p:nvPr/>
        </p:nvSpPr>
        <p:spPr>
          <a:xfrm>
            <a:off x="4383938" y="3977640"/>
            <a:ext cx="3423818" cy="1874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badge-5"/>
          <p:cNvSpPr/>
          <p:nvPr/>
        </p:nvSpPr>
        <p:spPr>
          <a:xfrm>
            <a:off x="4612538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1253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33746" y="417880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 generation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78231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NSwag or OpenAPI Generator create C#, TypeScript, Java… clients</a:t>
            </a:r>
            <a:endParaRPr lang="en-US" sz="1300" dirty="0"/>
          </a:p>
        </p:txBody>
      </p:sp>
      <p:sp>
        <p:nvSpPr>
          <p:cNvPr id="30" name="use-5"/>
          <p:cNvSpPr/>
          <p:nvPr/>
        </p:nvSpPr>
        <p:spPr>
          <a:xfrm>
            <a:off x="8127797" y="3977640"/>
            <a:ext cx="3423818" cy="1874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badge-6"/>
          <p:cNvSpPr/>
          <p:nvPr/>
        </p:nvSpPr>
        <p:spPr>
          <a:xfrm>
            <a:off x="8356397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56397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77605" y="4178808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Interface specification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56397" y="4782312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Attach swagger.json to your project documentation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 DOCKER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Two URLs, two audiences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Containers talk by service name; your browser talks through the host port</a:t>
            </a:r>
            <a:endParaRPr lang="en-US" sz="1300" dirty="0"/>
          </a:p>
        </p:txBody>
      </p:sp>
      <p:sp>
        <p:nvSpPr>
          <p:cNvPr id="5" name="head-0"/>
          <p:cNvSpPr/>
          <p:nvPr/>
        </p:nvSpPr>
        <p:spPr>
          <a:xfrm>
            <a:off x="640080" y="1828800"/>
            <a:ext cx="5295748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838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Inside the Docker network</a:t>
            </a:r>
            <a:endParaRPr lang="en-US" sz="1500" dirty="0"/>
          </a:p>
        </p:txBody>
      </p:sp>
      <p:sp>
        <p:nvSpPr>
          <p:cNvPr id="7" name="body-0"/>
          <p:cNvSpPr/>
          <p:nvPr/>
        </p:nvSpPr>
        <p:spPr>
          <a:xfrm>
            <a:off x="640080" y="2331720"/>
            <a:ext cx="5295748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dot-0-0"/>
          <p:cNvSpPr/>
          <p:nvPr/>
        </p:nvSpPr>
        <p:spPr>
          <a:xfrm>
            <a:off x="914400" y="28072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60604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→ API: http://simplestudentapi:8080</a:t>
            </a:r>
            <a:endParaRPr lang="en-US" sz="1400" dirty="0"/>
          </a:p>
        </p:txBody>
      </p:sp>
      <p:sp>
        <p:nvSpPr>
          <p:cNvPr id="10" name="dot-0-1"/>
          <p:cNvSpPr/>
          <p:nvPr/>
        </p:nvSpPr>
        <p:spPr>
          <a:xfrm>
            <a:off x="914400" y="36758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47472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ApiSettings__BaseUrl</a:t>
            </a:r>
            <a:endParaRPr lang="en-US" sz="1300" dirty="0"/>
          </a:p>
        </p:txBody>
      </p:sp>
      <p:sp>
        <p:nvSpPr>
          <p:cNvPr id="12" name="dot-0-2"/>
          <p:cNvSpPr/>
          <p:nvPr/>
        </p:nvSpPr>
        <p:spPr>
          <a:xfrm>
            <a:off x="914400" y="454456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34340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generated client (server side)</a:t>
            </a:r>
            <a:endParaRPr lang="en-US" sz="1300" dirty="0"/>
          </a:p>
        </p:txBody>
      </p:sp>
      <p:sp>
        <p:nvSpPr>
          <p:cNvPr id="14" name="head-1"/>
          <p:cNvSpPr/>
          <p:nvPr/>
        </p:nvSpPr>
        <p:spPr>
          <a:xfrm>
            <a:off x="6255868" y="1828800"/>
            <a:ext cx="5295748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4468" y="1828800"/>
            <a:ext cx="4838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From your computer</a:t>
            </a:r>
            <a:endParaRPr lang="en-US" sz="1500" dirty="0"/>
          </a:p>
        </p:txBody>
      </p:sp>
      <p:sp>
        <p:nvSpPr>
          <p:cNvPr id="16" name="body-1"/>
          <p:cNvSpPr/>
          <p:nvPr/>
        </p:nvSpPr>
        <p:spPr>
          <a:xfrm>
            <a:off x="6255868" y="2331720"/>
            <a:ext cx="5295748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dot-1-0"/>
          <p:cNvSpPr/>
          <p:nvPr/>
        </p:nvSpPr>
        <p:spPr>
          <a:xfrm>
            <a:off x="6530188" y="280720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04508" y="260604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→ API: http://localhost:6001</a:t>
            </a:r>
            <a:endParaRPr lang="en-US" sz="1400" dirty="0"/>
          </a:p>
        </p:txBody>
      </p:sp>
      <p:sp>
        <p:nvSpPr>
          <p:cNvPr id="19" name="dot-1-1"/>
          <p:cNvSpPr/>
          <p:nvPr/>
        </p:nvSpPr>
        <p:spPr>
          <a:xfrm>
            <a:off x="6530188" y="367588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04508" y="347472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ApiSettings__PublicUrl</a:t>
            </a:r>
            <a:endParaRPr lang="en-US" sz="1300" dirty="0"/>
          </a:p>
        </p:txBody>
      </p:sp>
      <p:sp>
        <p:nvSpPr>
          <p:cNvPr id="21" name="dot-1-2"/>
          <p:cNvSpPr/>
          <p:nvPr/>
        </p:nvSpPr>
        <p:spPr>
          <a:xfrm>
            <a:off x="6530188" y="454456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04508" y="4343400"/>
            <a:ext cx="4472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the Swagger link and Swagger UI</a:t>
            </a:r>
            <a:endParaRPr lang="en-US" sz="1300" dirty="0"/>
          </a:p>
        </p:txBody>
      </p:sp>
      <p:sp>
        <p:nvSpPr>
          <p:cNvPr id="23" name="note"/>
          <p:cNvSpPr/>
          <p:nvPr/>
        </p:nvSpPr>
        <p:spPr>
          <a:xfrm>
            <a:off x="640080" y="5532120"/>
            <a:ext cx="10911535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Swagger is enabled in every environment here because the containers run as Production. In a real product: Development only, or behind authentication.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FRONTEND INTEGRATION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ways to call the API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two labs show the first two side by side</a:t>
            </a:r>
            <a:endParaRPr lang="en-US" sz="1300" dirty="0"/>
          </a:p>
        </p:txBody>
      </p:sp>
      <p:sp>
        <p:nvSpPr>
          <p:cNvPr id="5" name="way-0"/>
          <p:cNvSpPr/>
          <p:nvPr/>
        </p:nvSpPr>
        <p:spPr>
          <a:xfrm>
            <a:off x="640080" y="1828800"/>
            <a:ext cx="3423818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A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Hand-written HttpClient</a:t>
            </a:r>
            <a:endParaRPr lang="en-US" sz="1500" dirty="0"/>
          </a:p>
        </p:txBody>
      </p:sp>
      <p:sp>
        <p:nvSpPr>
          <p:cNvPr id="9" name="snippet-0"/>
          <p:cNvSpPr/>
          <p:nvPr/>
        </p:nvSpPr>
        <p:spPr>
          <a:xfrm>
            <a:off x="868680" y="2697480"/>
            <a:ext cx="2966618" cy="685800"/>
          </a:xfrm>
          <a:prstGeom prst="rect">
            <a:avLst/>
          </a:prstGeom>
          <a:solidFill>
            <a:srgbClr val="0F2F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2697480"/>
            <a:ext cx="2728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GetFromJsonAsync&lt;ApiStudentResponse&gt;("/api/getStudent")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simple, no extra tools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5473A"/>
                </a:solidFill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URLs and DTOs typed by hand; typos found at runtime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Lab: …with-additional-endpoint-and-page</a:t>
            </a:r>
            <a:endParaRPr lang="en-US" sz="1100" dirty="0"/>
          </a:p>
        </p:txBody>
      </p:sp>
      <p:sp>
        <p:nvSpPr>
          <p:cNvPr id="13" name="way-1"/>
          <p:cNvSpPr/>
          <p:nvPr/>
        </p:nvSpPr>
        <p:spPr>
          <a:xfrm>
            <a:off x="4383938" y="1828800"/>
            <a:ext cx="3423818" cy="40233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badge-B"/>
          <p:cNvSpPr/>
          <p:nvPr/>
        </p:nvSpPr>
        <p:spPr>
          <a:xfrm>
            <a:off x="4612538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253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33746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Generated typed client (NSwag)</a:t>
            </a:r>
            <a:endParaRPr lang="en-US" sz="1500" dirty="0"/>
          </a:p>
        </p:txBody>
      </p:sp>
      <p:sp>
        <p:nvSpPr>
          <p:cNvPr id="17" name="snippet-1"/>
          <p:cNvSpPr/>
          <p:nvPr/>
        </p:nvSpPr>
        <p:spPr>
          <a:xfrm>
            <a:off x="4612538" y="2697480"/>
            <a:ext cx="2966618" cy="685800"/>
          </a:xfrm>
          <a:prstGeom prst="rect">
            <a:avLst/>
          </a:prstGeom>
          <a:solidFill>
            <a:srgbClr val="0F2F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31410" y="2697480"/>
            <a:ext cx="2728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_api.GetStudentsAsync()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12538" y="356616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methods and models come from swagger.json; the compiler checks the contract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5473A"/>
                </a:solidFill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regenerate after API changes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Lab: …plus-mssql</a:t>
            </a:r>
            <a:endParaRPr lang="en-US" sz="1100" dirty="0"/>
          </a:p>
        </p:txBody>
      </p:sp>
      <p:sp>
        <p:nvSpPr>
          <p:cNvPr id="21" name="way-2"/>
          <p:cNvSpPr/>
          <p:nvPr/>
        </p:nvSpPr>
        <p:spPr>
          <a:xfrm>
            <a:off x="8127797" y="1828800"/>
            <a:ext cx="3423818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badge-C"/>
          <p:cNvSpPr/>
          <p:nvPr/>
        </p:nvSpPr>
        <p:spPr>
          <a:xfrm>
            <a:off x="8356397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5639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77605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JavaScript in the browser</a:t>
            </a:r>
            <a:endParaRPr lang="en-US" sz="1500" dirty="0"/>
          </a:p>
        </p:txBody>
      </p:sp>
      <p:sp>
        <p:nvSpPr>
          <p:cNvPr id="25" name="snippet-2"/>
          <p:cNvSpPr/>
          <p:nvPr/>
        </p:nvSpPr>
        <p:spPr>
          <a:xfrm>
            <a:off x="8356397" y="2697480"/>
            <a:ext cx="2966618" cy="685800"/>
          </a:xfrm>
          <a:prstGeom prst="rect">
            <a:avLst/>
          </a:prstGeom>
          <a:solidFill>
            <a:srgbClr val="0F2F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75269" y="2697480"/>
            <a:ext cx="2728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fetch("http://localhost:6001/api/students")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356616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SPA frameworks (React, Angular) — generate a TypeScript client the same way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5473A"/>
                </a:solidFill>
              </a:rPr>
              <a:t>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the API must allow CORS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5639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Not in our labs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FRONTEND — STEP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Generate the client from swagger.json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SimpleStudentFrontend/ApiClient/generate-client.sh  (Windows: .ps1)</a:t>
            </a:r>
            <a:endParaRPr lang="en-US" sz="1300" dirty="0"/>
          </a:p>
        </p:txBody>
      </p:sp>
      <p:sp>
        <p:nvSpPr>
          <p:cNvPr id="5" name="row-1"/>
          <p:cNvSpPr/>
          <p:nvPr/>
        </p:nvSpPr>
        <p:spPr>
          <a:xfrm>
            <a:off x="640080" y="1828800"/>
            <a:ext cx="42062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41248" y="20482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0195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Start the API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docker compose up (or dotnet run)</a:t>
            </a:r>
            <a:endParaRPr lang="en-US" sz="1400" dirty="0"/>
          </a:p>
        </p:txBody>
      </p:sp>
      <p:sp>
        <p:nvSpPr>
          <p:cNvPr id="9" name="row-2"/>
          <p:cNvSpPr/>
          <p:nvPr/>
        </p:nvSpPr>
        <p:spPr>
          <a:xfrm>
            <a:off x="640080" y="2788920"/>
            <a:ext cx="42062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841248" y="30083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6207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Run generate-client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downloads swagger.json and runs NSwag via npx (needs Node.js)</a:t>
            </a:r>
            <a:endParaRPr lang="en-US" sz="1400" dirty="0"/>
          </a:p>
        </p:txBody>
      </p:sp>
      <p:sp>
        <p:nvSpPr>
          <p:cNvPr id="13" name="row-3"/>
          <p:cNvSpPr/>
          <p:nvPr/>
        </p:nvSpPr>
        <p:spPr>
          <a:xfrm>
            <a:off x="640080" y="3749040"/>
            <a:ext cx="42062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-3"/>
          <p:cNvSpPr/>
          <p:nvPr/>
        </p:nvSpPr>
        <p:spPr>
          <a:xfrm>
            <a:off x="841248" y="39684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2219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Rebuild the frontend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docker compose up --build</a:t>
            </a:r>
            <a:endParaRPr lang="en-US" sz="1400" dirty="0"/>
          </a:p>
        </p:txBody>
      </p:sp>
      <p:sp>
        <p:nvSpPr>
          <p:cNvPr id="17" name="code"/>
          <p:cNvSpPr/>
          <p:nvPr/>
        </p:nvSpPr>
        <p:spPr>
          <a:xfrm>
            <a:off x="5166360" y="1828800"/>
            <a:ext cx="6382512" cy="2743200"/>
          </a:xfrm>
          <a:prstGeom prst="roundRect">
            <a:avLst>
              <a:gd name="adj" fmla="val 2667"/>
            </a:avLst>
          </a:prstGeom>
          <a:solidFill>
            <a:srgbClr val="0F2F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1993392"/>
            <a:ext cx="592531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nswag openapi2csclient /runtime:Net80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/input:swagger.json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/output:StudentApiClient.g.cs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/namespace:SimpleStudentFrontend.ApiClient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/className:StudentApiClient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/jsonLibrary:SystemTextJson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/generateClientInterfaces:true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/useBaseUrl:false</a:t>
            </a:r>
            <a:endParaRPr lang="en-US" sz="1200" dirty="0"/>
          </a:p>
        </p:txBody>
      </p:sp>
      <p:sp>
        <p:nvSpPr>
          <p:cNvPr id="19" name="note"/>
          <p:cNvSpPr/>
          <p:nvPr/>
        </p:nvSpPr>
        <p:spPr>
          <a:xfrm>
            <a:off x="640080" y="489204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89204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Result: IStudentApiClient, StudentApiClient and the models Student, InfoResponse, FacultyResponse, ApiException — about 1 000 lines you never write by hand.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FRONTEND — STEP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Register once, inject everywhere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Program.cs, then before vs after in Students.cshtml.cs</a:t>
            </a:r>
            <a:endParaRPr lang="en-US" sz="1300" dirty="0"/>
          </a:p>
        </p:txBody>
      </p:sp>
      <p:sp>
        <p:nvSpPr>
          <p:cNvPr id="5" name="code-register"/>
          <p:cNvSpPr/>
          <p:nvPr/>
        </p:nvSpPr>
        <p:spPr>
          <a:xfrm>
            <a:off x="640080" y="1783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0F2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104543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builder.Services.AddHttpClient&lt;IStudentApiClient, StudentApiClient&gt;(c =&gt;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c.BaseAddress = new Uri(apiBaseUrl));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529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Before (hand-written)</a:t>
            </a:r>
            <a:endParaRPr lang="en-US" sz="1300" dirty="0"/>
          </a:p>
        </p:txBody>
      </p:sp>
      <p:sp>
        <p:nvSpPr>
          <p:cNvPr id="8" name="code-0"/>
          <p:cNvSpPr/>
          <p:nvPr/>
        </p:nvSpPr>
        <p:spPr>
          <a:xfrm>
            <a:off x="640080" y="315468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0F2F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19272"/>
            <a:ext cx="48385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 = _httpClientFactory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.CreateClient("StudentApi");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await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.GetFromJsonAsync&lt;List&lt;StudentDto&gt;&gt;(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"/api/students");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client.DeleteAsync(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$"/api/students/{id}");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55868" y="2816352"/>
            <a:ext cx="529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After (generated client)</a:t>
            </a:r>
            <a:endParaRPr lang="en-US" sz="1300" dirty="0"/>
          </a:p>
        </p:txBody>
      </p:sp>
      <p:sp>
        <p:nvSpPr>
          <p:cNvPr id="11" name="code-1"/>
          <p:cNvSpPr/>
          <p:nvPr/>
        </p:nvSpPr>
        <p:spPr>
          <a:xfrm>
            <a:off x="6255868" y="315468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0F2F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84468" y="3319272"/>
            <a:ext cx="48385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IStudentApiClient _api is injected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(await _api.GetStudentsAsync())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.ToList();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_api.DeleteStudentAsync(id);</a:t>
            </a:r>
            <a:endParaRPr lang="en-US" sz="1200" dirty="0"/>
          </a:p>
        </p:txBody>
      </p:sp>
      <p:sp>
        <p:nvSpPr>
          <p:cNvPr id="13" name="note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7150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Wrong URL or field name → compile error instead of a 404 at runtime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ERRORS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API errors become typed exceptions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400 documented in Swagger arrives in C# as ApiException&lt;HttpValidationProblemDetails&gt;</a:t>
            </a:r>
            <a:endParaRPr lang="en-US" sz="1300" dirty="0"/>
          </a:p>
        </p:txBody>
      </p:sp>
      <p:sp>
        <p:nvSpPr>
          <p:cNvPr id="5" name="code"/>
          <p:cNvSpPr/>
          <p:nvPr/>
        </p:nvSpPr>
        <p:spPr>
          <a:xfrm>
            <a:off x="640080" y="182880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0F2F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621792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_api.CreateStudentAsync(Input.ToApi());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RedirectToPage("/Students");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(ApiException&lt;HttpValidationProblemDetails&gt; ex)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E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400 – field errors from the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ErrorMessage = string.Join("; 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ex.Result.Errors.SelectMany(e =&gt; e.Value));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(ApiException ex) when (ex.StatusCode == 404)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ErrorMessage = "Student not found";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Simplified — see ApiClient/ApiErrors.cs</a:t>
            </a:r>
            <a:endParaRPr lang="en-US" sz="1100" dirty="0"/>
          </a:p>
        </p:txBody>
      </p:sp>
      <p:sp>
        <p:nvSpPr>
          <p:cNvPr id="8" name="frontend-validation-error-frame"/>
          <p:cNvSpPr/>
          <p:nvPr/>
        </p:nvSpPr>
        <p:spPr>
          <a:xfrm>
            <a:off x="7816383" y="1828800"/>
            <a:ext cx="3762665" cy="3986784"/>
          </a:xfrm>
          <a:prstGeom prst="rect">
            <a:avLst/>
          </a:prstGeom>
          <a:solidFill>
            <a:schemeClr val="bg1"/>
          </a:solidFill>
          <a:ln w="12700">
            <a:solidFill>
              <a:srgbClr val="D5E6E1"/>
            </a:solidFill>
            <a:prstDash val="solid"/>
          </a:ln>
        </p:spPr>
      </p:sp>
      <p:pic>
        <p:nvPicPr>
          <p:cNvPr id="9" name="frontend-validation-error" descr="frontend-validation-err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815" y="1856232"/>
            <a:ext cx="3707801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WORKFLOW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When the API changes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contract makes breaking changes visible before users see them</a:t>
            </a:r>
            <a:endParaRPr lang="en-US" sz="1300" dirty="0"/>
          </a:p>
        </p:txBody>
      </p:sp>
      <p:sp>
        <p:nvSpPr>
          <p:cNvPr id="5" name="flow-0"/>
          <p:cNvSpPr/>
          <p:nvPr/>
        </p:nvSpPr>
        <p:spPr>
          <a:xfrm>
            <a:off x="640080" y="2103120"/>
            <a:ext cx="1926275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469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Change the API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1469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email → emailAddress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2931" y="329184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1" name="flow-1"/>
          <p:cNvSpPr/>
          <p:nvPr/>
        </p:nvSpPr>
        <p:spPr>
          <a:xfrm>
            <a:off x="2886395" y="2103120"/>
            <a:ext cx="1926275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badge-2"/>
          <p:cNvSpPr/>
          <p:nvPr/>
        </p:nvSpPr>
        <p:spPr>
          <a:xfrm>
            <a:off x="3114995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14995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14995" y="2971800"/>
            <a:ext cx="1469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 the API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14995" y="3657600"/>
            <a:ext cx="1469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swagger.json is updated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9246" y="329184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7" name="flow-2"/>
          <p:cNvSpPr/>
          <p:nvPr/>
        </p:nvSpPr>
        <p:spPr>
          <a:xfrm>
            <a:off x="5132710" y="2103120"/>
            <a:ext cx="1926275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-3"/>
          <p:cNvSpPr/>
          <p:nvPr/>
        </p:nvSpPr>
        <p:spPr>
          <a:xfrm>
            <a:off x="536131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6131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61310" y="2971800"/>
            <a:ext cx="1469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Regenerate the client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61310" y="3657600"/>
            <a:ext cx="1469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generate-client.sh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95561" y="329184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3" name="flow-3"/>
          <p:cNvSpPr/>
          <p:nvPr/>
        </p:nvSpPr>
        <p:spPr>
          <a:xfrm>
            <a:off x="7379025" y="2103120"/>
            <a:ext cx="1926275" cy="2377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badge-4"/>
          <p:cNvSpPr/>
          <p:nvPr/>
        </p:nvSpPr>
        <p:spPr>
          <a:xfrm>
            <a:off x="7607625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07625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07625" y="2971800"/>
            <a:ext cx="1469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Compile the frontend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607625" y="3657600"/>
            <a:ext cx="1469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lists every broken page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41876" y="329184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9" name="flow-4"/>
          <p:cNvSpPr/>
          <p:nvPr/>
        </p:nvSpPr>
        <p:spPr>
          <a:xfrm>
            <a:off x="9625340" y="2103120"/>
            <a:ext cx="1926275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badge-5"/>
          <p:cNvSpPr/>
          <p:nvPr/>
        </p:nvSpPr>
        <p:spPr>
          <a:xfrm>
            <a:off x="985394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539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853940" y="2971800"/>
            <a:ext cx="1469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 and redeploy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53940" y="3657600"/>
            <a:ext cx="14690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200" dirty="0"/>
          </a:p>
        </p:txBody>
      </p:sp>
      <p:sp>
        <p:nvSpPr>
          <p:cNvPr id="34" name="note"/>
          <p:cNvSpPr/>
          <p:nvPr/>
        </p:nvSpPr>
        <p:spPr>
          <a:xfrm>
            <a:off x="640080" y="4937760"/>
            <a:ext cx="1091153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49377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Without the generated client, step 4 would be a runtime bug found by a user.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 tasks (60 min)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Work in student-docker-lab-plus-mssql</a:t>
            </a:r>
            <a:endParaRPr lang="en-US" sz="1300" dirty="0"/>
          </a:p>
        </p:txBody>
      </p:sp>
      <p:sp>
        <p:nvSpPr>
          <p:cNvPr id="5" name="row-1"/>
          <p:cNvSpPr/>
          <p:nvPr/>
        </p:nvSpPr>
        <p:spPr>
          <a:xfrm>
            <a:off x="640080" y="1810512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841248" y="1993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83664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Run it and explore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docker compose up; open /swagger; create 3 students with Try it out</a:t>
            </a:r>
            <a:endParaRPr lang="en-US" sz="1500" dirty="0"/>
          </a:p>
        </p:txBody>
      </p:sp>
      <p:sp>
        <p:nvSpPr>
          <p:cNvPr id="9" name="row-2"/>
          <p:cNvSpPr/>
          <p:nvPr/>
        </p:nvSpPr>
        <p:spPr>
          <a:xfrm>
            <a:off x="640080" y="2706624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841248" y="28895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79776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Break it on purpose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POST invalid data; compare the 400 in Swagger and in the frontend form</a:t>
            </a:r>
            <a:endParaRPr lang="en-US" sz="1500" dirty="0"/>
          </a:p>
        </p:txBody>
      </p:sp>
      <p:sp>
        <p:nvSpPr>
          <p:cNvPr id="13" name="row-3"/>
          <p:cNvSpPr/>
          <p:nvPr/>
        </p:nvSpPr>
        <p:spPr>
          <a:xfrm>
            <a:off x="640080" y="3602736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badge-3"/>
          <p:cNvSpPr/>
          <p:nvPr/>
        </p:nvSpPr>
        <p:spPr>
          <a:xfrm>
            <a:off x="841248" y="3785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75888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Add an endpoint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GET /api/students/search?program=… with WithName, WithSummary, Produces</a:t>
            </a:r>
            <a:endParaRPr lang="en-US" sz="1500" dirty="0"/>
          </a:p>
        </p:txBody>
      </p:sp>
      <p:sp>
        <p:nvSpPr>
          <p:cNvPr id="17" name="row-4"/>
          <p:cNvSpPr/>
          <p:nvPr/>
        </p:nvSpPr>
        <p:spPr>
          <a:xfrm>
            <a:off x="640080" y="4498848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badge-4"/>
          <p:cNvSpPr/>
          <p:nvPr/>
        </p:nvSpPr>
        <p:spPr>
          <a:xfrm>
            <a:off x="841248" y="46817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72000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Regenerate and use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run generate-client; add a search box to the Students page using SearchStudentsAsync</a:t>
            </a:r>
            <a:endParaRPr lang="en-US" sz="1500" dirty="0"/>
          </a:p>
        </p:txBody>
      </p:sp>
      <p:sp>
        <p:nvSpPr>
          <p:cNvPr id="21" name="row-5"/>
          <p:cNvSpPr/>
          <p:nvPr/>
        </p:nvSpPr>
        <p:spPr>
          <a:xfrm>
            <a:off x="640080" y="5394960"/>
            <a:ext cx="10911535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badge-5"/>
          <p:cNvSpPr/>
          <p:nvPr/>
        </p:nvSpPr>
        <p:spPr>
          <a:xfrm>
            <a:off x="841248" y="5577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468112"/>
            <a:ext cx="9951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 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export swagger.json and add it to your project documentation as the interface specification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YOUR DOCUMENTATION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OpenAPI as the interface specification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129844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How it maps to the standards from the previous lectures</a:t>
            </a:r>
            <a:endParaRPr lang="en-US" sz="1300" dirty="0"/>
          </a:p>
        </p:txBody>
      </p:sp>
      <p:sp>
        <p:nvSpPr>
          <p:cNvPr id="5" name="std-0"/>
          <p:cNvSpPr/>
          <p:nvPr/>
        </p:nvSpPr>
        <p:spPr>
          <a:xfrm>
            <a:off x="640080" y="1828800"/>
            <a:ext cx="3423818" cy="29260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badge-1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ISO/IEC/IEEE 42010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Interface / information view: swagger.json is the formal description of the API connector between components.</a:t>
            </a:r>
            <a:endParaRPr lang="en-US" sz="1300" dirty="0"/>
          </a:p>
        </p:txBody>
      </p:sp>
      <p:sp>
        <p:nvSpPr>
          <p:cNvPr id="10" name="std-1"/>
          <p:cNvSpPr/>
          <p:nvPr/>
        </p:nvSpPr>
        <p:spPr>
          <a:xfrm>
            <a:off x="4383938" y="1828800"/>
            <a:ext cx="3423818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badge-2"/>
          <p:cNvSpPr/>
          <p:nvPr/>
        </p:nvSpPr>
        <p:spPr>
          <a:xfrm>
            <a:off x="4612538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253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33746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ISO/IEC 25010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7432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Compatibility → interoperability: a published contract is evidence that the systems can exchange data.</a:t>
            </a:r>
            <a:endParaRPr lang="en-US" sz="1300" dirty="0"/>
          </a:p>
        </p:txBody>
      </p:sp>
      <p:sp>
        <p:nvSpPr>
          <p:cNvPr id="15" name="std-2"/>
          <p:cNvSpPr/>
          <p:nvPr/>
        </p:nvSpPr>
        <p:spPr>
          <a:xfrm>
            <a:off x="8127797" y="1828800"/>
            <a:ext cx="3423818" cy="29260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badge-3"/>
          <p:cNvSpPr/>
          <p:nvPr/>
        </p:nvSpPr>
        <p:spPr>
          <a:xfrm>
            <a:off x="8356397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639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77605" y="1993392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European Interoperability Framework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56397" y="274320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Technical and semantic interoperability: an open standard (OAS) and a shared data model (schemas).</a:t>
            </a:r>
            <a:endParaRPr lang="en-US" sz="1300" dirty="0"/>
          </a:p>
        </p:txBody>
      </p:sp>
      <p:sp>
        <p:nvSpPr>
          <p:cNvPr id="20" name="note"/>
          <p:cNvSpPr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2064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In your documentation: the OpenAPI file (appendix), a Swagger UI screenshot, and a table of endpoints with status codes.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TAKEAWAYS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155448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Swagger turns your API into a contract you can read, test and compile against.</a:t>
            </a:r>
            <a:endParaRPr lang="en-US" sz="2800" dirty="0"/>
          </a:p>
        </p:txBody>
      </p:sp>
      <p:sp>
        <p:nvSpPr>
          <p:cNvPr id="4" name="take-0"/>
          <p:cNvSpPr/>
          <p:nvPr/>
        </p:nvSpPr>
        <p:spPr>
          <a:xfrm>
            <a:off x="640080" y="443484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43434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Swashbuckle → swagger.json + /swagger</a:t>
            </a:r>
            <a:endParaRPr lang="en-US" sz="1500" dirty="0"/>
          </a:p>
        </p:txBody>
      </p:sp>
      <p:sp>
        <p:nvSpPr>
          <p:cNvPr id="6" name="take-1"/>
          <p:cNvSpPr/>
          <p:nvPr/>
        </p:nvSpPr>
        <p:spPr>
          <a:xfrm>
            <a:off x="640080" y="493776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48463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Metadata and XML comments → useful documentation</a:t>
            </a:r>
            <a:endParaRPr lang="en-US" sz="1500" dirty="0"/>
          </a:p>
        </p:txBody>
      </p:sp>
      <p:sp>
        <p:nvSpPr>
          <p:cNvPr id="8" name="take-2"/>
          <p:cNvSpPr/>
          <p:nvPr/>
        </p:nvSpPr>
        <p:spPr>
          <a:xfrm>
            <a:off x="640080" y="54406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5349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NSwag → typed client; the compiler checks the contract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D2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legija Teal">
  <a:themeElements>
    <a:clrScheme name="Kolegija Teal">
      <a:dk1>
        <a:srgbClr val="000000"/>
      </a:dk1>
      <a:lt1>
        <a:srgbClr val="FFFFFF"/>
      </a:lt1>
      <a:dk2>
        <a:srgbClr val="12433C"/>
      </a:dk2>
      <a:lt2>
        <a:srgbClr val="F4FAF8"/>
      </a:lt2>
      <a:accent1>
        <a:srgbClr val="349C8D"/>
      </a:accent1>
      <a:accent2>
        <a:srgbClr val="1F6E62"/>
      </a:accent2>
      <a:accent3>
        <a:srgbClr val="8ED2C5"/>
      </a:accent3>
      <a:accent4>
        <a:srgbClr val="E8F4F1"/>
      </a:accent4>
      <a:accent5>
        <a:srgbClr val="4A4A4C"/>
      </a:accent5>
      <a:accent6>
        <a:srgbClr val="8A8A8C"/>
      </a:accent6>
      <a:hlink>
        <a:srgbClr val="349C8D"/>
      </a:hlink>
      <a:folHlink>
        <a:srgbClr val="1F6E62"/>
      </a:folHlink>
    </a:clrScheme>
    <a:fontScheme name="Kolegija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Kauno kolegija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Swagger / OpenAPI in a .NET API</dc:title>
  <dc:subject>PptxGenJS Presentation</dc:subject>
  <dc:creator>Tadas Bulis</dc:creator>
  <cp:lastModifiedBy>Tadas Bulis</cp:lastModifiedBy>
  <cp:revision>1</cp:revision>
  <dcterms:created xsi:type="dcterms:W3CDTF">2026-10-02T05:44:13Z</dcterms:created>
  <dcterms:modified xsi:type="dcterms:W3CDTF">2026-10-02T05:44:13Z</dcterms:modified>
</cp:coreProperties>
</file>