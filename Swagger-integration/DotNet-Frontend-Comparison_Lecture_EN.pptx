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1cd3456-b10d-fb4a-77be-fc0a1ec39e34}">
          <p14:sldIdLst>
            <p14:sldId id="256"/>
            <p14:sldId id="257"/>
            <p14:sldId id="258"/>
          </p14:sldIdLst>
        </p14:section>
        <p14:section name="How it works" id="{eeb51cc2-b71c-550c-7ae0-949585190d4c}">
          <p14:sldIdLst>
            <p14:sldId id="259"/>
            <p14:sldId id="260"/>
            <p14:sldId id="261"/>
          </p14:sldIdLst>
        </p14:section>
        <p14:section name="Comparison" id="{67ae46f0-b4ae-3add-e38b-2363f8465891}">
          <p14:sldIdLst>
            <p14:sldId id="262"/>
          </p14:sldIdLst>
        </p14:section>
        <p14:section name="Code" id="{2b93d5cd-c33d-dcec-51fe-d38a5a65860d}">
          <p14:sldIdLst>
            <p14:sldId id="263"/>
            <p14:sldId id="264"/>
            <p14:sldId id="265"/>
            <p14:sldId id="266"/>
          </p14:sldIdLst>
        </p14:section>
        <p14:section name="API and CORS" id="{743c88a1-dff0-79e9-6a2b-cbb77fdcded5}">
          <p14:sldIdLst>
            <p14:sldId id="267"/>
            <p14:sldId id="268"/>
          </p14:sldIdLst>
        </p14:section>
        <p14:section name="Choosing" id="{f8ad5e92-ed18-be62-af0c-9424ac2117e8}">
          <p14:sldIdLst>
            <p14:sldId id="269"/>
            <p14:sldId id="270"/>
          </p14:sldIdLst>
        </p14:section>
        <p14:section name="Practice" id="{0129303c-4338-587f-cdb4-4d2b9e7d6ef1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compare three .NET frontend technologies on the same SimpleStudent API. All examples are in the course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reminder of the heterogeneous system idea: one contract (swagger.json), three API implementations and many clients. Two Blazor clients are new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The orange frame shows where the C# UI code runs. In the first two rows the server calls the API, in the third the browser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Razor Pages is the classic model: every request stands on its own and the server renders the whole HTML. Note that the server calls the API – the browser never learns the API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Blazor Server: components and their fields live in server memory. Show that switching the API does not reload the page. Stop the container to see the reconnect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WebAssembly: the same components, but the whole app is downloaded into the browser. F12 → Network shows every request to the API. That is exactly why the API must allow CORS.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sums up the differences. Next we look at the code where they become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@bind:event="oninput": the search filters the list that is already loaded after every key press, without calling the API. Razor Pages would need JavaScript or a new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count the requests in F12 → Network in both frontends. Razor Pages: POST, 302 and GET. Blazor Server: no HTTP request at all in the browser, only SignalR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Pages folders of both Blazor projects are the same. Prerendering is off, otherwise the page is rendered twice and the API is called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chain: swagger.json → NSwag → attributes → DataAnnotationsValidator. Then switch to the PHP or Python API and enter a space as the first name: the API returns the error and Blazor shows it next to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simplestudentapi:8080 is a Docker DNS name known only to containers. The browser does not know it, so WASM uses localhost:6001.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preflight OPTIONS is sent before POST/PUT with Content-Type: application/json. In production replace AllowAnyOrigin with WithOrigins and the real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in a heterogeneous system all three frontends can exist next to each other on the same API, as in our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problem can be reproduced in the practice. E.g. docker stop simplestudentblazorserver shows the reconnect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docker-compose up --build before the lecture – the first WASM build takes a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1–3 in the practice, 4–6 at home. Students describe the results in their project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questions. The tasks are described in DotNet-Frontend-Comparison_EN.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2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D2C5"/>
                </a:solidFill>
              </a:rPr>
              <a:t>kauno kolegija | Faculty of Technologies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8ED2C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D2C5"/>
                </a:solidFill>
              </a:rPr>
              <a:t>Lecturer: Tadas Bulis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300" kern="0" dirty="0">
                <a:solidFill>
                  <a:srgbClr val="349C8D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2433C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8A8A8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C"/>
                </a:solidFill>
              </a:rPr>
              <a:t>kauno kolegija   |   Heterogeneous systems  ·  PSe-5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.NET frontend technologies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8ED2C5"/>
                </a:solidFill>
              </a:rPr>
              <a:t>Razor Pages, Blazor Server and Blazor WebAssembly on the same SimpleStudent API</a:t>
            </a:r>
            <a:endParaRPr lang="en-US" sz="2000" dirty="0"/>
          </a:p>
        </p:txBody>
      </p:sp>
      <p:sp>
        <p:nvSpPr>
          <p:cNvPr id="4" name="box_1"/>
          <p:cNvSpPr/>
          <p:nvPr/>
        </p:nvSpPr>
        <p:spPr>
          <a:xfrm>
            <a:off x="731520" y="420624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1F6E62"/>
          </a:solidFill>
          <a:ln/>
        </p:spPr>
      </p:sp>
      <p:sp>
        <p:nvSpPr>
          <p:cNvPr id="5" name="chip_2"/>
          <p:cNvSpPr txBox="1"/>
          <p:nvPr/>
        </p:nvSpPr>
        <p:spPr>
          <a:xfrm>
            <a:off x="731520" y="42062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Group PSe-5</a:t>
            </a:r>
            <a:endParaRPr lang="en-US" sz="1300" dirty="0"/>
          </a:p>
        </p:txBody>
      </p:sp>
      <p:sp>
        <p:nvSpPr>
          <p:cNvPr id="6" name="box_3"/>
          <p:cNvSpPr/>
          <p:nvPr/>
        </p:nvSpPr>
        <p:spPr>
          <a:xfrm>
            <a:off x="2331720" y="4206240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1F6E62"/>
          </a:solidFill>
          <a:ln/>
        </p:spPr>
      </p:sp>
      <p:sp>
        <p:nvSpPr>
          <p:cNvPr id="7" name="chip_4"/>
          <p:cNvSpPr txBox="1"/>
          <p:nvPr/>
        </p:nvSpPr>
        <p:spPr>
          <a:xfrm>
            <a:off x="2331720" y="42062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Autumn 2026</a:t>
            </a:r>
            <a:endParaRPr lang="en-US" sz="1300" dirty="0"/>
          </a:p>
        </p:txBody>
      </p:sp>
      <p:sp>
        <p:nvSpPr>
          <p:cNvPr id="8" name="box_5"/>
          <p:cNvSpPr/>
          <p:nvPr/>
        </p:nvSpPr>
        <p:spPr>
          <a:xfrm>
            <a:off x="4023360" y="420624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1F6E62"/>
          </a:solidFill>
          <a:ln/>
        </p:spPr>
      </p:sp>
      <p:sp>
        <p:nvSpPr>
          <p:cNvPr id="9" name="chip_6"/>
          <p:cNvSpPr txBox="1"/>
          <p:nvPr/>
        </p:nvSpPr>
        <p:spPr>
          <a:xfrm>
            <a:off x="4023360" y="42062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Lecture + practice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WHERE IT FITS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One API contract, many clients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Three API implementations and five clients, all built on the same swagger.json</a:t>
            </a:r>
            <a:endParaRPr lang="en-US" sz="1600" dirty="0"/>
          </a:p>
        </p:txBody>
      </p:sp>
      <p:sp>
        <p:nvSpPr>
          <p:cNvPr id="6" name="box_7"/>
          <p:cNvSpPr/>
          <p:nvPr/>
        </p:nvSpPr>
        <p:spPr>
          <a:xfrm>
            <a:off x="731520" y="2148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2433C"/>
          </a:solidFill>
          <a:ln/>
        </p:spPr>
      </p:sp>
      <p:sp>
        <p:nvSpPr>
          <p:cNvPr id="7" name="txt_8"/>
          <p:cNvSpPr txBox="1"/>
          <p:nvPr/>
        </p:nvSpPr>
        <p:spPr>
          <a:xfrm>
            <a:off x="73152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.NET API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F4F1"/>
                </a:solidFill>
              </a:rPr>
              <a:t>:6001</a:t>
            </a:r>
            <a:endParaRPr lang="en-US" sz="1400" dirty="0"/>
          </a:p>
        </p:txBody>
      </p:sp>
      <p:sp>
        <p:nvSpPr>
          <p:cNvPr id="8" name="arrow_9"/>
          <p:cNvSpPr/>
          <p:nvPr/>
        </p:nvSpPr>
        <p:spPr>
          <a:xfrm>
            <a:off x="3154680" y="2606040"/>
            <a:ext cx="1188720" cy="868680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9" name="box_10"/>
          <p:cNvSpPr/>
          <p:nvPr/>
        </p:nvSpPr>
        <p:spPr>
          <a:xfrm>
            <a:off x="731520" y="3337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777BB4"/>
          </a:solidFill>
          <a:ln/>
        </p:spPr>
      </p:sp>
      <p:sp>
        <p:nvSpPr>
          <p:cNvPr id="10" name="txt_11"/>
          <p:cNvSpPr txBox="1"/>
          <p:nvPr/>
        </p:nvSpPr>
        <p:spPr>
          <a:xfrm>
            <a:off x="731520" y="3337560"/>
            <a:ext cx="237744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PHP API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F4F1"/>
                </a:solidFill>
              </a:rPr>
              <a:t>:6002</a:t>
            </a:r>
            <a:endParaRPr lang="en-US" sz="1400" dirty="0"/>
          </a:p>
        </p:txBody>
      </p:sp>
      <p:sp>
        <p:nvSpPr>
          <p:cNvPr id="11" name="arrow_12"/>
          <p:cNvSpPr/>
          <p:nvPr/>
        </p:nvSpPr>
        <p:spPr>
          <a:xfrm>
            <a:off x="3154680" y="3794760"/>
            <a:ext cx="1188720" cy="-320040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12" name="box_13"/>
          <p:cNvSpPr/>
          <p:nvPr/>
        </p:nvSpPr>
        <p:spPr>
          <a:xfrm>
            <a:off x="731520" y="4526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3776AB"/>
          </a:solidFill>
          <a:ln/>
        </p:spPr>
      </p:sp>
      <p:sp>
        <p:nvSpPr>
          <p:cNvPr id="13" name="txt_14"/>
          <p:cNvSpPr txBox="1"/>
          <p:nvPr/>
        </p:nvSpPr>
        <p:spPr>
          <a:xfrm>
            <a:off x="731520" y="4526280"/>
            <a:ext cx="237744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Python API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F4F1"/>
                </a:solidFill>
              </a:rPr>
              <a:t>:6003</a:t>
            </a:r>
            <a:endParaRPr lang="en-US" sz="1400" dirty="0"/>
          </a:p>
        </p:txBody>
      </p:sp>
      <p:sp>
        <p:nvSpPr>
          <p:cNvPr id="14" name="arrow_15"/>
          <p:cNvSpPr/>
          <p:nvPr/>
        </p:nvSpPr>
        <p:spPr>
          <a:xfrm>
            <a:off x="3154680" y="4983480"/>
            <a:ext cx="1188720" cy="-1508760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15" name="box_16"/>
          <p:cNvSpPr/>
          <p:nvPr/>
        </p:nvSpPr>
        <p:spPr>
          <a:xfrm>
            <a:off x="4389120" y="2926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49C8D"/>
            </a:solidFill>
            <a:prstDash val="dash"/>
          </a:ln>
        </p:spPr>
      </p:sp>
      <p:sp>
        <p:nvSpPr>
          <p:cNvPr id="16" name="txt_17"/>
          <p:cNvSpPr txBox="1"/>
          <p:nvPr/>
        </p:nvSpPr>
        <p:spPr>
          <a:xfrm>
            <a:off x="438912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24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swagger.json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6E62"/>
                </a:solidFill>
              </a:rPr>
              <a:t>one contract</a:t>
            </a:r>
            <a:endParaRPr lang="en-US" sz="1400" dirty="0"/>
          </a:p>
        </p:txBody>
      </p:sp>
      <p:sp>
        <p:nvSpPr>
          <p:cNvPr id="17" name="arrow_18"/>
          <p:cNvSpPr/>
          <p:nvPr/>
        </p:nvSpPr>
        <p:spPr>
          <a:xfrm>
            <a:off x="7086600" y="3474720"/>
            <a:ext cx="1280160" cy="-1152144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18" name="box_19"/>
          <p:cNvSpPr/>
          <p:nvPr/>
        </p:nvSpPr>
        <p:spPr>
          <a:xfrm>
            <a:off x="8412480" y="2011680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4F0"/>
          </a:solidFill>
          <a:ln/>
        </p:spPr>
      </p:sp>
      <p:sp>
        <p:nvSpPr>
          <p:cNvPr id="19" name="txt_20"/>
          <p:cNvSpPr txBox="1"/>
          <p:nvPr/>
        </p:nvSpPr>
        <p:spPr>
          <a:xfrm>
            <a:off x="8503920" y="2011680"/>
            <a:ext cx="2834640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E62"/>
                </a:solidFill>
              </a:rPr>
              <a:t>Razor Pages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C"/>
                </a:solidFill>
              </a:rPr>
              <a:t>:6011</a:t>
            </a:r>
            <a:endParaRPr lang="en-US" sz="1400" dirty="0"/>
          </a:p>
        </p:txBody>
      </p:sp>
      <p:sp>
        <p:nvSpPr>
          <p:cNvPr id="20" name="arrow_21"/>
          <p:cNvSpPr/>
          <p:nvPr/>
        </p:nvSpPr>
        <p:spPr>
          <a:xfrm>
            <a:off x="7086600" y="3474720"/>
            <a:ext cx="1280160" cy="-365760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21" name="box_22"/>
          <p:cNvSpPr/>
          <p:nvPr/>
        </p:nvSpPr>
        <p:spPr>
          <a:xfrm>
            <a:off x="8412480" y="2798064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FEBFB"/>
          </a:solidFill>
          <a:ln w="25400">
            <a:solidFill>
              <a:srgbClr val="512BD4"/>
            </a:solidFill>
            <a:prstDash val="solid"/>
          </a:ln>
        </p:spPr>
      </p:sp>
      <p:sp>
        <p:nvSpPr>
          <p:cNvPr id="22" name="txt_23"/>
          <p:cNvSpPr txBox="1"/>
          <p:nvPr/>
        </p:nvSpPr>
        <p:spPr>
          <a:xfrm>
            <a:off x="8503920" y="2798064"/>
            <a:ext cx="2834640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12BD4"/>
                </a:solidFill>
              </a:rPr>
              <a:t>Blazor Server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C"/>
                </a:solidFill>
              </a:rPr>
              <a:t>:6031</a:t>
            </a:r>
            <a:endParaRPr lang="en-US" sz="1400" dirty="0"/>
          </a:p>
        </p:txBody>
      </p:sp>
      <p:sp>
        <p:nvSpPr>
          <p:cNvPr id="23" name="arrow_24"/>
          <p:cNvSpPr/>
          <p:nvPr/>
        </p:nvSpPr>
        <p:spPr>
          <a:xfrm>
            <a:off x="7086600" y="3474720"/>
            <a:ext cx="1280160" cy="420624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24" name="box_25"/>
          <p:cNvSpPr/>
          <p:nvPr/>
        </p:nvSpPr>
        <p:spPr>
          <a:xfrm>
            <a:off x="8412480" y="3584448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FEBFB"/>
          </a:solidFill>
          <a:ln w="25400">
            <a:solidFill>
              <a:srgbClr val="512BD4"/>
            </a:solidFill>
            <a:prstDash val="solid"/>
          </a:ln>
        </p:spPr>
      </p:sp>
      <p:sp>
        <p:nvSpPr>
          <p:cNvPr id="25" name="txt_26"/>
          <p:cNvSpPr txBox="1"/>
          <p:nvPr/>
        </p:nvSpPr>
        <p:spPr>
          <a:xfrm>
            <a:off x="8503920" y="3584448"/>
            <a:ext cx="2834640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12BD4"/>
                </a:solidFill>
              </a:rPr>
              <a:t>Blazor WebAssembly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C"/>
                </a:solidFill>
              </a:rPr>
              <a:t>:6041</a:t>
            </a:r>
            <a:endParaRPr lang="en-US" sz="1400" dirty="0"/>
          </a:p>
        </p:txBody>
      </p:sp>
      <p:sp>
        <p:nvSpPr>
          <p:cNvPr id="26" name="arrow_27"/>
          <p:cNvSpPr/>
          <p:nvPr/>
        </p:nvSpPr>
        <p:spPr>
          <a:xfrm>
            <a:off x="7086600" y="3474720"/>
            <a:ext cx="1280160" cy="1207008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27" name="box_28"/>
          <p:cNvSpPr/>
          <p:nvPr/>
        </p:nvSpPr>
        <p:spPr>
          <a:xfrm>
            <a:off x="8412480" y="4370832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4F0"/>
          </a:solidFill>
          <a:ln/>
        </p:spPr>
      </p:sp>
      <p:sp>
        <p:nvSpPr>
          <p:cNvPr id="28" name="txt_29"/>
          <p:cNvSpPr txBox="1"/>
          <p:nvPr/>
        </p:nvSpPr>
        <p:spPr>
          <a:xfrm>
            <a:off x="8503920" y="4370832"/>
            <a:ext cx="2834640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77BB4"/>
                </a:solidFill>
              </a:rPr>
              <a:t>PHP frontend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C"/>
                </a:solidFill>
              </a:rPr>
              <a:t>:6021</a:t>
            </a:r>
            <a:endParaRPr lang="en-US" sz="1400" dirty="0"/>
          </a:p>
        </p:txBody>
      </p:sp>
      <p:sp>
        <p:nvSpPr>
          <p:cNvPr id="29" name="arrow_30"/>
          <p:cNvSpPr/>
          <p:nvPr/>
        </p:nvSpPr>
        <p:spPr>
          <a:xfrm>
            <a:off x="7086600" y="3474720"/>
            <a:ext cx="1280160" cy="1993392"/>
          </a:xfrm>
          <a:prstGeom prst="line">
            <a:avLst/>
          </a:prstGeom>
          <a:noFill/>
          <a:ln w="19050">
            <a:solidFill>
              <a:srgbClr val="8ED2C5"/>
            </a:solidFill>
            <a:prstDash val="solid"/>
            <a:tailEnd type="triangle"/>
          </a:ln>
        </p:spPr>
      </p:sp>
      <p:sp>
        <p:nvSpPr>
          <p:cNvPr id="30" name="box_31"/>
          <p:cNvSpPr/>
          <p:nvPr/>
        </p:nvSpPr>
        <p:spPr>
          <a:xfrm>
            <a:off x="8412480" y="5157216"/>
            <a:ext cx="3017520" cy="621792"/>
          </a:xfrm>
          <a:prstGeom prst="roundRect">
            <a:avLst>
              <a:gd name="adj" fmla="val 11765"/>
            </a:avLst>
          </a:prstGeom>
          <a:solidFill>
            <a:srgbClr val="E6F4F0"/>
          </a:solidFill>
          <a:ln/>
        </p:spPr>
      </p:sp>
      <p:sp>
        <p:nvSpPr>
          <p:cNvPr id="31" name="txt_32"/>
          <p:cNvSpPr txBox="1"/>
          <p:nvPr/>
        </p:nvSpPr>
        <p:spPr>
          <a:xfrm>
            <a:off x="8503920" y="5157216"/>
            <a:ext cx="2834640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49C8D"/>
                </a:solidFill>
              </a:rPr>
              <a:t>Flutter (mobile)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C"/>
                </a:solidFill>
              </a:rPr>
              <a:t>iOS · Android</a:t>
            </a:r>
            <a:endParaRPr lang="en-US" sz="1400" dirty="0"/>
          </a:p>
        </p:txBody>
      </p:sp>
      <p:sp>
        <p:nvSpPr>
          <p:cNvPr id="32" name="legend_33"/>
          <p:cNvSpPr txBox="1"/>
          <p:nvPr/>
        </p:nvSpPr>
        <p:spPr>
          <a:xfrm>
            <a:off x="8412480" y="5943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2BD4"/>
                </a:solidFill>
              </a:rPr>
              <a:t>Purple frame = the new Blazor clients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THE KEY DIFFERENCE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Where the C# code runs and who calls the API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Same API, same generated client, a different place for the UI code</a:t>
            </a:r>
            <a:endParaRPr lang="en-US" sz="1600" dirty="0"/>
          </a:p>
        </p:txBody>
      </p:sp>
      <p:pic>
        <p:nvPicPr>
          <p:cNvPr id="6" name="arch" descr="Where the C# code runs and who calls the 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1069848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RAZOR PAGES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Razor Pages: one page per request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SimpleStudentFrontend · :6011 · .cshtml + PageModel</a:t>
            </a:r>
            <a:endParaRPr lang="en-US" sz="1600" dirty="0"/>
          </a:p>
        </p:txBody>
      </p:sp>
      <p:sp>
        <p:nvSpPr>
          <p:cNvPr id="6" name="box_34"/>
          <p:cNvSpPr/>
          <p:nvPr/>
        </p:nvSpPr>
        <p:spPr>
          <a:xfrm>
            <a:off x="731520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7" name="num_35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8" name="numt_36"/>
          <p:cNvSpPr txBox="1"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xt_37"/>
          <p:cNvSpPr txBox="1"/>
          <p:nvPr/>
        </p:nvSpPr>
        <p:spPr>
          <a:xfrm>
            <a:off x="804672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GET /Students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– the browser asks for a page</a:t>
            </a:r>
            <a:endParaRPr lang="en-US" sz="1400" dirty="0"/>
          </a:p>
        </p:txBody>
      </p:sp>
      <p:sp>
        <p:nvSpPr>
          <p:cNvPr id="10" name="arrow_38"/>
          <p:cNvSpPr/>
          <p:nvPr/>
        </p:nvSpPr>
        <p:spPr>
          <a:xfrm>
            <a:off x="3210230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1" name="box_39"/>
          <p:cNvSpPr/>
          <p:nvPr/>
        </p:nvSpPr>
        <p:spPr>
          <a:xfrm>
            <a:off x="3493694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2" name="num_40"/>
          <p:cNvSpPr/>
          <p:nvPr/>
        </p:nvSpPr>
        <p:spPr>
          <a:xfrm>
            <a:off x="3630854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3" name="numt_41"/>
          <p:cNvSpPr txBox="1"/>
          <p:nvPr/>
        </p:nvSpPr>
        <p:spPr>
          <a:xfrm>
            <a:off x="363085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xt_42"/>
          <p:cNvSpPr txBox="1"/>
          <p:nvPr/>
        </p:nvSpPr>
        <p:spPr>
          <a:xfrm>
            <a:off x="3566846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OnGetAsync()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on the server calls the API via IStudentApiClient</a:t>
            </a:r>
            <a:endParaRPr lang="en-US" sz="1400" dirty="0"/>
          </a:p>
        </p:txBody>
      </p:sp>
      <p:sp>
        <p:nvSpPr>
          <p:cNvPr id="15" name="arrow_43"/>
          <p:cNvSpPr/>
          <p:nvPr/>
        </p:nvSpPr>
        <p:spPr>
          <a:xfrm>
            <a:off x="5972404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6" name="box_44"/>
          <p:cNvSpPr/>
          <p:nvPr/>
        </p:nvSpPr>
        <p:spPr>
          <a:xfrm>
            <a:off x="6255868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7" name="num_45"/>
          <p:cNvSpPr/>
          <p:nvPr/>
        </p:nvSpPr>
        <p:spPr>
          <a:xfrm>
            <a:off x="6393028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8" name="numt_46"/>
          <p:cNvSpPr txBox="1"/>
          <p:nvPr/>
        </p:nvSpPr>
        <p:spPr>
          <a:xfrm>
            <a:off x="639302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xt_47"/>
          <p:cNvSpPr txBox="1"/>
          <p:nvPr/>
        </p:nvSpPr>
        <p:spPr>
          <a:xfrm>
            <a:off x="6329020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Whole HTML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is rendered and sent; the PageModel is discarded</a:t>
            </a:r>
            <a:endParaRPr lang="en-US" sz="1400" dirty="0"/>
          </a:p>
        </p:txBody>
      </p:sp>
      <p:sp>
        <p:nvSpPr>
          <p:cNvPr id="20" name="arrow_48"/>
          <p:cNvSpPr/>
          <p:nvPr/>
        </p:nvSpPr>
        <p:spPr>
          <a:xfrm>
            <a:off x="8734577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1" name="box_49"/>
          <p:cNvSpPr/>
          <p:nvPr/>
        </p:nvSpPr>
        <p:spPr>
          <a:xfrm>
            <a:off x="9018041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22" name="num_50"/>
          <p:cNvSpPr/>
          <p:nvPr/>
        </p:nvSpPr>
        <p:spPr>
          <a:xfrm>
            <a:off x="9155201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3" name="numt_51"/>
          <p:cNvSpPr txBox="1"/>
          <p:nvPr/>
        </p:nvSpPr>
        <p:spPr>
          <a:xfrm>
            <a:off x="9155201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xt_52"/>
          <p:cNvSpPr txBox="1"/>
          <p:nvPr/>
        </p:nvSpPr>
        <p:spPr>
          <a:xfrm>
            <a:off x="9091193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Action = new request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: POST → RedirectToPage() → GET</a:t>
            </a:r>
            <a:endParaRPr lang="en-US" sz="1400" dirty="0"/>
          </a:p>
        </p:txBody>
      </p:sp>
      <p:sp>
        <p:nvSpPr>
          <p:cNvPr id="25" name="box_53"/>
          <p:cNvSpPr/>
          <p:nvPr/>
        </p:nvSpPr>
        <p:spPr>
          <a:xfrm>
            <a:off x="731520" y="470916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E6F4F0"/>
          </a:solidFill>
          <a:ln/>
        </p:spPr>
      </p:sp>
      <p:sp>
        <p:nvSpPr>
          <p:cNvPr id="26" name="txt_54"/>
          <p:cNvSpPr txBox="1"/>
          <p:nvPr/>
        </p:nvSpPr>
        <p:spPr>
          <a:xfrm>
            <a:off x="868680" y="4754880"/>
            <a:ext cx="10454335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F2A"/>
                </a:solidFill>
              </a:rPr>
              <a:t>The simplest and most robust model: works without WebSocket, great for SEO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F2A"/>
                </a:solidFill>
              </a:rPr>
              <a:t>Interactivity without reloads needs JavaScript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BLAZOR SERVER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Blazor Server: components live on the server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SimpleStudentBlazorServer · :6031 · .razor components, render mode Interactive Server</a:t>
            </a:r>
            <a:endParaRPr lang="en-US" sz="1600" dirty="0"/>
          </a:p>
        </p:txBody>
      </p:sp>
      <p:sp>
        <p:nvSpPr>
          <p:cNvPr id="6" name="box_55"/>
          <p:cNvSpPr/>
          <p:nvPr/>
        </p:nvSpPr>
        <p:spPr>
          <a:xfrm>
            <a:off x="731520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7" name="num_56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8" name="numt_57"/>
          <p:cNvSpPr txBox="1"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xt_58"/>
          <p:cNvSpPr txBox="1"/>
          <p:nvPr/>
        </p:nvSpPr>
        <p:spPr>
          <a:xfrm>
            <a:off x="804672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blazor.web.js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opens a SignalR (WebSocket) connection</a:t>
            </a:r>
            <a:endParaRPr lang="en-US" sz="1400" dirty="0"/>
          </a:p>
        </p:txBody>
      </p:sp>
      <p:sp>
        <p:nvSpPr>
          <p:cNvPr id="10" name="arrow_59"/>
          <p:cNvSpPr/>
          <p:nvPr/>
        </p:nvSpPr>
        <p:spPr>
          <a:xfrm>
            <a:off x="3210230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1" name="box_60"/>
          <p:cNvSpPr/>
          <p:nvPr/>
        </p:nvSpPr>
        <p:spPr>
          <a:xfrm>
            <a:off x="3493694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2" name="num_61"/>
          <p:cNvSpPr/>
          <p:nvPr/>
        </p:nvSpPr>
        <p:spPr>
          <a:xfrm>
            <a:off x="3630854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3" name="numt_62"/>
          <p:cNvSpPr txBox="1"/>
          <p:nvPr/>
        </p:nvSpPr>
        <p:spPr>
          <a:xfrm>
            <a:off x="363085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xt_63"/>
          <p:cNvSpPr txBox="1"/>
          <p:nvPr/>
        </p:nvSpPr>
        <p:spPr>
          <a:xfrm>
            <a:off x="3566846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Circuit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: the server keeps component state for every tab</a:t>
            </a:r>
            <a:endParaRPr lang="en-US" sz="1400" dirty="0"/>
          </a:p>
        </p:txBody>
      </p:sp>
      <p:sp>
        <p:nvSpPr>
          <p:cNvPr id="15" name="arrow_64"/>
          <p:cNvSpPr/>
          <p:nvPr/>
        </p:nvSpPr>
        <p:spPr>
          <a:xfrm>
            <a:off x="5972404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6" name="box_65"/>
          <p:cNvSpPr/>
          <p:nvPr/>
        </p:nvSpPr>
        <p:spPr>
          <a:xfrm>
            <a:off x="6255868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7" name="num_66"/>
          <p:cNvSpPr/>
          <p:nvPr/>
        </p:nvSpPr>
        <p:spPr>
          <a:xfrm>
            <a:off x="6393028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8" name="numt_67"/>
          <p:cNvSpPr txBox="1"/>
          <p:nvPr/>
        </p:nvSpPr>
        <p:spPr>
          <a:xfrm>
            <a:off x="639302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xt_68"/>
          <p:cNvSpPr txBox="1"/>
          <p:nvPr/>
        </p:nvSpPr>
        <p:spPr>
          <a:xfrm>
            <a:off x="6329020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A click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travels over SignalR; the server runs the C# method</a:t>
            </a:r>
            <a:endParaRPr lang="en-US" sz="1400" dirty="0"/>
          </a:p>
        </p:txBody>
      </p:sp>
      <p:sp>
        <p:nvSpPr>
          <p:cNvPr id="20" name="arrow_69"/>
          <p:cNvSpPr/>
          <p:nvPr/>
        </p:nvSpPr>
        <p:spPr>
          <a:xfrm>
            <a:off x="8734577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1" name="box_70"/>
          <p:cNvSpPr/>
          <p:nvPr/>
        </p:nvSpPr>
        <p:spPr>
          <a:xfrm>
            <a:off x="9018041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22" name="num_71"/>
          <p:cNvSpPr/>
          <p:nvPr/>
        </p:nvSpPr>
        <p:spPr>
          <a:xfrm>
            <a:off x="9155201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3" name="numt_72"/>
          <p:cNvSpPr txBox="1"/>
          <p:nvPr/>
        </p:nvSpPr>
        <p:spPr>
          <a:xfrm>
            <a:off x="9155201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xt_73"/>
          <p:cNvSpPr txBox="1"/>
          <p:nvPr/>
        </p:nvSpPr>
        <p:spPr>
          <a:xfrm>
            <a:off x="9091193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Only changes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go back to the browser; the server calls the API</a:t>
            </a:r>
            <a:endParaRPr lang="en-US" sz="1400" dirty="0"/>
          </a:p>
        </p:txBody>
      </p:sp>
      <p:sp>
        <p:nvSpPr>
          <p:cNvPr id="25" name="box_74"/>
          <p:cNvSpPr/>
          <p:nvPr/>
        </p:nvSpPr>
        <p:spPr>
          <a:xfrm>
            <a:off x="731520" y="470916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E6F4F0"/>
          </a:solidFill>
          <a:ln/>
        </p:spPr>
      </p:sp>
      <p:sp>
        <p:nvSpPr>
          <p:cNvPr id="26" name="txt_75"/>
          <p:cNvSpPr txBox="1"/>
          <p:nvPr/>
        </p:nvSpPr>
        <p:spPr>
          <a:xfrm>
            <a:off x="868680" y="4754880"/>
            <a:ext cx="10454335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F2A"/>
                </a:solidFill>
              </a:rPr>
              <a:t>Interactive without JavaScript, fast first load, code and keys stay on the server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2F2A"/>
                </a:solidFill>
              </a:rPr>
              <a:t>Every user = memory on the server; when the network drops the UI stops (“reconnect”)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BLAZOR WEBASSEMBLY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Blazor WebAssembly: the app runs in the browser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SimpleStudentBlazorWasm · :6041 · the same .razor components + nginx</a:t>
            </a:r>
            <a:endParaRPr lang="en-US" sz="1600" dirty="0"/>
          </a:p>
        </p:txBody>
      </p:sp>
      <p:sp>
        <p:nvSpPr>
          <p:cNvPr id="6" name="box_76"/>
          <p:cNvSpPr/>
          <p:nvPr/>
        </p:nvSpPr>
        <p:spPr>
          <a:xfrm>
            <a:off x="731520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7" name="num_77"/>
          <p:cNvSpPr/>
          <p:nvPr/>
        </p:nvSpPr>
        <p:spPr>
          <a:xfrm>
            <a:off x="868680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8" name="numt_78"/>
          <p:cNvSpPr txBox="1"/>
          <p:nvPr/>
        </p:nvSpPr>
        <p:spPr>
          <a:xfrm>
            <a:off x="868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xt_79"/>
          <p:cNvSpPr txBox="1"/>
          <p:nvPr/>
        </p:nvSpPr>
        <p:spPr>
          <a:xfrm>
            <a:off x="804672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nginx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serves index.html, .wasm and .dll – no .NET on the server</a:t>
            </a:r>
            <a:endParaRPr lang="en-US" sz="1400" dirty="0"/>
          </a:p>
        </p:txBody>
      </p:sp>
      <p:sp>
        <p:nvSpPr>
          <p:cNvPr id="10" name="arrow_80"/>
          <p:cNvSpPr/>
          <p:nvPr/>
        </p:nvSpPr>
        <p:spPr>
          <a:xfrm>
            <a:off x="3210230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1" name="box_81"/>
          <p:cNvSpPr/>
          <p:nvPr/>
        </p:nvSpPr>
        <p:spPr>
          <a:xfrm>
            <a:off x="3493694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2" name="num_82"/>
          <p:cNvSpPr/>
          <p:nvPr/>
        </p:nvSpPr>
        <p:spPr>
          <a:xfrm>
            <a:off x="3630854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3" name="numt_83"/>
          <p:cNvSpPr txBox="1"/>
          <p:nvPr/>
        </p:nvSpPr>
        <p:spPr>
          <a:xfrm>
            <a:off x="3630854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xt_84"/>
          <p:cNvSpPr txBox="1"/>
          <p:nvPr/>
        </p:nvSpPr>
        <p:spPr>
          <a:xfrm>
            <a:off x="3566846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.NET runtime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starts in the browser (WebAssemblyHostBuilder)</a:t>
            </a:r>
            <a:endParaRPr lang="en-US" sz="1400" dirty="0"/>
          </a:p>
        </p:txBody>
      </p:sp>
      <p:sp>
        <p:nvSpPr>
          <p:cNvPr id="15" name="arrow_85"/>
          <p:cNvSpPr/>
          <p:nvPr/>
        </p:nvSpPr>
        <p:spPr>
          <a:xfrm>
            <a:off x="5972404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6" name="box_86"/>
          <p:cNvSpPr/>
          <p:nvPr/>
        </p:nvSpPr>
        <p:spPr>
          <a:xfrm>
            <a:off x="6255868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17" name="num_87"/>
          <p:cNvSpPr/>
          <p:nvPr/>
        </p:nvSpPr>
        <p:spPr>
          <a:xfrm>
            <a:off x="6393028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8" name="numt_88"/>
          <p:cNvSpPr txBox="1"/>
          <p:nvPr/>
        </p:nvSpPr>
        <p:spPr>
          <a:xfrm>
            <a:off x="6393028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xt_89"/>
          <p:cNvSpPr txBox="1"/>
          <p:nvPr/>
        </p:nvSpPr>
        <p:spPr>
          <a:xfrm>
            <a:off x="6329020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Components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run in the browser – clicks need no server</a:t>
            </a:r>
            <a:endParaRPr lang="en-US" sz="1400" dirty="0"/>
          </a:p>
        </p:txBody>
      </p:sp>
      <p:sp>
        <p:nvSpPr>
          <p:cNvPr id="20" name="arrow_90"/>
          <p:cNvSpPr/>
          <p:nvPr/>
        </p:nvSpPr>
        <p:spPr>
          <a:xfrm>
            <a:off x="8734577" y="3223260"/>
            <a:ext cx="246888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21" name="box_91"/>
          <p:cNvSpPr/>
          <p:nvPr/>
        </p:nvSpPr>
        <p:spPr>
          <a:xfrm>
            <a:off x="9018041" y="2057400"/>
            <a:ext cx="2442134" cy="2331720"/>
          </a:xfrm>
          <a:prstGeom prst="roundRect">
            <a:avLst>
              <a:gd name="adj" fmla="val 3137"/>
            </a:avLst>
          </a:prstGeom>
          <a:solidFill>
            <a:srgbClr val="E6F4F0"/>
          </a:solidFill>
          <a:ln/>
        </p:spPr>
      </p:sp>
      <p:sp>
        <p:nvSpPr>
          <p:cNvPr id="22" name="num_92"/>
          <p:cNvSpPr/>
          <p:nvPr/>
        </p:nvSpPr>
        <p:spPr>
          <a:xfrm>
            <a:off x="9155201" y="2194560"/>
            <a:ext cx="411480" cy="41148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3" name="numt_93"/>
          <p:cNvSpPr txBox="1"/>
          <p:nvPr/>
        </p:nvSpPr>
        <p:spPr>
          <a:xfrm>
            <a:off x="9155201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xt_94"/>
          <p:cNvSpPr txBox="1"/>
          <p:nvPr/>
        </p:nvSpPr>
        <p:spPr>
          <a:xfrm>
            <a:off x="9091193" y="2697480"/>
            <a:ext cx="2295830" cy="1600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The browser calls the API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via fetch() → needs CORS and a public address</a:t>
            </a:r>
            <a:endParaRPr lang="en-US" sz="1400" dirty="0"/>
          </a:p>
        </p:txBody>
      </p:sp>
      <p:sp>
        <p:nvSpPr>
          <p:cNvPr id="25" name="box_95"/>
          <p:cNvSpPr/>
          <p:nvPr/>
        </p:nvSpPr>
        <p:spPr>
          <a:xfrm>
            <a:off x="731520" y="4709160"/>
            <a:ext cx="10728655" cy="1325880"/>
          </a:xfrm>
          <a:prstGeom prst="roundRect">
            <a:avLst>
              <a:gd name="adj" fmla="val 5517"/>
            </a:avLst>
          </a:prstGeom>
          <a:solidFill>
            <a:srgbClr val="12433C"/>
          </a:solidFill>
          <a:ln/>
        </p:spPr>
      </p:sp>
      <p:sp>
        <p:nvSpPr>
          <p:cNvPr id="26" name="txt_96"/>
          <p:cNvSpPr txBox="1"/>
          <p:nvPr/>
        </p:nvSpPr>
        <p:spPr>
          <a:xfrm>
            <a:off x="868680" y="4754880"/>
            <a:ext cx="10454335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Static hosting (CDN), works offline, load moves to the client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Larger first download; every .dll and wwwroot/appsettings.json is public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Three technologies in one table</a:t>
            </a:r>
            <a:endParaRPr lang="en-US" sz="3200" dirty="0"/>
          </a:p>
        </p:txBody>
      </p:sp>
      <p:graphicFrame>
        <p:nvGraphicFramePr>
          <p:cNvPr id="8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86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79192"/>
                <a:gridCol w="2679192"/>
                <a:gridCol w="27157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3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Razor Pages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E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Blazor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B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Blazor WebAssembly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2B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UI C# code runs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Server, per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Server, per tab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update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page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changed parts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changed parts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calls the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 on the 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needed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needed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 (a few MB)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load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during a request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for every user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(static files)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the network drops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click works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stops, “reconnect”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works, API does not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stay on the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stay on the server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allowed – all public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ASP.NET 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ASP.NET Core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/ any static host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243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project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:6011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:6031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:6041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SAME TASK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Loading the list of students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Razor Pages vs Blazor (Server and WASM code is identical)</a:t>
            </a:r>
            <a:endParaRPr lang="en-US" sz="1600" dirty="0"/>
          </a:p>
        </p:txBody>
      </p:sp>
      <p:sp>
        <p:nvSpPr>
          <p:cNvPr id="6" name="cap_97"/>
          <p:cNvSpPr txBox="1"/>
          <p:nvPr/>
        </p:nvSpPr>
        <p:spPr>
          <a:xfrm>
            <a:off x="731520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Razor Pages — Pages/Students.cshtml.cs</a:t>
            </a:r>
            <a:endParaRPr lang="en-US" sz="1100" dirty="0"/>
          </a:p>
        </p:txBody>
      </p:sp>
      <p:sp>
        <p:nvSpPr>
          <p:cNvPr id="7" name="box_98"/>
          <p:cNvSpPr/>
          <p:nvPr/>
        </p:nvSpPr>
        <p:spPr>
          <a:xfrm>
            <a:off x="731520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8" name="code_99"/>
          <p:cNvSpPr txBox="1"/>
          <p:nvPr/>
        </p:nvSpPr>
        <p:spPr>
          <a:xfrm>
            <a:off x="777240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StudentsModel : PageModel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List&lt;Student&gt; Students { get; set;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async Task OnGetAsync()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 /api/students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 = (await _api.GetStudentsAsync())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.ToList();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cap_100"/>
          <p:cNvSpPr txBox="1"/>
          <p:nvPr/>
        </p:nvSpPr>
        <p:spPr>
          <a:xfrm>
            <a:off x="6278728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Blazor — Pages/Students.razor</a:t>
            </a:r>
            <a:endParaRPr lang="en-US" sz="1100" dirty="0"/>
          </a:p>
        </p:txBody>
      </p:sp>
      <p:sp>
        <p:nvSpPr>
          <p:cNvPr id="10" name="box_101"/>
          <p:cNvSpPr/>
          <p:nvPr/>
        </p:nvSpPr>
        <p:spPr>
          <a:xfrm>
            <a:off x="6278728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11" name="code_102"/>
          <p:cNvSpPr txBox="1"/>
          <p:nvPr/>
        </p:nvSpPr>
        <p:spPr>
          <a:xfrm>
            <a:off x="6324448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@page "/students"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 ApiConnection Api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@bind="_search"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@bind:event="oninput"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@foreach (var s in Filtered) { &lt;tr&gt;…&lt;/tr&gt;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List&lt;Student&gt; _students = new();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override async Task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OnInitializedAsync() =&gt; _students =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(await Api.Client.GetStudentsAsync()).ToList();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box_103"/>
          <p:cNvSpPr/>
          <p:nvPr/>
        </p:nvSpPr>
        <p:spPr>
          <a:xfrm>
            <a:off x="731520" y="5486400"/>
            <a:ext cx="10728655" cy="566928"/>
          </a:xfrm>
          <a:prstGeom prst="roundRect">
            <a:avLst>
              <a:gd name="adj" fmla="val 12903"/>
            </a:avLst>
          </a:prstGeom>
          <a:solidFill>
            <a:srgbClr val="E6F4F0"/>
          </a:solidFill>
          <a:ln/>
        </p:spPr>
      </p:sp>
      <p:sp>
        <p:nvSpPr>
          <p:cNvPr id="13" name="txt_104"/>
          <p:cNvSpPr txBox="1"/>
          <p:nvPr/>
        </p:nvSpPr>
        <p:spPr>
          <a:xfrm>
            <a:off x="822960" y="5486400"/>
            <a:ext cx="10545775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Razor Pages: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data is loaded during the request, the template renders it once.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Blazor: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when a field changes, Blazor re-renders that part of the HTML.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SAME TASK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Deleting a student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Form and redirect vs one C# method</a:t>
            </a:r>
            <a:endParaRPr lang="en-US" sz="1600" dirty="0"/>
          </a:p>
        </p:txBody>
      </p:sp>
      <p:sp>
        <p:nvSpPr>
          <p:cNvPr id="6" name="cap_105"/>
          <p:cNvSpPr txBox="1"/>
          <p:nvPr/>
        </p:nvSpPr>
        <p:spPr>
          <a:xfrm>
            <a:off x="731520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Razor Pages — Students.cshtml(.cs)</a:t>
            </a:r>
            <a:endParaRPr lang="en-US" sz="1100" dirty="0"/>
          </a:p>
        </p:txBody>
      </p:sp>
      <p:sp>
        <p:nvSpPr>
          <p:cNvPr id="7" name="box_106"/>
          <p:cNvSpPr/>
          <p:nvPr/>
        </p:nvSpPr>
        <p:spPr>
          <a:xfrm>
            <a:off x="731520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8" name="code_107"/>
          <p:cNvSpPr txBox="1"/>
          <p:nvPr/>
        </p:nvSpPr>
        <p:spPr>
          <a:xfrm>
            <a:off x="777240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asp-page-handler="Delete"&gt;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type="hidden" name="id"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value="@s.Id"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type="submit"&gt;Delete&lt;/button&gt;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Task&lt;IActionResult&gt;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OnPostDeleteAsync(int id)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_api.DeleteStudentAsync(id);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RedirectToPage(); // whole page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cap_108"/>
          <p:cNvSpPr txBox="1"/>
          <p:nvPr/>
        </p:nvSpPr>
        <p:spPr>
          <a:xfrm>
            <a:off x="6278728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Blazor — Pages/Students.razor</a:t>
            </a:r>
            <a:endParaRPr lang="en-US" sz="1100" dirty="0"/>
          </a:p>
        </p:txBody>
      </p:sp>
      <p:sp>
        <p:nvSpPr>
          <p:cNvPr id="10" name="box_109"/>
          <p:cNvSpPr/>
          <p:nvPr/>
        </p:nvSpPr>
        <p:spPr>
          <a:xfrm>
            <a:off x="6278728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11" name="code_110"/>
          <p:cNvSpPr txBox="1"/>
          <p:nvPr/>
        </p:nvSpPr>
        <p:spPr>
          <a:xfrm>
            <a:off x="6324448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@onclick="() =&gt; DeleteAsync(s.Id)"&gt;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Task DeleteAsync(int id)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Api.Client.DeleteStudentAsync(id);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_students.RemoveAll(s =&gt; s.Id == id);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only this row disappears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box_111"/>
          <p:cNvSpPr/>
          <p:nvPr/>
        </p:nvSpPr>
        <p:spPr>
          <a:xfrm>
            <a:off x="731520" y="5486400"/>
            <a:ext cx="10728655" cy="566928"/>
          </a:xfrm>
          <a:prstGeom prst="roundRect">
            <a:avLst>
              <a:gd name="adj" fmla="val 12903"/>
            </a:avLst>
          </a:prstGeom>
          <a:solidFill>
            <a:srgbClr val="E6F4F0"/>
          </a:solidFill>
          <a:ln/>
        </p:spPr>
      </p:sp>
      <p:sp>
        <p:nvSpPr>
          <p:cNvPr id="13" name="txt_112"/>
          <p:cNvSpPr txBox="1"/>
          <p:nvPr/>
        </p:nvSpPr>
        <p:spPr>
          <a:xfrm>
            <a:off x="822960" y="5486400"/>
            <a:ext cx="10545775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Razor Pages: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POST → 302 → GET, the whole page reloads.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Blazor: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one method, one table row changes in the browser.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REGISTRATION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Program.cs: Blazor Server vs WebAssembly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The page components are the same – only where they start differs</a:t>
            </a:r>
            <a:endParaRPr lang="en-US" sz="1600" dirty="0"/>
          </a:p>
        </p:txBody>
      </p:sp>
      <p:sp>
        <p:nvSpPr>
          <p:cNvPr id="6" name="cap_113"/>
          <p:cNvSpPr txBox="1"/>
          <p:nvPr/>
        </p:nvSpPr>
        <p:spPr>
          <a:xfrm>
            <a:off x="731520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SimpleStudentBlazorServer/Program.cs</a:t>
            </a:r>
            <a:endParaRPr lang="en-US" sz="1100" dirty="0"/>
          </a:p>
        </p:txBody>
      </p:sp>
      <p:sp>
        <p:nvSpPr>
          <p:cNvPr id="7" name="box_114"/>
          <p:cNvSpPr/>
          <p:nvPr/>
        </p:nvSpPr>
        <p:spPr>
          <a:xfrm>
            <a:off x="731520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8" name="code_115"/>
          <p:cNvSpPr txBox="1"/>
          <p:nvPr/>
        </p:nvSpPr>
        <p:spPr>
          <a:xfrm>
            <a:off x="777240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 THE SERVER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builder.Services.AddRazorComponents()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.AddInteractiveServerComponents();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builder.Services.AddScoped&lt;ApiConnection&gt;();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app.MapRazorComponents&lt;App&gt;()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.AddInteractiveServerRenderMode();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Components/App.razor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&lt;Routes @rendermode="new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InteractiveServerRenderMode(prerender: false)"/&gt;</a:t>
            </a:r>
            <a:endParaRPr lang="en-US" sz="1200" dirty="0"/>
          </a:p>
        </p:txBody>
      </p:sp>
      <p:sp>
        <p:nvSpPr>
          <p:cNvPr id="9" name="cap_116"/>
          <p:cNvSpPr txBox="1"/>
          <p:nvPr/>
        </p:nvSpPr>
        <p:spPr>
          <a:xfrm>
            <a:off x="6278728" y="194767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SimpleStudentBlazorWasm/Program.cs</a:t>
            </a:r>
            <a:endParaRPr lang="en-US" sz="1100" dirty="0"/>
          </a:p>
        </p:txBody>
      </p:sp>
      <p:sp>
        <p:nvSpPr>
          <p:cNvPr id="10" name="box_117"/>
          <p:cNvSpPr/>
          <p:nvPr/>
        </p:nvSpPr>
        <p:spPr>
          <a:xfrm>
            <a:off x="6278728" y="2240280"/>
            <a:ext cx="5181448" cy="3063240"/>
          </a:xfrm>
          <a:prstGeom prst="roundRect">
            <a:avLst>
              <a:gd name="adj" fmla="val 2388"/>
            </a:avLst>
          </a:prstGeom>
          <a:solidFill>
            <a:srgbClr val="F3F6F5"/>
          </a:solidFill>
          <a:ln/>
        </p:spPr>
      </p:sp>
      <p:sp>
        <p:nvSpPr>
          <p:cNvPr id="11" name="code_118"/>
          <p:cNvSpPr txBox="1"/>
          <p:nvPr/>
        </p:nvSpPr>
        <p:spPr>
          <a:xfrm>
            <a:off x="6324448" y="2267712"/>
            <a:ext cx="5090008" cy="300837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IN THE BROWSER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 WebAssemblyHostBuilder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.CreateDefault(args);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builder.RootComponents.Add&lt;App&gt;("#app");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builder.Services.AddScoped&lt;ApiConnection&gt;();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builder.Build().RunAsync();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Pages/*.razor, Layout/*, Shared/*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– the SAME files in both projects</a:t>
            </a:r>
            <a:endParaRPr lang="en-US" sz="1200" dirty="0"/>
          </a:p>
        </p:txBody>
      </p:sp>
      <p:sp>
        <p:nvSpPr>
          <p:cNvPr id="12" name="box_119"/>
          <p:cNvSpPr/>
          <p:nvPr/>
        </p:nvSpPr>
        <p:spPr>
          <a:xfrm>
            <a:off x="731520" y="5486400"/>
            <a:ext cx="10728655" cy="566928"/>
          </a:xfrm>
          <a:prstGeom prst="roundRect">
            <a:avLst>
              <a:gd name="adj" fmla="val 12903"/>
            </a:avLst>
          </a:prstGeom>
          <a:solidFill>
            <a:srgbClr val="E6F4F0"/>
          </a:solidFill>
          <a:ln/>
        </p:spPr>
      </p:sp>
      <p:sp>
        <p:nvSpPr>
          <p:cNvPr id="13" name="txt_120"/>
          <p:cNvSpPr txBox="1"/>
          <p:nvPr/>
        </p:nvSpPr>
        <p:spPr>
          <a:xfrm>
            <a:off x="822960" y="5486400"/>
            <a:ext cx="10545775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Razor Pages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registers AddRazorPages() + MapRazorPages().   </a:t>
            </a:r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2F2A"/>
                </a:solidFill>
              </a:rPr>
              <a:t>prerender: false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– so the API is not called twice.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FORM AND VALIDATION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Validation rules come from the contract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Shared/StudentForm.razor – one form for create and edit</a:t>
            </a:r>
            <a:endParaRPr lang="en-US" sz="1600" dirty="0"/>
          </a:p>
        </p:txBody>
      </p:sp>
      <p:sp>
        <p:nvSpPr>
          <p:cNvPr id="6" name="box_121"/>
          <p:cNvSpPr/>
          <p:nvPr/>
        </p:nvSpPr>
        <p:spPr>
          <a:xfrm>
            <a:off x="731520" y="20574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2433C"/>
          </a:solidFill>
          <a:ln/>
        </p:spPr>
      </p:sp>
      <p:sp>
        <p:nvSpPr>
          <p:cNvPr id="7" name="txt_122"/>
          <p:cNvSpPr txBox="1"/>
          <p:nvPr/>
        </p:nvSpPr>
        <p:spPr>
          <a:xfrm>
            <a:off x="731520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swagger.json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F4F1"/>
                </a:solidFill>
              </a:rPr>
              <a:t>required, maxLength, min/max</a:t>
            </a:r>
            <a:endParaRPr lang="en-US" sz="1400" dirty="0"/>
          </a:p>
        </p:txBody>
      </p:sp>
      <p:sp>
        <p:nvSpPr>
          <p:cNvPr id="8" name="arrow_123"/>
          <p:cNvSpPr/>
          <p:nvPr/>
        </p:nvSpPr>
        <p:spPr>
          <a:xfrm>
            <a:off x="2715768" y="2628900"/>
            <a:ext cx="18288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9" name="box_124"/>
          <p:cNvSpPr/>
          <p:nvPr/>
        </p:nvSpPr>
        <p:spPr>
          <a:xfrm>
            <a:off x="2916936" y="20574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F6E62"/>
          </a:solidFill>
          <a:ln/>
        </p:spPr>
      </p:sp>
      <p:sp>
        <p:nvSpPr>
          <p:cNvPr id="10" name="txt_125"/>
          <p:cNvSpPr txBox="1"/>
          <p:nvPr/>
        </p:nvSpPr>
        <p:spPr>
          <a:xfrm>
            <a:off x="2916936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NSwag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F4F1"/>
                </a:solidFill>
              </a:rPr>
              <a:t>generates the Student class</a:t>
            </a:r>
            <a:endParaRPr lang="en-US" sz="1400" dirty="0"/>
          </a:p>
        </p:txBody>
      </p:sp>
      <p:sp>
        <p:nvSpPr>
          <p:cNvPr id="11" name="arrow_126"/>
          <p:cNvSpPr/>
          <p:nvPr/>
        </p:nvSpPr>
        <p:spPr>
          <a:xfrm>
            <a:off x="4901184" y="2628900"/>
            <a:ext cx="18288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2" name="box_127"/>
          <p:cNvSpPr/>
          <p:nvPr/>
        </p:nvSpPr>
        <p:spPr>
          <a:xfrm>
            <a:off x="5102352" y="20574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F6E62"/>
          </a:solidFill>
          <a:ln/>
        </p:spPr>
      </p:sp>
      <p:sp>
        <p:nvSpPr>
          <p:cNvPr id="13" name="txt_128"/>
          <p:cNvSpPr txBox="1"/>
          <p:nvPr/>
        </p:nvSpPr>
        <p:spPr>
          <a:xfrm>
            <a:off x="5102352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[Required] [Range]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F4F1"/>
                </a:solidFill>
              </a:rPr>
              <a:t>attributes in the C# class</a:t>
            </a:r>
            <a:endParaRPr lang="en-US" sz="1400" dirty="0"/>
          </a:p>
        </p:txBody>
      </p:sp>
      <p:sp>
        <p:nvSpPr>
          <p:cNvPr id="14" name="arrow_129"/>
          <p:cNvSpPr/>
          <p:nvPr/>
        </p:nvSpPr>
        <p:spPr>
          <a:xfrm>
            <a:off x="7086600" y="2628900"/>
            <a:ext cx="18288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5" name="box_130"/>
          <p:cNvSpPr/>
          <p:nvPr/>
        </p:nvSpPr>
        <p:spPr>
          <a:xfrm>
            <a:off x="7287768" y="20574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512BD4"/>
          </a:solidFill>
          <a:ln/>
        </p:spPr>
      </p:sp>
      <p:sp>
        <p:nvSpPr>
          <p:cNvPr id="16" name="txt_131"/>
          <p:cNvSpPr txBox="1"/>
          <p:nvPr/>
        </p:nvSpPr>
        <p:spPr>
          <a:xfrm>
            <a:off x="7287768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DataAnnotations­Validator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F4F1"/>
                </a:solidFill>
              </a:rPr>
              <a:t>checks while typing</a:t>
            </a:r>
            <a:endParaRPr lang="en-US" sz="1400" dirty="0"/>
          </a:p>
        </p:txBody>
      </p:sp>
      <p:sp>
        <p:nvSpPr>
          <p:cNvPr id="17" name="arrow_132"/>
          <p:cNvSpPr/>
          <p:nvPr/>
        </p:nvSpPr>
        <p:spPr>
          <a:xfrm>
            <a:off x="9272016" y="2628900"/>
            <a:ext cx="18288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8" name="box_133"/>
          <p:cNvSpPr/>
          <p:nvPr/>
        </p:nvSpPr>
        <p:spPr>
          <a:xfrm>
            <a:off x="9473184" y="20574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F6E62"/>
          </a:solidFill>
          <a:ln/>
        </p:spPr>
      </p:sp>
      <p:sp>
        <p:nvSpPr>
          <p:cNvPr id="19" name="txt_134"/>
          <p:cNvSpPr txBox="1"/>
          <p:nvPr/>
        </p:nvSpPr>
        <p:spPr>
          <a:xfrm>
            <a:off x="9473184" y="2057400"/>
            <a:ext cx="1965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API 400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F4F1"/>
                </a:solidFill>
              </a:rPr>
              <a:t>errors next to fields</a:t>
            </a:r>
            <a:endParaRPr lang="en-US" sz="1400" dirty="0"/>
          </a:p>
        </p:txBody>
      </p:sp>
      <p:sp>
        <p:nvSpPr>
          <p:cNvPr id="20" name="cap_135"/>
          <p:cNvSpPr txBox="1"/>
          <p:nvPr/>
        </p:nvSpPr>
        <p:spPr>
          <a:xfrm>
            <a:off x="731520" y="35021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Blazor — Shared/StudentForm.razor</a:t>
            </a:r>
            <a:endParaRPr lang="en-US" sz="1100" dirty="0"/>
          </a:p>
        </p:txBody>
      </p:sp>
      <p:sp>
        <p:nvSpPr>
          <p:cNvPr id="21" name="box_136"/>
          <p:cNvSpPr/>
          <p:nvPr/>
        </p:nvSpPr>
        <p:spPr>
          <a:xfrm>
            <a:off x="731520" y="37947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3F6F5"/>
          </a:solidFill>
          <a:ln/>
        </p:spPr>
      </p:sp>
      <p:sp>
        <p:nvSpPr>
          <p:cNvPr id="22" name="code_137"/>
          <p:cNvSpPr txBox="1"/>
          <p:nvPr/>
        </p:nvSpPr>
        <p:spPr>
          <a:xfrm>
            <a:off x="777240" y="3822192"/>
            <a:ext cx="5486400" cy="218541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&lt;EditForm EditContext="_editContext"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OnValidSubmit="SubmitAsync" novalidate&gt;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&lt;DataAnnotationsValidator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&lt;InputText @bind-Value="Model.FirstName"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&lt;ValidationMessage For="() =&gt; Model.FirstName"/&gt;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&lt;/EditForm&gt;</a:t>
            </a:r>
            <a:endParaRPr lang="en-US" sz="1200" dirty="0"/>
          </a:p>
        </p:txBody>
      </p:sp>
      <p:sp>
        <p:nvSpPr>
          <p:cNvPr id="23" name="box_138"/>
          <p:cNvSpPr/>
          <p:nvPr/>
        </p:nvSpPr>
        <p:spPr>
          <a:xfrm>
            <a:off x="6675120" y="3502152"/>
            <a:ext cx="4782312" cy="2532888"/>
          </a:xfrm>
          <a:prstGeom prst="roundRect">
            <a:avLst>
              <a:gd name="adj" fmla="val 2888"/>
            </a:avLst>
          </a:prstGeom>
          <a:solidFill>
            <a:srgbClr val="FFF4E5"/>
          </a:solidFill>
          <a:ln/>
        </p:spPr>
      </p:sp>
      <p:sp>
        <p:nvSpPr>
          <p:cNvPr id="24" name="txt_139"/>
          <p:cNvSpPr txBox="1"/>
          <p:nvPr/>
        </p:nvSpPr>
        <p:spPr>
          <a:xfrm>
            <a:off x="6766560" y="3593592"/>
            <a:ext cx="4599432" cy="23500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433C"/>
                </a:solidFill>
              </a:rPr>
              <a:t>Pitfall: type="email"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The browser's HTML5 validation silently blocks the form with the value “x”: neither Blazor nor API errors appear.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Fix: novalidate on EditForm. We found this bug while testing the example.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WHO CALLS THE API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Server address or browser address?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The most important practical difference between Blazor Server and WebAssembly</a:t>
            </a:r>
            <a:endParaRPr lang="en-US" sz="1600" dirty="0"/>
          </a:p>
        </p:txBody>
      </p:sp>
      <p:sp>
        <p:nvSpPr>
          <p:cNvPr id="6" name="box_140"/>
          <p:cNvSpPr/>
          <p:nvPr/>
        </p:nvSpPr>
        <p:spPr>
          <a:xfrm>
            <a:off x="731520" y="2011680"/>
            <a:ext cx="5181448" cy="1417320"/>
          </a:xfrm>
          <a:prstGeom prst="roundRect">
            <a:avLst>
              <a:gd name="adj" fmla="val 5161"/>
            </a:avLst>
          </a:prstGeom>
          <a:solidFill>
            <a:srgbClr val="E6F4F0"/>
          </a:solidFill>
          <a:ln/>
        </p:spPr>
      </p:sp>
      <p:sp>
        <p:nvSpPr>
          <p:cNvPr id="7" name="txt_141"/>
          <p:cNvSpPr txBox="1"/>
          <p:nvPr/>
        </p:nvSpPr>
        <p:spPr>
          <a:xfrm>
            <a:off x="822960" y="2103120"/>
            <a:ext cx="4998568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433C"/>
                </a:solidFill>
              </a:rPr>
              <a:t>Razor Pages and Blazor Server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The server calls the API inside the Docker network (simplestudentapi:8080). No CORS needed, keys can stay on the server.</a:t>
            </a:r>
            <a:endParaRPr lang="en-US" sz="1400" dirty="0"/>
          </a:p>
        </p:txBody>
      </p:sp>
      <p:sp>
        <p:nvSpPr>
          <p:cNvPr id="8" name="box_142"/>
          <p:cNvSpPr/>
          <p:nvPr/>
        </p:nvSpPr>
        <p:spPr>
          <a:xfrm>
            <a:off x="6278728" y="2011680"/>
            <a:ext cx="5181448" cy="1417320"/>
          </a:xfrm>
          <a:prstGeom prst="roundRect">
            <a:avLst>
              <a:gd name="adj" fmla="val 5161"/>
            </a:avLst>
          </a:prstGeom>
          <a:solidFill>
            <a:srgbClr val="EFEBFB"/>
          </a:solidFill>
          <a:ln w="19050">
            <a:solidFill>
              <a:srgbClr val="512BD4"/>
            </a:solidFill>
            <a:prstDash val="solid"/>
          </a:ln>
        </p:spPr>
      </p:sp>
      <p:sp>
        <p:nvSpPr>
          <p:cNvPr id="9" name="txt_143"/>
          <p:cNvSpPr txBox="1"/>
          <p:nvPr/>
        </p:nvSpPr>
        <p:spPr>
          <a:xfrm>
            <a:off x="6370168" y="2103120"/>
            <a:ext cx="4998568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433C"/>
                </a:solidFill>
              </a:rPr>
              <a:t>Blazor WebAssembly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The browser calls the API at an address it can see (localhost:6001). CORS is required, all of wwwroot is public.</a:t>
            </a:r>
            <a:endParaRPr lang="en-US" sz="1400" dirty="0"/>
          </a:p>
        </p:txBody>
      </p:sp>
      <p:sp>
        <p:nvSpPr>
          <p:cNvPr id="10" name="cap_144"/>
          <p:cNvSpPr txBox="1"/>
          <p:nvPr/>
        </p:nvSpPr>
        <p:spPr>
          <a:xfrm>
            <a:off x="731520" y="363931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docker-compose.yml (Blazor Server)</a:t>
            </a:r>
            <a:endParaRPr lang="en-US" sz="1100" dirty="0"/>
          </a:p>
        </p:txBody>
      </p:sp>
      <p:sp>
        <p:nvSpPr>
          <p:cNvPr id="11" name="box_145"/>
          <p:cNvSpPr/>
          <p:nvPr/>
        </p:nvSpPr>
        <p:spPr>
          <a:xfrm>
            <a:off x="731520" y="3931920"/>
            <a:ext cx="5181448" cy="868680"/>
          </a:xfrm>
          <a:prstGeom prst="roundRect">
            <a:avLst>
              <a:gd name="adj" fmla="val 8421"/>
            </a:avLst>
          </a:prstGeom>
          <a:solidFill>
            <a:srgbClr val="F3F6F5"/>
          </a:solidFill>
          <a:ln/>
        </p:spPr>
      </p:sp>
      <p:sp>
        <p:nvSpPr>
          <p:cNvPr id="12" name="code_146"/>
          <p:cNvSpPr txBox="1"/>
          <p:nvPr/>
        </p:nvSpPr>
        <p:spPr>
          <a:xfrm>
            <a:off x="777240" y="3959352"/>
            <a:ext cx="5090008" cy="81381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Backends__0__BaseUrl: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http://simplestudentapi:8080</a:t>
            </a:r>
            <a:endParaRPr lang="en-US" sz="1200" dirty="0"/>
          </a:p>
        </p:txBody>
      </p:sp>
      <p:sp>
        <p:nvSpPr>
          <p:cNvPr id="13" name="cap_147"/>
          <p:cNvSpPr txBox="1"/>
          <p:nvPr/>
        </p:nvSpPr>
        <p:spPr>
          <a:xfrm>
            <a:off x="6278728" y="363931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wwwroot/appsettings.json (WebAssembly)</a:t>
            </a:r>
            <a:endParaRPr lang="en-US" sz="1100" dirty="0"/>
          </a:p>
        </p:txBody>
      </p:sp>
      <p:sp>
        <p:nvSpPr>
          <p:cNvPr id="14" name="box_148"/>
          <p:cNvSpPr/>
          <p:nvPr/>
        </p:nvSpPr>
        <p:spPr>
          <a:xfrm>
            <a:off x="6278728" y="3931920"/>
            <a:ext cx="5181448" cy="868680"/>
          </a:xfrm>
          <a:prstGeom prst="roundRect">
            <a:avLst>
              <a:gd name="adj" fmla="val 8421"/>
            </a:avLst>
          </a:prstGeom>
          <a:solidFill>
            <a:srgbClr val="F3F6F5"/>
          </a:solidFill>
          <a:ln/>
        </p:spPr>
      </p:sp>
      <p:sp>
        <p:nvSpPr>
          <p:cNvPr id="15" name="code_149"/>
          <p:cNvSpPr txBox="1"/>
          <p:nvPr/>
        </p:nvSpPr>
        <p:spPr>
          <a:xfrm>
            <a:off x="6324448" y="3959352"/>
            <a:ext cx="5090008" cy="81381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"Name": ".NET",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"Url": "http://localhost:6001" }</a:t>
            </a:r>
            <a:endParaRPr lang="en-US" sz="1200" dirty="0"/>
          </a:p>
        </p:txBody>
      </p:sp>
      <p:sp>
        <p:nvSpPr>
          <p:cNvPr id="16" name="box_150"/>
          <p:cNvSpPr/>
          <p:nvPr/>
        </p:nvSpPr>
        <p:spPr>
          <a:xfrm>
            <a:off x="731520" y="5120640"/>
            <a:ext cx="10728655" cy="868680"/>
          </a:xfrm>
          <a:prstGeom prst="roundRect">
            <a:avLst>
              <a:gd name="adj" fmla="val 8421"/>
            </a:avLst>
          </a:prstGeom>
          <a:solidFill>
            <a:srgbClr val="12433C"/>
          </a:solidFill>
          <a:ln/>
        </p:spPr>
      </p:sp>
      <p:sp>
        <p:nvSpPr>
          <p:cNvPr id="17" name="txt_151"/>
          <p:cNvSpPr txBox="1"/>
          <p:nvPr/>
        </p:nvSpPr>
        <p:spPr>
          <a:xfrm>
            <a:off x="868680" y="5120640"/>
            <a:ext cx="10454335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</a:rPr>
              <a:t>F12 → Network: 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in Razor Pages and Blazor Server you see no requests to :6001, in WebAssembly you see every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CORS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Why only WebAssembly needs CORS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The browser asks the API for permission before sending JSON from another address</a:t>
            </a:r>
            <a:endParaRPr lang="en-US" sz="1600" dirty="0"/>
          </a:p>
        </p:txBody>
      </p:sp>
      <p:sp>
        <p:nvSpPr>
          <p:cNvPr id="6" name="box_152"/>
          <p:cNvSpPr/>
          <p:nvPr/>
        </p:nvSpPr>
        <p:spPr>
          <a:xfrm>
            <a:off x="777240" y="196596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2433C"/>
          </a:solidFill>
          <a:ln/>
        </p:spPr>
      </p:sp>
      <p:sp>
        <p:nvSpPr>
          <p:cNvPr id="7" name="txt_153"/>
          <p:cNvSpPr txBox="1"/>
          <p:nvPr/>
        </p:nvSpPr>
        <p:spPr>
          <a:xfrm>
            <a:off x="7772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Browser :6041</a:t>
            </a:r>
            <a:endParaRPr lang="en-US" sz="1400" dirty="0"/>
          </a:p>
        </p:txBody>
      </p:sp>
      <p:sp>
        <p:nvSpPr>
          <p:cNvPr id="8" name="life_154"/>
          <p:cNvSpPr/>
          <p:nvPr/>
        </p:nvSpPr>
        <p:spPr>
          <a:xfrm>
            <a:off x="1600200" y="2514600"/>
            <a:ext cx="0" cy="3429000"/>
          </a:xfrm>
          <a:prstGeom prst="line">
            <a:avLst/>
          </a:prstGeom>
          <a:noFill/>
          <a:ln w="25400">
            <a:solidFill>
              <a:srgbClr val="D5E6E1"/>
            </a:solidFill>
            <a:prstDash val="dash"/>
          </a:ln>
        </p:spPr>
      </p:sp>
      <p:sp>
        <p:nvSpPr>
          <p:cNvPr id="9" name="box_155"/>
          <p:cNvSpPr/>
          <p:nvPr/>
        </p:nvSpPr>
        <p:spPr>
          <a:xfrm>
            <a:off x="4434840" y="196596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2433C"/>
          </a:solidFill>
          <a:ln/>
        </p:spPr>
      </p:sp>
      <p:sp>
        <p:nvSpPr>
          <p:cNvPr id="10" name="txt_156"/>
          <p:cNvSpPr txBox="1"/>
          <p:nvPr/>
        </p:nvSpPr>
        <p:spPr>
          <a:xfrm>
            <a:off x="443484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.NET API :6001</a:t>
            </a:r>
            <a:endParaRPr lang="en-US" sz="1400" dirty="0"/>
          </a:p>
        </p:txBody>
      </p:sp>
      <p:sp>
        <p:nvSpPr>
          <p:cNvPr id="11" name="life_157"/>
          <p:cNvSpPr/>
          <p:nvPr/>
        </p:nvSpPr>
        <p:spPr>
          <a:xfrm>
            <a:off x="5257800" y="2514600"/>
            <a:ext cx="0" cy="3429000"/>
          </a:xfrm>
          <a:prstGeom prst="line">
            <a:avLst/>
          </a:prstGeom>
          <a:noFill/>
          <a:ln w="25400">
            <a:solidFill>
              <a:srgbClr val="D5E6E1"/>
            </a:solidFill>
            <a:prstDash val="dash"/>
          </a:ln>
        </p:spPr>
      </p:sp>
      <p:sp>
        <p:nvSpPr>
          <p:cNvPr id="12" name="arrow_158"/>
          <p:cNvSpPr/>
          <p:nvPr/>
        </p:nvSpPr>
        <p:spPr>
          <a:xfrm>
            <a:off x="1600200" y="2834640"/>
            <a:ext cx="365760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3" name="seqt_159"/>
          <p:cNvSpPr txBox="1"/>
          <p:nvPr/>
        </p:nvSpPr>
        <p:spPr>
          <a:xfrm>
            <a:off x="1691640" y="24871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/api/students</a:t>
            </a:r>
            <a:endParaRPr lang="en-US" sz="1200" dirty="0"/>
          </a:p>
        </p:txBody>
      </p:sp>
      <p:sp>
        <p:nvSpPr>
          <p:cNvPr id="14" name="arrow_160"/>
          <p:cNvSpPr/>
          <p:nvPr/>
        </p:nvSpPr>
        <p:spPr>
          <a:xfrm>
            <a:off x="5257800" y="3611880"/>
            <a:ext cx="-365760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5" name="seqt_161"/>
          <p:cNvSpPr txBox="1"/>
          <p:nvPr/>
        </p:nvSpPr>
        <p:spPr>
          <a:xfrm>
            <a:off x="1691640" y="3264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 + Access-Control-Allow-*</a:t>
            </a:r>
            <a:endParaRPr lang="en-US" sz="1200" dirty="0"/>
          </a:p>
        </p:txBody>
      </p:sp>
      <p:sp>
        <p:nvSpPr>
          <p:cNvPr id="16" name="arrow_162"/>
          <p:cNvSpPr/>
          <p:nvPr/>
        </p:nvSpPr>
        <p:spPr>
          <a:xfrm>
            <a:off x="1600200" y="4389120"/>
            <a:ext cx="365760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7" name="seqt_163"/>
          <p:cNvSpPr txBox="1"/>
          <p:nvPr/>
        </p:nvSpPr>
        <p:spPr>
          <a:xfrm>
            <a:off x="1691640" y="4041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/api/students (JSON)</a:t>
            </a:r>
            <a:endParaRPr lang="en-US" sz="1200" dirty="0"/>
          </a:p>
        </p:txBody>
      </p:sp>
      <p:sp>
        <p:nvSpPr>
          <p:cNvPr id="18" name="arrow_164"/>
          <p:cNvSpPr/>
          <p:nvPr/>
        </p:nvSpPr>
        <p:spPr>
          <a:xfrm>
            <a:off x="5257800" y="5166360"/>
            <a:ext cx="-3657600" cy="0"/>
          </a:xfrm>
          <a:prstGeom prst="line">
            <a:avLst/>
          </a:prstGeom>
          <a:noFill/>
          <a:ln w="25400">
            <a:solidFill>
              <a:srgbClr val="349C8D"/>
            </a:solidFill>
            <a:prstDash val="solid"/>
            <a:tailEnd type="triangle"/>
          </a:ln>
        </p:spPr>
      </p:sp>
      <p:sp>
        <p:nvSpPr>
          <p:cNvPr id="19" name="seqt_165"/>
          <p:cNvSpPr txBox="1"/>
          <p:nvPr/>
        </p:nvSpPr>
        <p:spPr>
          <a:xfrm>
            <a:off x="1691640" y="48188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 + Location</a:t>
            </a:r>
            <a:endParaRPr lang="en-US" sz="1200" dirty="0"/>
          </a:p>
        </p:txBody>
      </p:sp>
      <p:sp>
        <p:nvSpPr>
          <p:cNvPr id="20" name="cap_166"/>
          <p:cNvSpPr txBox="1"/>
          <p:nvPr/>
        </p:nvSpPr>
        <p:spPr>
          <a:xfrm>
            <a:off x="6400800" y="199339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.NET API — SimpleStudentApi/Program.cs</a:t>
            </a:r>
            <a:endParaRPr lang="en-US" sz="1100" dirty="0"/>
          </a:p>
        </p:txBody>
      </p:sp>
      <p:sp>
        <p:nvSpPr>
          <p:cNvPr id="21" name="box_167"/>
          <p:cNvSpPr/>
          <p:nvPr/>
        </p:nvSpPr>
        <p:spPr>
          <a:xfrm>
            <a:off x="6400800" y="2286000"/>
            <a:ext cx="5056632" cy="2286000"/>
          </a:xfrm>
          <a:prstGeom prst="roundRect">
            <a:avLst>
              <a:gd name="adj" fmla="val 3200"/>
            </a:avLst>
          </a:prstGeom>
          <a:solidFill>
            <a:srgbClr val="F3F6F5"/>
          </a:solidFill>
          <a:ln/>
        </p:spPr>
      </p:sp>
      <p:sp>
        <p:nvSpPr>
          <p:cNvPr id="22" name="code_168"/>
          <p:cNvSpPr txBox="1"/>
          <p:nvPr/>
        </p:nvSpPr>
        <p:spPr>
          <a:xfrm>
            <a:off x="6446520" y="2313432"/>
            <a:ext cx="4965192" cy="2231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builder.Services.AddCors(options =&gt;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options.AddDefaultPolicy(policy =&gt; policy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.AllowAnyOrigin()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.AllowAnyHeader()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.AllowAnyMethod()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.WithExposedHeaders("Location")));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app.UseCors();</a:t>
            </a:r>
            <a:endParaRPr lang="en-US" sz="1200" dirty="0"/>
          </a:p>
        </p:txBody>
      </p:sp>
      <p:sp>
        <p:nvSpPr>
          <p:cNvPr id="23" name="box_169"/>
          <p:cNvSpPr/>
          <p:nvPr/>
        </p:nvSpPr>
        <p:spPr>
          <a:xfrm>
            <a:off x="6400800" y="4800600"/>
            <a:ext cx="5056632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24" name="txt_170"/>
          <p:cNvSpPr txBox="1"/>
          <p:nvPr/>
        </p:nvSpPr>
        <p:spPr>
          <a:xfrm>
            <a:off x="6492240" y="4892040"/>
            <a:ext cx="4873752" cy="1051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2433C"/>
                </a:solidFill>
              </a:rPr>
              <a:t>Why only WebAssembly?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F2F2A"/>
                </a:solidFill>
              </a:rPr>
              <a:t>CORS is a browser rule; servers do not enforce it. The PHP and Python APIs already had CORS, the .NET API was extended.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CHOOSING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When to choose which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The users, the network and the hosting decide – not the API</a:t>
            </a:r>
            <a:endParaRPr lang="en-US" sz="1600" dirty="0"/>
          </a:p>
        </p:txBody>
      </p:sp>
      <p:sp>
        <p:nvSpPr>
          <p:cNvPr id="6" name="box_171"/>
          <p:cNvSpPr/>
          <p:nvPr/>
        </p:nvSpPr>
        <p:spPr>
          <a:xfrm>
            <a:off x="731520" y="2011680"/>
            <a:ext cx="3393338" cy="594360"/>
          </a:xfrm>
          <a:prstGeom prst="roundRect">
            <a:avLst>
              <a:gd name="adj" fmla="val 12308"/>
            </a:avLst>
          </a:prstGeom>
          <a:solidFill>
            <a:srgbClr val="1F6E62"/>
          </a:solidFill>
          <a:ln/>
        </p:spPr>
      </p:sp>
      <p:sp>
        <p:nvSpPr>
          <p:cNvPr id="7" name="txt_172"/>
          <p:cNvSpPr txBox="1"/>
          <p:nvPr/>
        </p:nvSpPr>
        <p:spPr>
          <a:xfrm>
            <a:off x="731520" y="2011680"/>
            <a:ext cx="3393338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Razor Pages</a:t>
            </a:r>
            <a:endParaRPr lang="en-US" sz="1400" dirty="0"/>
          </a:p>
        </p:txBody>
      </p:sp>
      <p:sp>
        <p:nvSpPr>
          <p:cNvPr id="8" name="box_173"/>
          <p:cNvSpPr/>
          <p:nvPr/>
        </p:nvSpPr>
        <p:spPr>
          <a:xfrm>
            <a:off x="731520" y="2697480"/>
            <a:ext cx="339333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9" name="txt_174"/>
          <p:cNvSpPr txBox="1"/>
          <p:nvPr/>
        </p:nvSpPr>
        <p:spPr>
          <a:xfrm>
            <a:off x="804672" y="2743200"/>
            <a:ext cx="3247034" cy="1783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E62"/>
                </a:solidFill>
              </a:rPr>
              <a:t>Choose when…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content site, forms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SEO matters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simplest solution needed</a:t>
            </a:r>
            <a:endParaRPr lang="en-US" sz="1400" dirty="0"/>
          </a:p>
        </p:txBody>
      </p:sp>
      <p:sp>
        <p:nvSpPr>
          <p:cNvPr id="10" name="box_175"/>
          <p:cNvSpPr/>
          <p:nvPr/>
        </p:nvSpPr>
        <p:spPr>
          <a:xfrm>
            <a:off x="731520" y="4663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/>
        </p:spPr>
      </p:sp>
      <p:sp>
        <p:nvSpPr>
          <p:cNvPr id="11" name="txt_176"/>
          <p:cNvSpPr txBox="1"/>
          <p:nvPr/>
        </p:nvSpPr>
        <p:spPr>
          <a:xfrm>
            <a:off x="804672" y="4709160"/>
            <a:ext cx="3247034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A5A00"/>
                </a:solidFill>
              </a:rPr>
              <a:t>Be careful if…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lots of interactivity without reloads</a:t>
            </a:r>
            <a:endParaRPr lang="en-US" sz="1400" dirty="0"/>
          </a:p>
        </p:txBody>
      </p:sp>
      <p:sp>
        <p:nvSpPr>
          <p:cNvPr id="12" name="box_177"/>
          <p:cNvSpPr/>
          <p:nvPr/>
        </p:nvSpPr>
        <p:spPr>
          <a:xfrm>
            <a:off x="4399178" y="2011680"/>
            <a:ext cx="3393338" cy="594360"/>
          </a:xfrm>
          <a:prstGeom prst="roundRect">
            <a:avLst>
              <a:gd name="adj" fmla="val 12308"/>
            </a:avLst>
          </a:prstGeom>
          <a:solidFill>
            <a:srgbClr val="512BD4"/>
          </a:solidFill>
          <a:ln/>
        </p:spPr>
      </p:sp>
      <p:sp>
        <p:nvSpPr>
          <p:cNvPr id="13" name="txt_178"/>
          <p:cNvSpPr txBox="1"/>
          <p:nvPr/>
        </p:nvSpPr>
        <p:spPr>
          <a:xfrm>
            <a:off x="4399178" y="2011680"/>
            <a:ext cx="3393338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Blazor Server</a:t>
            </a:r>
            <a:endParaRPr lang="en-US" sz="1400" dirty="0"/>
          </a:p>
        </p:txBody>
      </p:sp>
      <p:sp>
        <p:nvSpPr>
          <p:cNvPr id="14" name="box_179"/>
          <p:cNvSpPr/>
          <p:nvPr/>
        </p:nvSpPr>
        <p:spPr>
          <a:xfrm>
            <a:off x="4399178" y="2697480"/>
            <a:ext cx="339333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15" name="txt_180"/>
          <p:cNvSpPr txBox="1"/>
          <p:nvPr/>
        </p:nvSpPr>
        <p:spPr>
          <a:xfrm>
            <a:off x="4472330" y="2743200"/>
            <a:ext cx="3247034" cy="1783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E62"/>
                </a:solidFill>
              </a:rPr>
              <a:t>Choose when…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internal business app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lots of interactivity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API and DB in a private network</a:t>
            </a:r>
            <a:endParaRPr lang="en-US" sz="1400" dirty="0"/>
          </a:p>
        </p:txBody>
      </p:sp>
      <p:sp>
        <p:nvSpPr>
          <p:cNvPr id="16" name="box_181"/>
          <p:cNvSpPr/>
          <p:nvPr/>
        </p:nvSpPr>
        <p:spPr>
          <a:xfrm>
            <a:off x="4399178" y="4663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/>
        </p:spPr>
      </p:sp>
      <p:sp>
        <p:nvSpPr>
          <p:cNvPr id="17" name="txt_182"/>
          <p:cNvSpPr txBox="1"/>
          <p:nvPr/>
        </p:nvSpPr>
        <p:spPr>
          <a:xfrm>
            <a:off x="4472330" y="4709160"/>
            <a:ext cx="3247034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A5A00"/>
                </a:solidFill>
              </a:rPr>
              <a:t>Be careful if…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many users at the same time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unstable network</a:t>
            </a:r>
            <a:endParaRPr lang="en-US" sz="1400" dirty="0"/>
          </a:p>
        </p:txBody>
      </p:sp>
      <p:sp>
        <p:nvSpPr>
          <p:cNvPr id="18" name="box_183"/>
          <p:cNvSpPr/>
          <p:nvPr/>
        </p:nvSpPr>
        <p:spPr>
          <a:xfrm>
            <a:off x="8066837" y="2011680"/>
            <a:ext cx="3393338" cy="594360"/>
          </a:xfrm>
          <a:prstGeom prst="roundRect">
            <a:avLst>
              <a:gd name="adj" fmla="val 12308"/>
            </a:avLst>
          </a:prstGeom>
          <a:solidFill>
            <a:srgbClr val="512BD4"/>
          </a:solidFill>
          <a:ln/>
        </p:spPr>
      </p:sp>
      <p:sp>
        <p:nvSpPr>
          <p:cNvPr id="19" name="txt_184"/>
          <p:cNvSpPr txBox="1"/>
          <p:nvPr/>
        </p:nvSpPr>
        <p:spPr>
          <a:xfrm>
            <a:off x="8066837" y="2011680"/>
            <a:ext cx="3393338" cy="5943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Blazor WASM</a:t>
            </a:r>
            <a:endParaRPr lang="en-US" sz="1400" dirty="0"/>
          </a:p>
        </p:txBody>
      </p:sp>
      <p:sp>
        <p:nvSpPr>
          <p:cNvPr id="20" name="box_185"/>
          <p:cNvSpPr/>
          <p:nvPr/>
        </p:nvSpPr>
        <p:spPr>
          <a:xfrm>
            <a:off x="8066837" y="2697480"/>
            <a:ext cx="339333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21" name="txt_186"/>
          <p:cNvSpPr txBox="1"/>
          <p:nvPr/>
        </p:nvSpPr>
        <p:spPr>
          <a:xfrm>
            <a:off x="8139989" y="2743200"/>
            <a:ext cx="3247034" cy="1783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6E62"/>
                </a:solidFill>
              </a:rPr>
              <a:t>Choose when…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static hosting, CDN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offline use (PWA)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load moves to the client</a:t>
            </a:r>
            <a:endParaRPr lang="en-US" sz="1400" dirty="0"/>
          </a:p>
        </p:txBody>
      </p:sp>
      <p:sp>
        <p:nvSpPr>
          <p:cNvPr id="22" name="box_187"/>
          <p:cNvSpPr/>
          <p:nvPr/>
        </p:nvSpPr>
        <p:spPr>
          <a:xfrm>
            <a:off x="8066837" y="4663440"/>
            <a:ext cx="3393338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/>
        </p:spPr>
      </p:sp>
      <p:sp>
        <p:nvSpPr>
          <p:cNvPr id="23" name="txt_188"/>
          <p:cNvSpPr txBox="1"/>
          <p:nvPr/>
        </p:nvSpPr>
        <p:spPr>
          <a:xfrm>
            <a:off x="8139989" y="4709160"/>
            <a:ext cx="3247034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A5A00"/>
                </a:solidFill>
              </a:rPr>
              <a:t>Be careful if…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large first download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2F2A"/>
                </a:solidFill>
              </a:rPr>
              <a:t>API must be public + CORS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COMMON PROBLEMS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What you will meet in practice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We hit all four while building the examples</a:t>
            </a:r>
            <a:endParaRPr lang="en-US" sz="1600" dirty="0"/>
          </a:p>
        </p:txBody>
      </p:sp>
      <p:sp>
        <p:nvSpPr>
          <p:cNvPr id="6" name="box_189"/>
          <p:cNvSpPr/>
          <p:nvPr/>
        </p:nvSpPr>
        <p:spPr>
          <a:xfrm>
            <a:off x="731520" y="1965960"/>
            <a:ext cx="518144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7" name="txt_190"/>
          <p:cNvSpPr txBox="1"/>
          <p:nvPr/>
        </p:nvSpPr>
        <p:spPr>
          <a:xfrm>
            <a:off x="822960" y="2039112"/>
            <a:ext cx="4998568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12BD4"/>
                </a:solidFill>
              </a:rPr>
              <a:t>BLAZOR SERVER</a:t>
            </a:r>
            <a:endParaRPr lang="en-US" sz="1400" dirty="0"/>
          </a:p>
        </p:txBody>
      </p:sp>
      <p:sp>
        <p:nvSpPr>
          <p:cNvPr id="8" name="txt_191"/>
          <p:cNvSpPr txBox="1"/>
          <p:nvPr/>
        </p:nvSpPr>
        <p:spPr>
          <a:xfrm>
            <a:off x="822960" y="2377440"/>
            <a:ext cx="4998568" cy="1417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433C"/>
                </a:solidFill>
              </a:rPr>
              <a:t>The API is called twice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Prerendering renders the page twice. Ours: InteractiveServerRenderMode(prerender: false).</a:t>
            </a:r>
            <a:endParaRPr lang="en-US" sz="1400" dirty="0"/>
          </a:p>
        </p:txBody>
      </p:sp>
      <p:sp>
        <p:nvSpPr>
          <p:cNvPr id="9" name="box_192"/>
          <p:cNvSpPr/>
          <p:nvPr/>
        </p:nvSpPr>
        <p:spPr>
          <a:xfrm>
            <a:off x="6278728" y="1965960"/>
            <a:ext cx="518144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10" name="txt_193"/>
          <p:cNvSpPr txBox="1"/>
          <p:nvPr/>
        </p:nvSpPr>
        <p:spPr>
          <a:xfrm>
            <a:off x="6370168" y="2039112"/>
            <a:ext cx="4998568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12BD4"/>
                </a:solidFill>
              </a:rPr>
              <a:t>BLAZOR SERVER</a:t>
            </a:r>
            <a:endParaRPr lang="en-US" sz="1400" dirty="0"/>
          </a:p>
        </p:txBody>
      </p:sp>
      <p:sp>
        <p:nvSpPr>
          <p:cNvPr id="11" name="txt_194"/>
          <p:cNvSpPr txBox="1"/>
          <p:nvPr/>
        </p:nvSpPr>
        <p:spPr>
          <a:xfrm>
            <a:off x="6370168" y="2377440"/>
            <a:ext cx="4998568" cy="1417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433C"/>
                </a:solidFill>
              </a:rPr>
              <a:t>“Attempting to reconnect…”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The SignalR connection dropped. The page reconnects itself, but the circuit state (e.g. the chosen API) is lost.</a:t>
            </a:r>
            <a:endParaRPr lang="en-US" sz="1400" dirty="0"/>
          </a:p>
        </p:txBody>
      </p:sp>
      <p:sp>
        <p:nvSpPr>
          <p:cNvPr id="12" name="box_195"/>
          <p:cNvSpPr/>
          <p:nvPr/>
        </p:nvSpPr>
        <p:spPr>
          <a:xfrm>
            <a:off x="731520" y="4114800"/>
            <a:ext cx="518144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13" name="txt_196"/>
          <p:cNvSpPr txBox="1"/>
          <p:nvPr/>
        </p:nvSpPr>
        <p:spPr>
          <a:xfrm>
            <a:off x="822960" y="4187952"/>
            <a:ext cx="4998568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12BD4"/>
                </a:solidFill>
              </a:rPr>
              <a:t>BLAZOR WASM</a:t>
            </a:r>
            <a:endParaRPr lang="en-US" sz="1400" dirty="0"/>
          </a:p>
        </p:txBody>
      </p:sp>
      <p:sp>
        <p:nvSpPr>
          <p:cNvPr id="14" name="txt_197"/>
          <p:cNvSpPr txBox="1"/>
          <p:nvPr/>
        </p:nvSpPr>
        <p:spPr>
          <a:xfrm>
            <a:off x="822960" y="4526280"/>
            <a:ext cx="4998568" cy="1417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433C"/>
                </a:solidFill>
              </a:rPr>
              <a:t>“TypeError: Failed to fetch”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The API is not running or does not allow CORS. F12 → Console shows the missing header.</a:t>
            </a:r>
            <a:endParaRPr lang="en-US" sz="1400" dirty="0"/>
          </a:p>
        </p:txBody>
      </p:sp>
      <p:sp>
        <p:nvSpPr>
          <p:cNvPr id="15" name="box_198"/>
          <p:cNvSpPr/>
          <p:nvPr/>
        </p:nvSpPr>
        <p:spPr>
          <a:xfrm>
            <a:off x="6278728" y="4114800"/>
            <a:ext cx="5181448" cy="1874520"/>
          </a:xfrm>
          <a:prstGeom prst="roundRect">
            <a:avLst>
              <a:gd name="adj" fmla="val 3902"/>
            </a:avLst>
          </a:prstGeom>
          <a:solidFill>
            <a:srgbClr val="E6F4F0"/>
          </a:solidFill>
          <a:ln/>
        </p:spPr>
      </p:sp>
      <p:sp>
        <p:nvSpPr>
          <p:cNvPr id="16" name="txt_199"/>
          <p:cNvSpPr txBox="1"/>
          <p:nvPr/>
        </p:nvSpPr>
        <p:spPr>
          <a:xfrm>
            <a:off x="6370168" y="4187952"/>
            <a:ext cx="4998568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12BD4"/>
                </a:solidFill>
              </a:rPr>
              <a:t>BLAZOR WASM</a:t>
            </a:r>
            <a:endParaRPr lang="en-US" sz="1400" dirty="0"/>
          </a:p>
        </p:txBody>
      </p:sp>
      <p:sp>
        <p:nvSpPr>
          <p:cNvPr id="17" name="txt_200"/>
          <p:cNvSpPr txBox="1"/>
          <p:nvPr/>
        </p:nvSpPr>
        <p:spPr>
          <a:xfrm>
            <a:off x="6370168" y="4526280"/>
            <a:ext cx="4998568" cy="14173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433C"/>
                </a:solidFill>
              </a:rPr>
              <a:t>simplestudentapi:8080 fails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That name exists only inside the Docker network. The browser needs localhost:6001.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DEMO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Running and demo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From the folder student-docker-lab-plus-mssql</a:t>
            </a:r>
            <a:endParaRPr lang="en-US" sz="1600" dirty="0"/>
          </a:p>
        </p:txBody>
      </p:sp>
      <p:sp>
        <p:nvSpPr>
          <p:cNvPr id="6" name="cap_201"/>
          <p:cNvSpPr txBox="1"/>
          <p:nvPr/>
        </p:nvSpPr>
        <p:spPr>
          <a:xfrm>
            <a:off x="731520" y="1856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62"/>
                </a:solidFill>
              </a:rPr>
              <a:t>Terminal</a:t>
            </a:r>
            <a:endParaRPr lang="en-US" sz="1100" dirty="0"/>
          </a:p>
        </p:txBody>
      </p:sp>
      <p:sp>
        <p:nvSpPr>
          <p:cNvPr id="7" name="box_202"/>
          <p:cNvSpPr/>
          <p:nvPr/>
        </p:nvSpPr>
        <p:spPr>
          <a:xfrm>
            <a:off x="731520" y="21488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/>
        </p:spPr>
      </p:sp>
      <p:sp>
        <p:nvSpPr>
          <p:cNvPr id="8" name="code_203"/>
          <p:cNvSpPr txBox="1"/>
          <p:nvPr/>
        </p:nvSpPr>
        <p:spPr>
          <a:xfrm>
            <a:off x="777240" y="2176272"/>
            <a:ext cx="4846320" cy="8595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-f docker-compose.infra.yml up -d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B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300" dirty="0"/>
          </a:p>
        </p:txBody>
      </p:sp>
      <p:sp>
        <p:nvSpPr>
          <p:cNvPr id="9" name="box_204"/>
          <p:cNvSpPr/>
          <p:nvPr/>
        </p:nvSpPr>
        <p:spPr>
          <a:xfrm>
            <a:off x="6172200" y="187452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6F4F0"/>
          </a:solidFill>
          <a:ln/>
        </p:spPr>
      </p:sp>
      <p:sp>
        <p:nvSpPr>
          <p:cNvPr id="10" name="txt_205"/>
          <p:cNvSpPr txBox="1"/>
          <p:nvPr/>
        </p:nvSpPr>
        <p:spPr>
          <a:xfrm>
            <a:off x="6263640" y="1874520"/>
            <a:ext cx="283464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:6011</a:t>
            </a:r>
            <a:endParaRPr lang="en-US" sz="1400" dirty="0"/>
          </a:p>
        </p:txBody>
      </p:sp>
      <p:sp>
        <p:nvSpPr>
          <p:cNvPr id="11" name="txt_206"/>
          <p:cNvSpPr txBox="1"/>
          <p:nvPr/>
        </p:nvSpPr>
        <p:spPr>
          <a:xfrm>
            <a:off x="9098280" y="1874520"/>
            <a:ext cx="233172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Razor Pages</a:t>
            </a:r>
            <a:endParaRPr lang="en-US" sz="1400" dirty="0"/>
          </a:p>
        </p:txBody>
      </p:sp>
      <p:sp>
        <p:nvSpPr>
          <p:cNvPr id="12" name="box_207"/>
          <p:cNvSpPr/>
          <p:nvPr/>
        </p:nvSpPr>
        <p:spPr>
          <a:xfrm>
            <a:off x="6172200" y="269748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6F4F0"/>
          </a:solidFill>
          <a:ln/>
        </p:spPr>
      </p:sp>
      <p:sp>
        <p:nvSpPr>
          <p:cNvPr id="13" name="txt_208"/>
          <p:cNvSpPr txBox="1"/>
          <p:nvPr/>
        </p:nvSpPr>
        <p:spPr>
          <a:xfrm>
            <a:off x="6263640" y="2697480"/>
            <a:ext cx="283464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12B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:6031</a:t>
            </a:r>
            <a:endParaRPr lang="en-US" sz="1400" dirty="0"/>
          </a:p>
        </p:txBody>
      </p:sp>
      <p:sp>
        <p:nvSpPr>
          <p:cNvPr id="14" name="txt_209"/>
          <p:cNvSpPr txBox="1"/>
          <p:nvPr/>
        </p:nvSpPr>
        <p:spPr>
          <a:xfrm>
            <a:off x="9098280" y="2697480"/>
            <a:ext cx="233172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Blazor Server</a:t>
            </a:r>
            <a:endParaRPr lang="en-US" sz="1400" dirty="0"/>
          </a:p>
        </p:txBody>
      </p:sp>
      <p:sp>
        <p:nvSpPr>
          <p:cNvPr id="15" name="box_210"/>
          <p:cNvSpPr/>
          <p:nvPr/>
        </p:nvSpPr>
        <p:spPr>
          <a:xfrm>
            <a:off x="6172200" y="352044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6F4F0"/>
          </a:solidFill>
          <a:ln/>
        </p:spPr>
      </p:sp>
      <p:sp>
        <p:nvSpPr>
          <p:cNvPr id="16" name="txt_211"/>
          <p:cNvSpPr txBox="1"/>
          <p:nvPr/>
        </p:nvSpPr>
        <p:spPr>
          <a:xfrm>
            <a:off x="626364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12B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:6041</a:t>
            </a:r>
            <a:endParaRPr lang="en-US" sz="1400" dirty="0"/>
          </a:p>
        </p:txBody>
      </p:sp>
      <p:sp>
        <p:nvSpPr>
          <p:cNvPr id="17" name="txt_212"/>
          <p:cNvSpPr txBox="1"/>
          <p:nvPr/>
        </p:nvSpPr>
        <p:spPr>
          <a:xfrm>
            <a:off x="9098280" y="3520440"/>
            <a:ext cx="233172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Blazor WebAssembly</a:t>
            </a:r>
            <a:endParaRPr lang="en-US" sz="1400" dirty="0"/>
          </a:p>
        </p:txBody>
      </p:sp>
      <p:sp>
        <p:nvSpPr>
          <p:cNvPr id="18" name="box_213"/>
          <p:cNvSpPr/>
          <p:nvPr/>
        </p:nvSpPr>
        <p:spPr>
          <a:xfrm>
            <a:off x="6172200" y="434340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6F4F0"/>
          </a:solidFill>
          <a:ln/>
        </p:spPr>
      </p:sp>
      <p:sp>
        <p:nvSpPr>
          <p:cNvPr id="19" name="txt_214"/>
          <p:cNvSpPr txBox="1"/>
          <p:nvPr/>
        </p:nvSpPr>
        <p:spPr>
          <a:xfrm>
            <a:off x="6263640" y="4343400"/>
            <a:ext cx="283464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77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:6021</a:t>
            </a:r>
            <a:endParaRPr lang="en-US" sz="1400" dirty="0"/>
          </a:p>
        </p:txBody>
      </p:sp>
      <p:sp>
        <p:nvSpPr>
          <p:cNvPr id="20" name="txt_215"/>
          <p:cNvSpPr txBox="1"/>
          <p:nvPr/>
        </p:nvSpPr>
        <p:spPr>
          <a:xfrm>
            <a:off x="9098280" y="4343400"/>
            <a:ext cx="233172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PHP frontend</a:t>
            </a:r>
            <a:endParaRPr lang="en-US" sz="1400" dirty="0"/>
          </a:p>
        </p:txBody>
      </p:sp>
      <p:sp>
        <p:nvSpPr>
          <p:cNvPr id="21" name="box_216"/>
          <p:cNvSpPr/>
          <p:nvPr/>
        </p:nvSpPr>
        <p:spPr>
          <a:xfrm>
            <a:off x="6172200" y="5166360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E6F4F0"/>
          </a:solidFill>
          <a:ln/>
        </p:spPr>
      </p:sp>
      <p:sp>
        <p:nvSpPr>
          <p:cNvPr id="22" name="txt_217"/>
          <p:cNvSpPr txBox="1"/>
          <p:nvPr/>
        </p:nvSpPr>
        <p:spPr>
          <a:xfrm>
            <a:off x="6263640" y="5166360"/>
            <a:ext cx="283464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43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:6001 · 6002 · 6003</a:t>
            </a:r>
            <a:endParaRPr lang="en-US" sz="1400" dirty="0"/>
          </a:p>
        </p:txBody>
      </p:sp>
      <p:sp>
        <p:nvSpPr>
          <p:cNvPr id="23" name="txt_218"/>
          <p:cNvSpPr txBox="1"/>
          <p:nvPr/>
        </p:nvSpPr>
        <p:spPr>
          <a:xfrm>
            <a:off x="9098280" y="5166360"/>
            <a:ext cx="2331720" cy="6858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F2F2A"/>
                </a:solidFill>
              </a:rPr>
              <a:t>.NET · PHP · Python API</a:t>
            </a:r>
            <a:endParaRPr lang="en-US" sz="1400" dirty="0"/>
          </a:p>
        </p:txBody>
      </p:sp>
      <p:sp>
        <p:nvSpPr>
          <p:cNvPr id="24" name="box_219"/>
          <p:cNvSpPr/>
          <p:nvPr/>
        </p:nvSpPr>
        <p:spPr>
          <a:xfrm>
            <a:off x="731520" y="3429000"/>
            <a:ext cx="4937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D5E6E1"/>
            </a:solidFill>
            <a:prstDash val="solid"/>
          </a:ln>
        </p:spPr>
      </p:sp>
      <p:sp>
        <p:nvSpPr>
          <p:cNvPr id="25" name="txt_220"/>
          <p:cNvSpPr txBox="1"/>
          <p:nvPr/>
        </p:nvSpPr>
        <p:spPr>
          <a:xfrm>
            <a:off x="822960" y="3520440"/>
            <a:ext cx="4754880" cy="2377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433C"/>
                </a:solidFill>
              </a:rPr>
              <a:t>Demo steps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2F2A"/>
                </a:solidFill>
              </a:rPr>
              <a:t>Open :6031 and :6041 side by side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2F2A"/>
                </a:solidFill>
              </a:rPr>
              <a:t>Switch the API to Python – no page reload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2F2A"/>
                </a:solidFill>
              </a:rPr>
              <a:t>F12 → Network and delete a student in both</a:t>
            </a:r>
            <a:endParaRPr lang="en-US" sz="1400" dirty="0"/>
          </a:p>
          <a:p>
            <a:pPr algn="l"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2F2A"/>
                </a:solidFill>
              </a:rPr>
              <a:t>docker stop simplestudentblazorserver – watch “reconnect”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49C8D"/>
                </a:solidFill>
              </a:rPr>
              <a:t>PRACTICAL TASKS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713232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433C"/>
                </a:solidFill>
              </a:rPr>
              <a:t>Tasks for students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13898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C"/>
                </a:solidFill>
              </a:rPr>
              <a:t>Described in detail in DotNet-Frontend-Comparison_EN</a:t>
            </a:r>
            <a:endParaRPr lang="en-US" sz="1600" dirty="0"/>
          </a:p>
        </p:txBody>
      </p:sp>
      <p:sp>
        <p:nvSpPr>
          <p:cNvPr id="6" name="box_221"/>
          <p:cNvSpPr/>
          <p:nvPr/>
        </p:nvSpPr>
        <p:spPr>
          <a:xfrm>
            <a:off x="731520" y="1920240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7" name="tn_222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8" name="tnt_223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xt_224"/>
          <p:cNvSpPr txBox="1"/>
          <p:nvPr/>
        </p:nvSpPr>
        <p:spPr>
          <a:xfrm>
            <a:off x="1463040" y="1993392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F12 → Network: count the requests when deleting a student in 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all three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frontends</a:t>
            </a:r>
            <a:endParaRPr lang="en-US" sz="1400" dirty="0"/>
          </a:p>
        </p:txBody>
      </p:sp>
      <p:sp>
        <p:nvSpPr>
          <p:cNvPr id="10" name="box_225"/>
          <p:cNvSpPr/>
          <p:nvPr/>
        </p:nvSpPr>
        <p:spPr>
          <a:xfrm>
            <a:off x="6278728" y="1920240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11" name="tn_226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2" name="tnt_227"/>
          <p:cNvSpPr txBox="1"/>
          <p:nvPr/>
        </p:nvSpPr>
        <p:spPr>
          <a:xfrm>
            <a:off x="641588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_228"/>
          <p:cNvSpPr txBox="1"/>
          <p:nvPr/>
        </p:nvSpPr>
        <p:spPr>
          <a:xfrm>
            <a:off x="7010248" y="1993392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Stop the Blazor Server, then the WASM container. 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How does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the behaviour differ?</a:t>
            </a:r>
            <a:endParaRPr lang="en-US" sz="1400" dirty="0"/>
          </a:p>
        </p:txBody>
      </p:sp>
      <p:sp>
        <p:nvSpPr>
          <p:cNvPr id="14" name="box_229"/>
          <p:cNvSpPr/>
          <p:nvPr/>
        </p:nvSpPr>
        <p:spPr>
          <a:xfrm>
            <a:off x="731520" y="3355848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15" name="tn_230"/>
          <p:cNvSpPr/>
          <p:nvPr/>
        </p:nvSpPr>
        <p:spPr>
          <a:xfrm>
            <a:off x="868680" y="3538728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16" name="tnt_231"/>
          <p:cNvSpPr txBox="1"/>
          <p:nvPr/>
        </p:nvSpPr>
        <p:spPr>
          <a:xfrm>
            <a:off x="8686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xt_232"/>
          <p:cNvSpPr txBox="1"/>
          <p:nvPr/>
        </p:nvSpPr>
        <p:spPr>
          <a:xfrm>
            <a:off x="1463040" y="3429000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Remove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app.UseCors()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from the .NET API. Why do only the server frontends work?</a:t>
            </a:r>
            <a:endParaRPr lang="en-US" sz="1400" dirty="0"/>
          </a:p>
        </p:txBody>
      </p:sp>
      <p:sp>
        <p:nvSpPr>
          <p:cNvPr id="18" name="box_233"/>
          <p:cNvSpPr/>
          <p:nvPr/>
        </p:nvSpPr>
        <p:spPr>
          <a:xfrm>
            <a:off x="6278728" y="3355848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19" name="tn_234"/>
          <p:cNvSpPr/>
          <p:nvPr/>
        </p:nvSpPr>
        <p:spPr>
          <a:xfrm>
            <a:off x="6415888" y="3538728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0" name="tnt_235"/>
          <p:cNvSpPr txBox="1"/>
          <p:nvPr/>
        </p:nvSpPr>
        <p:spPr>
          <a:xfrm>
            <a:off x="641588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xt_236"/>
          <p:cNvSpPr txBox="1"/>
          <p:nvPr/>
        </p:nvSpPr>
        <p:spPr>
          <a:xfrm>
            <a:off x="7010248" y="3429000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Add 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sorting by last name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to the Blazor list without a new API request</a:t>
            </a:r>
            <a:endParaRPr lang="en-US" sz="1400" dirty="0"/>
          </a:p>
        </p:txBody>
      </p:sp>
      <p:sp>
        <p:nvSpPr>
          <p:cNvPr id="22" name="box_237"/>
          <p:cNvSpPr/>
          <p:nvPr/>
        </p:nvSpPr>
        <p:spPr>
          <a:xfrm>
            <a:off x="731520" y="4791456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23" name="tn_238"/>
          <p:cNvSpPr/>
          <p:nvPr/>
        </p:nvSpPr>
        <p:spPr>
          <a:xfrm>
            <a:off x="868680" y="4974336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4" name="tnt_239"/>
          <p:cNvSpPr txBox="1"/>
          <p:nvPr/>
        </p:nvSpPr>
        <p:spPr>
          <a:xfrm>
            <a:off x="86868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xt_240"/>
          <p:cNvSpPr txBox="1"/>
          <p:nvPr/>
        </p:nvSpPr>
        <p:spPr>
          <a:xfrm>
            <a:off x="1463040" y="4864608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Build a 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Faculty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page in the Razor Pages frontend and compare the amount of code</a:t>
            </a:r>
            <a:endParaRPr lang="en-US" sz="1400" dirty="0"/>
          </a:p>
        </p:txBody>
      </p:sp>
      <p:sp>
        <p:nvSpPr>
          <p:cNvPr id="26" name="box_241"/>
          <p:cNvSpPr/>
          <p:nvPr/>
        </p:nvSpPr>
        <p:spPr>
          <a:xfrm>
            <a:off x="6278728" y="4791456"/>
            <a:ext cx="5181448" cy="1234440"/>
          </a:xfrm>
          <a:prstGeom prst="roundRect">
            <a:avLst>
              <a:gd name="adj" fmla="val 5926"/>
            </a:avLst>
          </a:prstGeom>
          <a:solidFill>
            <a:srgbClr val="E6F4F0"/>
          </a:solidFill>
          <a:ln/>
        </p:spPr>
      </p:sp>
      <p:sp>
        <p:nvSpPr>
          <p:cNvPr id="27" name="tn_242"/>
          <p:cNvSpPr/>
          <p:nvPr/>
        </p:nvSpPr>
        <p:spPr>
          <a:xfrm>
            <a:off x="6415888" y="4974336"/>
            <a:ext cx="457200" cy="457200"/>
          </a:xfrm>
          <a:prstGeom prst="ellipse">
            <a:avLst/>
          </a:prstGeom>
          <a:solidFill>
            <a:srgbClr val="1F6E62"/>
          </a:solidFill>
          <a:ln/>
        </p:spPr>
      </p:sp>
      <p:sp>
        <p:nvSpPr>
          <p:cNvPr id="28" name="tnt_243"/>
          <p:cNvSpPr txBox="1"/>
          <p:nvPr/>
        </p:nvSpPr>
        <p:spPr>
          <a:xfrm>
            <a:off x="6415888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9" name="txt_244"/>
          <p:cNvSpPr txBox="1"/>
          <p:nvPr/>
        </p:nvSpPr>
        <p:spPr>
          <a:xfrm>
            <a:off x="7010248" y="4864608"/>
            <a:ext cx="4358488" cy="108813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Save the email “x” via the PHP API. </a:t>
            </a:r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2F2A"/>
                </a:solidFill>
              </a:rPr>
              <a:t>Where did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2F2A"/>
                </a:solidFill>
              </a:rPr>
              <a:t> the error message come from?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One API, three ways to show it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8ED2C5"/>
                </a:solidFill>
              </a:rPr>
              <a:t>Only where the C# code runs and who sends the HTTP request differ</a:t>
            </a:r>
            <a:endParaRPr lang="en-US" sz="2000" dirty="0"/>
          </a:p>
        </p:txBody>
      </p:sp>
      <p:sp>
        <p:nvSpPr>
          <p:cNvPr id="4" name="box_245"/>
          <p:cNvSpPr/>
          <p:nvPr/>
        </p:nvSpPr>
        <p:spPr>
          <a:xfrm>
            <a:off x="731520" y="4160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F6E62"/>
          </a:solidFill>
          <a:ln/>
        </p:spPr>
      </p:sp>
      <p:sp>
        <p:nvSpPr>
          <p:cNvPr id="5" name="txt_246"/>
          <p:cNvSpPr txBox="1"/>
          <p:nvPr/>
        </p:nvSpPr>
        <p:spPr>
          <a:xfrm>
            <a:off x="822960" y="4160520"/>
            <a:ext cx="3200400" cy="1097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Razor Pages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F4F1"/>
                </a:solidFill>
              </a:rPr>
              <a:t>server, whole page per request</a:t>
            </a:r>
            <a:endParaRPr lang="en-US" sz="1400" dirty="0"/>
          </a:p>
        </p:txBody>
      </p:sp>
      <p:sp>
        <p:nvSpPr>
          <p:cNvPr id="6" name="box_247"/>
          <p:cNvSpPr/>
          <p:nvPr/>
        </p:nvSpPr>
        <p:spPr>
          <a:xfrm>
            <a:off x="4343400" y="4160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F6E62"/>
          </a:solidFill>
          <a:ln/>
        </p:spPr>
      </p:sp>
      <p:sp>
        <p:nvSpPr>
          <p:cNvPr id="7" name="txt_248"/>
          <p:cNvSpPr txBox="1"/>
          <p:nvPr/>
        </p:nvSpPr>
        <p:spPr>
          <a:xfrm>
            <a:off x="4434840" y="4160520"/>
            <a:ext cx="3200400" cy="1097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Blazor Server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F4F1"/>
                </a:solidFill>
              </a:rPr>
              <a:t>server, only changes over SignalR</a:t>
            </a:r>
            <a:endParaRPr lang="en-US" sz="1400" dirty="0"/>
          </a:p>
        </p:txBody>
      </p:sp>
      <p:sp>
        <p:nvSpPr>
          <p:cNvPr id="8" name="box_249"/>
          <p:cNvSpPr/>
          <p:nvPr/>
        </p:nvSpPr>
        <p:spPr>
          <a:xfrm>
            <a:off x="7955280" y="41605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F6E62"/>
          </a:solidFill>
          <a:ln/>
        </p:spPr>
      </p:sp>
      <p:sp>
        <p:nvSpPr>
          <p:cNvPr id="9" name="txt_250"/>
          <p:cNvSpPr txBox="1"/>
          <p:nvPr/>
        </p:nvSpPr>
        <p:spPr>
          <a:xfrm>
            <a:off x="8046720" y="4160520"/>
            <a:ext cx="3200400" cy="10972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Blazor WebAssembly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F4F1"/>
                </a:solidFill>
              </a:rPr>
              <a:t>browser, calls the API directly + CORS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legija Teal">
  <a:themeElements>
    <a:clrScheme name="Kolegija Teal">
      <a:dk1>
        <a:srgbClr val="0F2F2A"/>
      </a:dk1>
      <a:lt1>
        <a:srgbClr val="FFFFFF"/>
      </a:lt1>
      <a:dk2>
        <a:srgbClr val="12433C"/>
      </a:dk2>
      <a:lt2>
        <a:srgbClr val="E6F4F0"/>
      </a:lt2>
      <a:accent1>
        <a:srgbClr val="1F6E62"/>
      </a:accent1>
      <a:accent2>
        <a:srgbClr val="349C8D"/>
      </a:accent2>
      <a:accent3>
        <a:srgbClr val="8ED2C5"/>
      </a:accent3>
      <a:accent4>
        <a:srgbClr val="E8A33C"/>
      </a:accent4>
      <a:accent5>
        <a:srgbClr val="512BD4"/>
      </a:accent5>
      <a:accent6>
        <a:srgbClr val="B5473A"/>
      </a:accent6>
      <a:hlink>
        <a:srgbClr val="1F6E62"/>
      </a:hlink>
      <a:folHlink>
        <a:srgbClr val="349C8D"/>
      </a:folHlink>
    </a:clrScheme>
    <a:fontScheme name="Kolegija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Kauno kolegija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frontend technologies: Razor Pages, Blazor Server and Blazor WebAssembly</dc:title>
  <dc:subject>PptxGenJS Presentation</dc:subject>
  <dc:creator>Tadas Bulis</dc:creator>
  <cp:lastModifiedBy>Tadas Bulis</cp:lastModifiedBy>
  <cp:revision>1</cp:revision>
  <dcterms:created xsi:type="dcterms:W3CDTF">2026-10-30T08:06:25Z</dcterms:created>
  <dcterms:modified xsi:type="dcterms:W3CDTF">2026-10-30T08:06:25Z</dcterms:modified>
</cp:coreProperties>
</file>